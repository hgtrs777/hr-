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开场：本次答辩围绕项目成果、批判性判断、人机协作和创新点四个章节展开。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结构借鉴参考答辩稿的四章组织，但内容、证据和视觉均基于本项目与现有重庆大学模板。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第一章回答三个问题：为何建设、交付了什么、如何证明成果成立。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项目不是通用聊天机器人，而是受制度证据和治理流程约束的专业问答系统。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项目文件：01_需求与立项报告/需求调研报告.md</a:t>
            </a:r>
          </a:p>
          <a:p>
            <a:r>
              <a:t>- 项目文件：04_源代码/docs/requirements-traceability.md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六个模块覆盖权限、知识、检索、生成、安全和运营，形成从制度入库到反馈改进的完整链路。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项目文件：04_源代码/docs/requirements-traceability.md</a:t>
            </a:r>
          </a:p>
          <a:p>
            <a:r>
              <a:t>- 项目文件：04_源代码/README.md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技术主线是“先证据、后生成、再校验”。模型负责组织语言，但不能创造制度依据。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项目文件：04_源代码/docs/development-handoff.md</a:t>
            </a:r>
          </a:p>
          <a:p>
            <a:r>
              <a:t>- 项目文件：04_源代码/README.md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量化结果覆盖功能完整性、代码稳定性、浏览器流程、检索效果和正式业务场景。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项目文件：04_源代码/docs/test-report.md</a:t>
            </a:r>
          </a:p>
          <a:p>
            <a:r>
              <a:t>- 项目文件：04_源代码/docs/requirements-traceability.md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第二章关注的不是 AI 使用量，而是能否发现偏差、验证事实并明确能力边界。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四个案例分别涉及范围、技术、排期和运行证据。纠错依据来自验收表、明确约束、里程碑记录和真实冷启动结果。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任何单一测试都不足以证明系统可靠：需求追踪、单元测试、端到端、异常安全和边界声明必须相互印证。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项目文件：04_源代码/docs/test-report.md</a:t>
            </a:r>
          </a:p>
          <a:p>
            <a:r>
              <a:t>- 项目文件：04_源代码/docs/development-handoff.md</a:t>
            </a:r>
          </a:p>
          <a:p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第三章分别说明有效迭代轮次，以及人在判断、AI在执行、双方共同定标准的职责结构。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有效迭代指每轮都改变了约束、方案、实现或证据状态；完整记录为 I1–I10，此页呈现六个关键转折。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职责边界：AI提升方案广度与执行速度，人保留目标设定、风险取舍、事实核验和最终签收权。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第四章只陈述已经实现并有代码或测试证据支撑的创新，不将设想写成成果。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六项创新共同完成从“能回答”到“可信、可控、可运营”的升级，均可在实现文档和测试记录中找到证据。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项目文件：04_源代码/README.md</a:t>
            </a:r>
          </a:p>
          <a:p>
            <a:r>
              <a:t>- 项目文件：04_源代码/docs/development-handoff.md</a:t>
            </a:r>
          </a:p>
          <a:p>
            <a:r>
              <a:t>- 项目文件：04_源代码/docs/test-report.md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结论：系统达到功能、测试、检索、协作与创新五个维度的验收目标，同时明确了数据库规模和外部模型依赖等能力边界。</a:t>
            </a:r>
          </a:p>
          <a:p>
            <a:endParaRPr/>
          </a:p>
          <a:p>
            <a:r>
              <a:t>[Sources]</a:t>
            </a:r>
          </a:p>
          <a:p>
            <a:r>
              <a:t>- 项目文件：04_源代码/docs/test-report.md</a:t>
            </a:r>
          </a:p>
          <a:p>
            <a:r>
              <a:t>- 项目文件：04_源代码/docs/requirements-traceability.md</a:t>
            </a:r>
          </a:p>
          <a:p>
            <a:r>
              <a:t>- 项目文件：03_人机交互对话/人机交互对话.md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273BE-6D43-4353-84B0-9F2BB4036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E85C29C-4705-4EF3-9F1F-CC7AD67AF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E516B-DDEB-4551-A4B3-AAEE2DDD8CD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510A9C-9956-4C70-8523-EEC25B80F2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504333-D5FC-43FF-9651-CFF260F62E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A97FDF-1F4E-4AD1-BD7C-CB1EB9BF66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7DB66-02BA-4B46-A659-87A0939D31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BBBA0F-C163-4671-AF32-C404958568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  <p:pic>
        <p:nvPicPr>
          <p:cNvPr id="18" name="图片 8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705224" y="328951"/>
            <a:ext cx="2982819" cy="941321"/>
          </a:xfrm>
          <a:prstGeom prst="rect">
            <a:avLst/>
          </a:prstGeom>
        </p:spPr>
      </p:pic>
      <p:pic>
        <p:nvPicPr>
          <p:cNvPr id="19" name="图片 7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6394636" y="1196752"/>
            <a:ext cx="6948570" cy="6872569"/>
          </a:xfrm>
          <a:prstGeom prst="rect">
            <a:avLst/>
          </a:prstGeom>
        </p:spPr>
      </p:pic>
      <p:pic>
        <p:nvPicPr>
          <p:cNvPr id="20" name="图片 9"/>
          <p:cNvPicPr>
            <a:picLocks noChangeAspect="1"/>
          </p:cNvPicPr>
          <p:nvPr/>
        </p:nvPicPr>
        <p:blipFill>
          <a:blip r:embed="rId3">
            <a:alphaModFix amt="10000"/>
          </a:blip>
          <a:srcRect/>
          <a:stretch/>
        </p:blipFill>
        <p:spPr>
          <a:xfrm>
            <a:off x="-1221338" y="-1395536"/>
            <a:ext cx="4076978" cy="403238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FEEBCC9-9204-B3E3-88D5-5F53271F11DF}"/>
              </a:ext>
            </a:extLst>
          </p:cNvPr>
          <p:cNvSpPr>
            <a:spLocks noGrp="1"/>
          </p:cNvSpPr>
          <p:nvPr/>
        </p:nvSpPr>
        <p:spPr>
          <a:xfrm>
            <a:off x="0" y="2100860"/>
            <a:ext cx="9192344" cy="2664296"/>
          </a:xfrm>
          <a:prstGeom prst="rect">
            <a:avLst/>
          </a:prstGeom>
          <a:gradFill rotWithShape="1">
            <a:gsLst>
              <a:gs pos="46000">
                <a:schemeClr val="accent1"/>
              </a:gs>
              <a:gs pos="19000">
                <a:schemeClr val="accent1"/>
              </a:gs>
              <a:gs pos="82000">
                <a:schemeClr val="accent1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rotWithShape="1">
          <a:blip r:embed="rId2">
            <a:alphaModFix amt="70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04AA7A0D-DA0D-DDC3-88DF-15002B9577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5A0A70-D929-4820-87A8-E9A66D3604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27C9BC-E63E-4966-B2DE-4DE8033842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71105E-C66C-4E2A-BCE4-F96D0E7290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E6B86697-8706-4AE0-9749-5C21B811AE65}"/>
              </a:ext>
            </a:extLst>
          </p:cNvPr>
          <p:cNvSpPr>
            <a:spLocks noGrp="1"/>
          </p:cNvSpPr>
          <p:nvPr/>
        </p:nvSpPr>
        <p:spPr>
          <a:xfrm>
            <a:off x="1055440" y="899328"/>
            <a:ext cx="5616624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1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686" y="216085"/>
            <a:ext cx="2062282" cy="65081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745F164-6471-7FC0-C029-C9095097AE1E}"/>
              </a:ext>
            </a:extLst>
          </p:cNvPr>
          <p:cNvSpPr>
            <a:spLocks noGrp="1"/>
          </p:cNvSpPr>
          <p:nvPr/>
        </p:nvSpPr>
        <p:spPr>
          <a:xfrm>
            <a:off x="299356" y="6344844"/>
            <a:ext cx="4356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>
                <a:solidFill>
                  <a:schemeClr val="bg1">
                    <a:lumMod val="65000"/>
                  </a:schemeClr>
                </a:solidFill>
                <a:latin typeface="方正舒体"/>
                <a:ea typeface="方正舒体"/>
                <a:cs typeface="方正舒体"/>
              </a:rPr>
              <a:t>耐劳苦 尚俭朴</a:t>
            </a:r>
            <a:r>
              <a:rPr b="1">
                <a:solidFill>
                  <a:schemeClr val="bg1">
                    <a:lumMod val="65000"/>
                  </a:schemeClr>
                </a:solidFill>
                <a:latin typeface="方正舒体"/>
                <a:ea typeface="方正舒体"/>
                <a:cs typeface="方正舒体"/>
              </a:rPr>
              <a:t> </a:t>
            </a:r>
            <a:r>
              <a:rPr b="1" i="0">
                <a:solidFill>
                  <a:schemeClr val="bg1">
                    <a:lumMod val="65000"/>
                  </a:schemeClr>
                </a:solidFill>
                <a:latin typeface="方正舒体"/>
                <a:ea typeface="方正舒体"/>
                <a:cs typeface="方正舒体"/>
              </a:rPr>
              <a:t>勤学业 爱国家</a:t>
            </a:r>
            <a:endParaRPr>
              <a:solidFill>
                <a:schemeClr val="bg1">
                  <a:lumMod val="65000"/>
                </a:schemeClr>
              </a:solidFill>
              <a:latin typeface="方正舒体"/>
              <a:ea typeface="方正舒体"/>
              <a:cs typeface="方正舒体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A2443-11DC-4517-9D24-C7A140D9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CEE85D-B570-485A-847A-0636FB61A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B375B8-E6EA-4040-852B-B2A30606A1D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18129-16F0-47D6-8ACA-4B3F396C357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DF29AB-3884-4A21-A4C7-0705D46959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69965A-8636-4AF9-B4AF-358C413814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30DE2-41B6-4A11-8E64-7C4E1137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972304-3F4A-42E8-9804-FE5C953AD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8EBC2B-C6CF-4263-AB38-A8F9CBF52721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C8E6CB-836F-4E9E-8982-25F30652966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63F191-BB04-4B7D-ACEA-E9549BB25AB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DEA6AB-01FC-4E4F-B660-5B76280260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15D7D6-77D8-48F8-8857-B384045EA2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A2E50B-125B-4790-9BA6-FF8014043C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A2B168-8723-4BB2-8C0D-988A96987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C14128-770C-4677-951F-B3BDC78C48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8E844B-915C-466B-B7F5-E02DA5D165F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7A38B9-B0D2-4A28-A632-D1479D1C9A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9BE025-6F53-4D0A-87DA-7999F18D52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4A1D01-FC6A-4711-9255-11FE2709D6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D5D4D-63AD-4001-B713-BC3BF8C493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BD2EC-DA20-4A2F-B7B4-E846822A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34A56-06FE-4740-B580-E102BC706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85A89F-6BCE-4EDF-8E52-AAF8E6EA6A4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C4A8A3-A575-4F36-A7C1-6C7624227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6EEB72-64D2-4D6A-8E8A-3A87B1F572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3CAD27-DC7A-4EB4-BB2A-467D7C903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1F40D-CC1A-4B31-A6A4-1C7AE802C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92B10E-1935-4A18-9E8A-055DC1DE7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92E7B4-6364-4E96-B231-7B65246A96C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6F61E8-C93A-43F4-9A45-FF62486F35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584BDB-44B1-40F8-9A50-BC1B1C8847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8CEA77-0DB4-493D-A1DA-C79003E677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00D14-C11D-406A-BC8F-F987155D5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BCFA12-91DF-461E-B000-574CA5B26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5CF79F-F44F-450B-8433-1D156E2511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66D099-86CF-40F0-B60E-240CA52522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E0A8B2-8EDC-4E36-818E-3C6C9E734E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A05A444-6DC2-40A9-9A45-3A16735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99F986-1C92-4387-88DA-7225DCB51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D261D4-14E0-4768-BF85-261B59BBE7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E2F5F-ACD9-4372-B798-5EA07A2148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E8E43C-7B66-48FE-895E-16B67785E7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C81D9-0CEB-4A5C-B947-AA90A3183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D073B33-88F3-4495-8E4F-E490759D9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89B75F-FAC9-4E43-A445-7917C322F1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93CA96-3C4C-49C4-AE71-51E4123FF9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48FCFF-72F6-4F64-B450-E0E674F94E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17CA2C-3013-4C73-9CF2-F93738CF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89A46F-B5C3-4FD3-96DC-0C04C9B78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6F2D05-E0D7-43AA-BD46-8EF894CFA6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708916-E495-4ED1-A6C0-0571959FA4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3339D-CB59-480C-AC0F-D9E82B65EF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D733C-3EA7-4A00-BE5F-CA9FD9C2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6516FF-9FCB-44B2-B3AD-7D7A3E6E9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82D0E4-7276-4C11-8146-442FA18E19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5370A9-8CAE-40EB-BC87-6792A08A45B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A5F0F-FC02-4634-8292-E06232DA30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664FC-328E-46EF-A43C-1BDE21441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A25C14-7095-4225-86FF-A50F6EEA8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D03CC2-2DB7-4101-8C75-A812C640A0F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9B56DB-2D03-4099-BF66-A04AEDC652B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1B4951-51EF-42B7-8C86-AF9A4E67B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2CD7FC-61D0-4186-BBA6-8E2FC72939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E48B8-4AD8-4E6D-9332-56DB989F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AC42F7-2682-444F-BD68-A59C8D771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51A676-B370-4F74-AABB-28F4EED0713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4503D4A-BE43-4C99-ACD1-A57AB4EAA71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72279F9-0911-4ED4-9429-AF010F258CE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A58233-87E0-45E6-8C63-43708548CF6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AF3009-A675-49A9-BB81-0CD1F85687D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819F48-3525-4077-B5F6-A12EF3E96E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042521-448C-4578-8D3E-39AB1D4A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BC1C53-219F-48FA-A526-AB03307E8A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747425C-9792-43D2-8BEE-44CCA51270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EC3C0A-BE01-4218-B4C0-60E837B6F2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D36F46-1B7C-402C-984D-97744D60CB0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9B8E4E-AA67-4B54-81A3-3D92CF5912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F25DA2-C50F-411D-B083-412DD0DD34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9C389B-486B-4A6D-AA1A-3FB99F19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0D6F07-7552-4414-A1E8-0685DCDB3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CEE6AE-1FF6-4FF1-AA8C-9ADFBFB6974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B7F4D0-9E11-4F30-9C04-169B86FB34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4EBE0A-811E-4E0F-8D40-AC1922D19B5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DDCBF5-41DD-430F-B690-2936833E69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F1A8A-B111-46B5-8DD5-9C0D91BC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FB2EF1-4891-4573-BA43-7CA93B42B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AACA5A-B726-416D-95CE-7991FD3BD7A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F36DD6-3B3B-4303-A1D1-6D8B3F8F2F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2D0990-FEFF-4E8F-B3A6-73D557F2F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4929B2-A0B7-45EA-B23F-BE8F40033B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ED4E2F-37E5-4068-AA6D-8B7B2B23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DBCCF8-45B8-40AA-87DE-DAB07D912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9CCA23-E536-4BA9-AC32-6DA1D83261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F30331-F2B8-4AF7-90EC-8A22626C96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02B559-3276-4DAA-B493-6BBC7A2815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A561EA-671F-4F09-82D6-C2CA57F1A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B7075D-BC1E-4CF7-A326-1CF1C1C50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B50CFC-F549-49E4-BA19-4FB8861866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40E07-5EE1-4DEB-B472-67FA859DC1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2F81DC-A9E9-40E8-8201-4FD41B1F86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C913308-F349-4B6D-A68A-DD1791B4A57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809E16-3E3F-4A02-9812-06B48EF2D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006E75-098E-4BFB-AE8B-3D9A4F8DB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C0CF76-99CA-45AE-BE11-F1257849606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2499E-0FC9-4EBE-B558-C3C4AE4EF00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3DB08-5CCD-4A52-A294-7E43CB0BD61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BB5BAE-10E5-4690-AB4B-AC297124D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D49A3A-7548-495D-A96E-C9FC7B1BF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A9EB1D-AF2E-4CF9-B1E1-3E0C89E7C73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t>2026/8/29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0898F0-ED1A-40E3-9BCA-3F3E07ABCAE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956054-3503-44AD-A461-C089E0A7F21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5F8A904-2A81-4B2B-B90E-13AFBC0AE3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6C939A-3E4F-4F10-A917-924A929121CB}"/>
              </a:ext>
            </a:extLst>
          </p:cNvPr>
          <p:cNvSpPr>
            <a:spLocks noGrp="1"/>
          </p:cNvSpPr>
          <p:nvPr/>
        </p:nvSpPr>
        <p:spPr>
          <a:xfrm>
            <a:off x="1156185" y="2672178"/>
            <a:ext cx="9879628" cy="17543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54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公司 HR 制度智能问答</a:t>
            </a:r>
          </a:p>
          <a:p>
            <a:pPr algn="ctr">
              <a:buNone/>
            </a:pPr>
            <a:r>
              <a:rPr sz="54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项目验收答辩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3389407-CDC1-4A4D-9F40-AA85DD99EAFF}"/>
              </a:ext>
            </a:extLst>
          </p:cNvPr>
          <p:cNvSpPr>
            <a:spLocks noGrp="1"/>
          </p:cNvSpPr>
          <p:nvPr/>
        </p:nvSpPr>
        <p:spPr>
          <a:xfrm>
            <a:off x="4814995" y="4818522"/>
            <a:ext cx="249299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答辩人：________</a:t>
            </a:r>
          </a:p>
          <a:p>
            <a:pPr algn="ctr">
              <a:lnSpc>
                <a:spcPct val="150000"/>
              </a:lnSpc>
              <a:buNone/>
            </a:pPr>
            <a:r>
              <a:rPr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指导教师：________</a:t>
            </a:r>
            <a:endParaRPr b="1">
              <a:solidFill>
                <a:prstClr val="white"/>
              </a:solidFill>
              <a:latin typeface="黑体"/>
              <a:ea typeface="黑体"/>
              <a:cs typeface="黑体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E85C6DD6-0519-4C9F-B75D-07FC52BF5229}"/>
              </a:ext>
            </a:extLst>
          </p:cNvPr>
          <p:cNvSpPr>
            <a:spLocks noGrp="1"/>
          </p:cNvSpPr>
          <p:nvPr/>
        </p:nvSpPr>
        <p:spPr>
          <a:xfrm>
            <a:off x="1442058" y="4653136"/>
            <a:ext cx="9621008" cy="0"/>
          </a:xfrm>
          <a:prstGeom prst="line">
            <a:avLst/>
          </a:prstGeom>
          <a:noFill/>
          <a:ln w="28575">
            <a:solidFill>
              <a:sysClr val="window" lastClr="FFFFFF"/>
            </a:solidFill>
            <a:prstDash val="solid"/>
          </a:ln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7112F40-7AEF-4A3A-A0FC-4EBCA5AE9BC7}"/>
              </a:ext>
            </a:extLst>
          </p:cNvPr>
          <p:cNvSpPr>
            <a:spLocks noGrp="1"/>
          </p:cNvSpPr>
          <p:nvPr/>
        </p:nvSpPr>
        <p:spPr>
          <a:xfrm>
            <a:off x="5539636" y="6372362"/>
            <a:ext cx="10999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chemeClr val="bg1"/>
                </a:solidFill>
              </a:rPr>
              <a:t>2026.08.28</a:t>
            </a:r>
            <a:endParaRPr b="1" baseline="30000">
              <a:solidFill>
                <a:schemeClr val="bg1"/>
              </a:solidFill>
            </a:endParaRP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13A532-E7E3-4254-8207-71FEE8D96472}"/>
              </a:ext>
            </a:extLst>
          </p:cNvPr>
          <p:cNvSpPr>
            <a:spLocks noGrp="1"/>
          </p:cNvSpPr>
          <p:nvPr/>
        </p:nvSpPr>
        <p:spPr>
          <a:xfrm>
            <a:off x="5188031" y="6557028"/>
            <a:ext cx="3234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D9FBD548-98BC-44F9-9D6D-A03E0F7530DF}"/>
              </a:ext>
            </a:extLst>
          </p:cNvPr>
          <p:cNvSpPr>
            <a:spLocks noGrp="1"/>
          </p:cNvSpPr>
          <p:nvPr/>
        </p:nvSpPr>
        <p:spPr>
          <a:xfrm>
            <a:off x="6611481" y="6537747"/>
            <a:ext cx="3234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4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535" y="764704"/>
            <a:ext cx="5303912" cy="157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5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CB3D05-11C7-47D1-AC02-FCF170AE1D84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688B40-85F4-4889-B653-91925FFA1CA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E939BF92-B2C0-4251-A6F1-EDCF02D7C038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答辩结构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箭头: 下 1">
            <a:extLst>
              <a:ext uri="{FF2B5EF4-FFF2-40B4-BE49-F238E27FC236}">
                <a16:creationId xmlns:a16="http://schemas.microsoft.com/office/drawing/2014/main" id="{4EF2A33D-FC0B-4BBE-86E0-20430D4AC49B}"/>
              </a:ext>
            </a:extLst>
          </p:cNvPr>
          <p:cNvSpPr>
            <a:spLocks noGrp="1"/>
          </p:cNvSpPr>
          <p:nvPr/>
        </p:nvSpPr>
        <p:spPr>
          <a:xfrm flipV="1">
            <a:off x="1547709" y="2670631"/>
            <a:ext cx="9131359" cy="2340488"/>
          </a:xfrm>
          <a:custGeom>
            <a:avLst/>
            <a:gdLst>
              <a:gd name="connsiteX0" fmla="*/ 0 w 4125547"/>
              <a:gd name="connsiteY0" fmla="*/ 1993527 h 2825934"/>
              <a:gd name="connsiteX1" fmla="*/ 675723 w 4125547"/>
              <a:gd name="connsiteY1" fmla="*/ 1993527 h 2825934"/>
              <a:gd name="connsiteX2" fmla="*/ 675723 w 4125547"/>
              <a:gd name="connsiteY2" fmla="*/ 0 h 2825934"/>
              <a:gd name="connsiteX3" fmla="*/ 3449824 w 4125547"/>
              <a:gd name="connsiteY3" fmla="*/ 0 h 2825934"/>
              <a:gd name="connsiteX4" fmla="*/ 3449824 w 4125547"/>
              <a:gd name="connsiteY4" fmla="*/ 1993527 h 2825934"/>
              <a:gd name="connsiteX5" fmla="*/ 4125547 w 4125547"/>
              <a:gd name="connsiteY5" fmla="*/ 1993527 h 2825934"/>
              <a:gd name="connsiteX6" fmla="*/ 2062774 w 4125547"/>
              <a:gd name="connsiteY6" fmla="*/ 2825934 h 2825934"/>
              <a:gd name="connsiteX7" fmla="*/ 0 w 4125547"/>
              <a:gd name="connsiteY7" fmla="*/ 1993527 h 2825934"/>
              <a:gd name="connsiteX0" fmla="*/ 2299706 w 6425253"/>
              <a:gd name="connsiteY0" fmla="*/ 2022556 h 2854963"/>
              <a:gd name="connsiteX1" fmla="*/ 2975429 w 6425253"/>
              <a:gd name="connsiteY1" fmla="*/ 2022556 h 2854963"/>
              <a:gd name="connsiteX2" fmla="*/ 0 w 6425253"/>
              <a:gd name="connsiteY2" fmla="*/ 0 h 2854963"/>
              <a:gd name="connsiteX3" fmla="*/ 5749530 w 6425253"/>
              <a:gd name="connsiteY3" fmla="*/ 29029 h 2854963"/>
              <a:gd name="connsiteX4" fmla="*/ 5749530 w 6425253"/>
              <a:gd name="connsiteY4" fmla="*/ 2022556 h 2854963"/>
              <a:gd name="connsiteX5" fmla="*/ 6425253 w 6425253"/>
              <a:gd name="connsiteY5" fmla="*/ 2022556 h 2854963"/>
              <a:gd name="connsiteX6" fmla="*/ 4362480 w 6425253"/>
              <a:gd name="connsiteY6" fmla="*/ 2854963 h 2854963"/>
              <a:gd name="connsiteX7" fmla="*/ 2299706 w 6425253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</a:gdLst>
            <a:ahLst/>
            <a:cxnLst/>
            <a:rect l="l" t="t" r="r" b="b"/>
            <a:pathLst>
              <a:path w="9131359" h="2854963">
                <a:moveTo>
                  <a:pt x="2299706" y="2022556"/>
                </a:moveTo>
                <a:lnTo>
                  <a:pt x="2975429" y="2022556"/>
                </a:lnTo>
                <a:cubicBezTo>
                  <a:pt x="2433561" y="1072600"/>
                  <a:pt x="1383696" y="514528"/>
                  <a:pt x="0" y="0"/>
                </a:cubicBezTo>
                <a:lnTo>
                  <a:pt x="9131359" y="58057"/>
                </a:lnTo>
                <a:cubicBezTo>
                  <a:pt x="7191283" y="408090"/>
                  <a:pt x="6513949" y="1091952"/>
                  <a:pt x="5749530" y="2022556"/>
                </a:cubicBezTo>
                <a:lnTo>
                  <a:pt x="6425253" y="2022556"/>
                </a:lnTo>
                <a:lnTo>
                  <a:pt x="4362480" y="2854963"/>
                </a:lnTo>
                <a:lnTo>
                  <a:pt x="2299706" y="2022556"/>
                </a:lnTo>
                <a:close/>
              </a:path>
            </a:pathLst>
          </a:custGeom>
          <a:gradFill rotWithShape="1">
            <a:gsLst>
              <a:gs pos="100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18CAA58-16E7-41CC-9C76-21CD5BE2F1FC}"/>
              </a:ext>
            </a:extLst>
          </p:cNvPr>
          <p:cNvSpPr>
            <a:spLocks noGrp="1"/>
          </p:cNvSpPr>
          <p:nvPr/>
        </p:nvSpPr>
        <p:spPr>
          <a:xfrm>
            <a:off x="698297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6FB1AC-7097-4BFA-B6C7-E5AF4C78D897}"/>
              </a:ext>
            </a:extLst>
          </p:cNvPr>
          <p:cNvSpPr>
            <a:spLocks noGrp="1"/>
          </p:cNvSpPr>
          <p:nvPr/>
        </p:nvSpPr>
        <p:spPr>
          <a:xfrm>
            <a:off x="623392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 dirty="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01</a:t>
            </a:r>
          </a:p>
          <a:p>
            <a:pPr algn="ctr" defTabSz="457200">
              <a:buNone/>
            </a:pPr>
            <a:r>
              <a:rPr sz="2100" b="1" spc="300" dirty="0" err="1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项目成果</a:t>
            </a:r>
            <a:endParaRPr sz="2100" b="1" spc="300" dirty="0"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A764BAF-3C31-4FAC-8B79-E9E50A9F5DF9}"/>
              </a:ext>
            </a:extLst>
          </p:cNvPr>
          <p:cNvSpPr>
            <a:spLocks noGrp="1"/>
          </p:cNvSpPr>
          <p:nvPr/>
        </p:nvSpPr>
        <p:spPr>
          <a:xfrm>
            <a:off x="2970593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48F37F5-FEDC-40D8-ADF1-C5111C96391D}"/>
              </a:ext>
            </a:extLst>
          </p:cNvPr>
          <p:cNvSpPr>
            <a:spLocks noGrp="1"/>
          </p:cNvSpPr>
          <p:nvPr/>
        </p:nvSpPr>
        <p:spPr>
          <a:xfrm>
            <a:off x="5242885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242FAAD-BB1D-47B2-89C0-EDF99B6FC5D3}"/>
              </a:ext>
            </a:extLst>
          </p:cNvPr>
          <p:cNvSpPr>
            <a:spLocks noGrp="1"/>
          </p:cNvSpPr>
          <p:nvPr/>
        </p:nvSpPr>
        <p:spPr>
          <a:xfrm>
            <a:off x="7515185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E995535-B0AA-4261-B20C-A5A4EA1C82E5}"/>
              </a:ext>
            </a:extLst>
          </p:cNvPr>
          <p:cNvSpPr>
            <a:spLocks noGrp="1"/>
          </p:cNvSpPr>
          <p:nvPr/>
        </p:nvSpPr>
        <p:spPr>
          <a:xfrm>
            <a:off x="9787482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13F3B8-E7D3-4ECF-B1B8-9C67889543A7}"/>
              </a:ext>
            </a:extLst>
          </p:cNvPr>
          <p:cNvSpPr>
            <a:spLocks noGrp="1"/>
          </p:cNvSpPr>
          <p:nvPr/>
        </p:nvSpPr>
        <p:spPr>
          <a:xfrm>
            <a:off x="2219999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A20F77-923B-48F9-8192-630C7212CD63}"/>
              </a:ext>
            </a:extLst>
          </p:cNvPr>
          <p:cNvSpPr>
            <a:spLocks noGrp="1"/>
          </p:cNvSpPr>
          <p:nvPr/>
        </p:nvSpPr>
        <p:spPr>
          <a:xfrm>
            <a:off x="4502703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64240B-616D-4FDC-8C46-EEB477E90562}"/>
              </a:ext>
            </a:extLst>
          </p:cNvPr>
          <p:cNvSpPr>
            <a:spLocks noGrp="1"/>
          </p:cNvSpPr>
          <p:nvPr/>
        </p:nvSpPr>
        <p:spPr>
          <a:xfrm>
            <a:off x="6767720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414929-2B97-418B-B0F9-DF240ABED147}"/>
              </a:ext>
            </a:extLst>
          </p:cNvPr>
          <p:cNvSpPr>
            <a:spLocks noGrp="1"/>
          </p:cNvSpPr>
          <p:nvPr/>
        </p:nvSpPr>
        <p:spPr>
          <a:xfrm>
            <a:off x="9034998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E4D7ED-1D7C-408D-90A6-2BD528ACE8D7}"/>
              </a:ext>
            </a:extLst>
          </p:cNvPr>
          <p:cNvSpPr>
            <a:spLocks noGrp="1"/>
          </p:cNvSpPr>
          <p:nvPr/>
        </p:nvSpPr>
        <p:spPr>
          <a:xfrm>
            <a:off x="5094972" y="1577796"/>
            <a:ext cx="172354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>
              <a:buNone/>
            </a:pPr>
            <a:r>
              <a:rPr lang="zh-CN" altLang="en-US" sz="6000" b="1" dirty="0">
                <a:solidFill>
                  <a:schemeClr val="accent1"/>
                </a:solidFill>
                <a:effectLst>
                  <a:outerShdw blurRad="520700" algn="ctr" rotWithShape="0">
                    <a:srgbClr val="FFFFFF">
                      <a:lumMod val="95000"/>
                      <a:alpha val="44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目录</a:t>
            </a:r>
            <a:endParaRPr sz="6000" b="1" dirty="0">
              <a:solidFill>
                <a:schemeClr val="accent1"/>
              </a:solidFill>
              <a:effectLst>
                <a:outerShdw blurRad="520700" algn="ctr" rotWithShape="0">
                  <a:srgbClr val="FFFFFF">
                    <a:lumMod val="95000"/>
                    <a:alpha val="44000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6594DD7-3399-48E1-B842-FAA86947F656}"/>
              </a:ext>
            </a:extLst>
          </p:cNvPr>
          <p:cNvSpPr>
            <a:spLocks noGrp="1"/>
          </p:cNvSpPr>
          <p:nvPr/>
        </p:nvSpPr>
        <p:spPr>
          <a:xfrm>
            <a:off x="2897758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02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批判思维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17B289-1395-4CF7-BFA5-3B604DE1C394}"/>
              </a:ext>
            </a:extLst>
          </p:cNvPr>
          <p:cNvSpPr>
            <a:spLocks noGrp="1"/>
          </p:cNvSpPr>
          <p:nvPr/>
        </p:nvSpPr>
        <p:spPr>
          <a:xfrm>
            <a:off x="5169425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03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协作过程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40FE19-DDD6-4F92-9664-F0E43F124FFA}"/>
              </a:ext>
            </a:extLst>
          </p:cNvPr>
          <p:cNvSpPr>
            <a:spLocks noGrp="1"/>
          </p:cNvSpPr>
          <p:nvPr/>
        </p:nvSpPr>
        <p:spPr>
          <a:xfrm>
            <a:off x="7439320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04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2E350D-B535-4859-8FD5-273BDDB9C827}"/>
              </a:ext>
            </a:extLst>
          </p:cNvPr>
          <p:cNvSpPr>
            <a:spLocks noGrp="1"/>
          </p:cNvSpPr>
          <p:nvPr/>
        </p:nvSpPr>
        <p:spPr>
          <a:xfrm>
            <a:off x="9725151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验收判断</a:t>
            </a:r>
          </a:p>
        </p:txBody>
      </p:sp>
    </p:spTree>
    <p:extLst>
      <p:ext uri="{BB962C8B-B14F-4D97-AF65-F5344CB8AC3E}">
        <p14:creationId xmlns:p14="http://schemas.microsoft.com/office/powerpoint/2010/main" val="3072855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noGrp="1"/>
          </p:cNvSpPr>
          <p:nvPr/>
        </p:nvSpPr>
        <p:spPr>
          <a:xfrm>
            <a:off x="7824190" y="2100860"/>
            <a:ext cx="2664295" cy="266429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noGrp="1"/>
          </p:cNvSpPr>
          <p:nvPr/>
        </p:nvSpPr>
        <p:spPr>
          <a:xfrm>
            <a:off x="7937764" y="2936718"/>
            <a:ext cx="3168994" cy="99257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01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noGrp="1"/>
          </p:cNvSpPr>
          <p:nvPr/>
        </p:nvSpPr>
        <p:spPr>
          <a:xfrm>
            <a:off x="1343472" y="3029051"/>
            <a:ext cx="4985980" cy="171450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项目概述与</a:t>
            </a:r>
          </a:p>
          <a:p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核心成果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ECCDBB6-F4B1-4C9A-AA47-F84B9EC03D4F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7628D0-77EF-4B5F-8281-1A7F965798F0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71063F41-09B2-4E54-9D77-182D140FF339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项目定位：可信、可管、可验收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D5DB199-7935-4553-A7CF-68F9DE75BA31}"/>
              </a:ext>
            </a:extLst>
          </p:cNvPr>
          <p:cNvSpPr>
            <a:spLocks noGrp="1"/>
          </p:cNvSpPr>
          <p:nvPr/>
        </p:nvSpPr>
        <p:spPr>
          <a:xfrm>
            <a:off x="509588" y="1784630"/>
            <a:ext cx="5545137" cy="3660593"/>
          </a:xfrm>
          <a:prstGeom prst="rect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82C8A9-6A5E-4128-B6E4-B1274C0B6BD1}"/>
              </a:ext>
            </a:extLst>
          </p:cNvPr>
          <p:cNvSpPr>
            <a:spLocks noGrp="1"/>
          </p:cNvSpPr>
          <p:nvPr/>
        </p:nvSpPr>
        <p:spPr>
          <a:xfrm>
            <a:off x="6054725" y="1784630"/>
            <a:ext cx="5545138" cy="3660593"/>
          </a:xfrm>
          <a:prstGeom prst="rect">
            <a:avLst/>
          </a:prstGeom>
          <a:noFill/>
          <a:ln w="28575" cmpd="sng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2D9E0C-8671-42A3-BA43-ABA227B4364C}"/>
              </a:ext>
            </a:extLst>
          </p:cNvPr>
          <p:cNvSpPr>
            <a:spLocks noGrp="1"/>
          </p:cNvSpPr>
          <p:nvPr/>
        </p:nvSpPr>
        <p:spPr>
          <a:xfrm>
            <a:off x="11272838" y="1772816"/>
            <a:ext cx="338137" cy="338137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F67920-0B44-4966-B251-C8FA31091B77}"/>
              </a:ext>
            </a:extLst>
          </p:cNvPr>
          <p:cNvSpPr>
            <a:spLocks noGrp="1"/>
          </p:cNvSpPr>
          <p:nvPr/>
        </p:nvSpPr>
        <p:spPr>
          <a:xfrm>
            <a:off x="11272838" y="5108674"/>
            <a:ext cx="338137" cy="336550"/>
          </a:xfrm>
          <a:prstGeom prst="rect">
            <a:avLst/>
          </a:prstGeom>
          <a:solidFill>
            <a:schemeClr val="accent1"/>
          </a:solidFill>
          <a:ln w="12700" cmpd="sng">
            <a:solidFill>
              <a:schemeClr val="accent1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文本框 13">
            <a:extLst>
              <a:ext uri="{FF2B5EF4-FFF2-40B4-BE49-F238E27FC236}">
                <a16:creationId xmlns:a16="http://schemas.microsoft.com/office/drawing/2014/main" id="{98EE72BE-FF8D-448B-BDDE-DA682EDF214D}"/>
              </a:ext>
            </a:extLst>
          </p:cNvPr>
          <p:cNvSpPr>
            <a:spLocks noGrp="1"/>
          </p:cNvSpPr>
          <p:nvPr/>
        </p:nvSpPr>
        <p:spPr>
          <a:xfrm>
            <a:off x="695399" y="1841181"/>
            <a:ext cx="5021189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业务问题</a:t>
            </a: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制度分散，员工检索成本高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语义相近，关键词难以区分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生成内容可能缺乏依据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• HR 需要版本与反馈治理</a:t>
            </a:r>
          </a:p>
        </p:txBody>
      </p:sp>
      <p:sp>
        <p:nvSpPr>
          <p:cNvPr id="19" name="矩形 14">
            <a:extLst>
              <a:ext uri="{FF2B5EF4-FFF2-40B4-BE49-F238E27FC236}">
                <a16:creationId xmlns:a16="http://schemas.microsoft.com/office/drawing/2014/main" id="{03C6AED4-4B26-43B3-9CB4-A7FB23943ACF}"/>
              </a:ext>
            </a:extLst>
          </p:cNvPr>
          <p:cNvSpPr>
            <a:spLocks noGrp="1"/>
          </p:cNvSpPr>
          <p:nvPr/>
        </p:nvSpPr>
        <p:spPr>
          <a:xfrm>
            <a:off x="6240015" y="1851789"/>
            <a:ext cx="5021711" cy="3416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/>
              <a:buChar char="•"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交付目标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cap="none" spc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F01–F18 全部形成闭环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回答绑定证据，低证据拒答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员工、HR、分析三端可运行</a:t>
            </a:r>
          </a:p>
          <a:p>
            <a:pPr marL="0" marR="0" lv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• 测试、题集、场景共同验收</a:t>
            </a:r>
          </a:p>
        </p:txBody>
      </p:sp>
    </p:spTree>
    <p:extLst>
      <p:ext uri="{BB962C8B-B14F-4D97-AF65-F5344CB8AC3E}">
        <p14:creationId xmlns:p14="http://schemas.microsoft.com/office/powerpoint/2010/main" val="426094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8C4A795-F87D-413A-964D-1D1ED24D0A0E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006718-0854-4A4D-9F91-EC0B8F196D1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72CC7F29-419C-4A0B-A805-668912CF94D5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核心成果：业务闭环而非单一问答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A-圆角矩形 25">
            <a:extLst>
              <a:ext uri="{FF2B5EF4-FFF2-40B4-BE49-F238E27FC236}">
                <a16:creationId xmlns:a16="http://schemas.microsoft.com/office/drawing/2014/main" id="{20E8EEA2-42BB-4158-B756-35FCA7E62EF1}"/>
              </a:ext>
            </a:extLst>
          </p:cNvPr>
          <p:cNvSpPr>
            <a:spLocks noGrp="1"/>
          </p:cNvSpPr>
          <p:nvPr/>
        </p:nvSpPr>
        <p:spPr>
          <a:xfrm>
            <a:off x="688340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4" name="PA-椭圆 31">
            <a:extLst>
              <a:ext uri="{FF2B5EF4-FFF2-40B4-BE49-F238E27FC236}">
                <a16:creationId xmlns:a16="http://schemas.microsoft.com/office/drawing/2014/main" id="{65A3BB24-F05E-4479-95CB-80FE1CD2E140}"/>
              </a:ext>
            </a:extLst>
          </p:cNvPr>
          <p:cNvSpPr>
            <a:spLocks noGrp="1"/>
          </p:cNvSpPr>
          <p:nvPr/>
        </p:nvSpPr>
        <p:spPr>
          <a:xfrm>
            <a:off x="2099661" y="1846460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749C8A3-395B-48E2-87F7-047F5A37AF30}"/>
              </a:ext>
            </a:extLst>
          </p:cNvPr>
          <p:cNvSpPr>
            <a:spLocks noGrp="1"/>
          </p:cNvSpPr>
          <p:nvPr/>
        </p:nvSpPr>
        <p:spPr>
          <a:xfrm>
            <a:off x="945287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需求与权限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56ECDA-7A63-469E-B02B-D452E629C934}"/>
              </a:ext>
            </a:extLst>
          </p:cNvPr>
          <p:cNvSpPr>
            <a:spLocks noGrp="1"/>
          </p:cNvSpPr>
          <p:nvPr/>
        </p:nvSpPr>
        <p:spPr>
          <a:xfrm>
            <a:off x="748612" y="2799904"/>
            <a:ext cx="3136551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登录与角色隔离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会话安全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9C48116-ECC4-4094-A4FD-B25D9D352EC8}"/>
              </a:ext>
            </a:extLst>
          </p:cNvPr>
          <p:cNvSpPr>
            <a:spLocks noGrp="1"/>
          </p:cNvSpPr>
          <p:nvPr/>
        </p:nvSpPr>
        <p:spPr>
          <a:xfrm>
            <a:off x="1960531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38" name="PA-圆角矩形 26">
            <a:extLst>
              <a:ext uri="{FF2B5EF4-FFF2-40B4-BE49-F238E27FC236}">
                <a16:creationId xmlns:a16="http://schemas.microsoft.com/office/drawing/2014/main" id="{54DEAB3F-43AD-473B-B659-C0D18339465D}"/>
              </a:ext>
            </a:extLst>
          </p:cNvPr>
          <p:cNvSpPr>
            <a:spLocks noGrp="1"/>
          </p:cNvSpPr>
          <p:nvPr/>
        </p:nvSpPr>
        <p:spPr>
          <a:xfrm>
            <a:off x="4466691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9" name="PA-椭圆 40">
            <a:extLst>
              <a:ext uri="{FF2B5EF4-FFF2-40B4-BE49-F238E27FC236}">
                <a16:creationId xmlns:a16="http://schemas.microsoft.com/office/drawing/2014/main" id="{0995008D-6F92-4C18-96FE-2345CFBA5050}"/>
              </a:ext>
            </a:extLst>
          </p:cNvPr>
          <p:cNvSpPr>
            <a:spLocks noGrp="1"/>
          </p:cNvSpPr>
          <p:nvPr/>
        </p:nvSpPr>
        <p:spPr>
          <a:xfrm>
            <a:off x="5878012" y="1845922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C5FDEE-4E6B-4BBE-B026-697871055A65}"/>
              </a:ext>
            </a:extLst>
          </p:cNvPr>
          <p:cNvSpPr>
            <a:spLocks noGrp="1"/>
          </p:cNvSpPr>
          <p:nvPr/>
        </p:nvSpPr>
        <p:spPr>
          <a:xfrm>
            <a:off x="4723638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知识治理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89BE0B-ED55-4F32-80BD-DA1DF8B12F78}"/>
              </a:ext>
            </a:extLst>
          </p:cNvPr>
          <p:cNvSpPr>
            <a:spLocks noGrp="1"/>
          </p:cNvSpPr>
          <p:nvPr/>
        </p:nvSpPr>
        <p:spPr>
          <a:xfrm>
            <a:off x="4488240" y="2799904"/>
            <a:ext cx="3213996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版本、索引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重建与回滚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1DF53B-F64E-45C2-8795-216787BFBCEF}"/>
              </a:ext>
            </a:extLst>
          </p:cNvPr>
          <p:cNvSpPr>
            <a:spLocks noGrp="1"/>
          </p:cNvSpPr>
          <p:nvPr/>
        </p:nvSpPr>
        <p:spPr>
          <a:xfrm>
            <a:off x="5738882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02</a:t>
            </a:r>
          </a:p>
        </p:txBody>
      </p:sp>
      <p:sp>
        <p:nvSpPr>
          <p:cNvPr id="43" name="PA-圆角矩形 27">
            <a:extLst>
              <a:ext uri="{FF2B5EF4-FFF2-40B4-BE49-F238E27FC236}">
                <a16:creationId xmlns:a16="http://schemas.microsoft.com/office/drawing/2014/main" id="{893ABC73-6FB4-4020-8A9B-F07E01DEB464}"/>
              </a:ext>
            </a:extLst>
          </p:cNvPr>
          <p:cNvSpPr>
            <a:spLocks noGrp="1"/>
          </p:cNvSpPr>
          <p:nvPr/>
        </p:nvSpPr>
        <p:spPr>
          <a:xfrm>
            <a:off x="8245042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4" name="PA-椭圆 51">
            <a:extLst>
              <a:ext uri="{FF2B5EF4-FFF2-40B4-BE49-F238E27FC236}">
                <a16:creationId xmlns:a16="http://schemas.microsoft.com/office/drawing/2014/main" id="{2DB25371-F64A-44FC-9A91-CF57337E6C8F}"/>
              </a:ext>
            </a:extLst>
          </p:cNvPr>
          <p:cNvSpPr>
            <a:spLocks noGrp="1"/>
          </p:cNvSpPr>
          <p:nvPr/>
        </p:nvSpPr>
        <p:spPr>
          <a:xfrm>
            <a:off x="9656363" y="1846460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C33179A-D975-4DB9-9740-9550A639747B}"/>
              </a:ext>
            </a:extLst>
          </p:cNvPr>
          <p:cNvSpPr>
            <a:spLocks noGrp="1"/>
          </p:cNvSpPr>
          <p:nvPr/>
        </p:nvSpPr>
        <p:spPr>
          <a:xfrm>
            <a:off x="8501989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1A91FC0-F614-49FD-9036-D1B38E8C2FAF}"/>
              </a:ext>
            </a:extLst>
          </p:cNvPr>
          <p:cNvSpPr>
            <a:spLocks noGrp="1"/>
          </p:cNvSpPr>
          <p:nvPr/>
        </p:nvSpPr>
        <p:spPr>
          <a:xfrm>
            <a:off x="8304151" y="2799904"/>
            <a:ext cx="3138877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BGE + BM25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RRF 融合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2CE4E99-F410-4FC6-B8FF-F2289FE94AB3}"/>
              </a:ext>
            </a:extLst>
          </p:cNvPr>
          <p:cNvSpPr>
            <a:spLocks noGrp="1"/>
          </p:cNvSpPr>
          <p:nvPr/>
        </p:nvSpPr>
        <p:spPr>
          <a:xfrm>
            <a:off x="9517233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03</a:t>
            </a:r>
          </a:p>
        </p:txBody>
      </p:sp>
      <p:sp>
        <p:nvSpPr>
          <p:cNvPr id="48" name="PA-圆角矩形 28">
            <a:extLst>
              <a:ext uri="{FF2B5EF4-FFF2-40B4-BE49-F238E27FC236}">
                <a16:creationId xmlns:a16="http://schemas.microsoft.com/office/drawing/2014/main" id="{677963CF-58B2-4185-958C-C7E539740A9A}"/>
              </a:ext>
            </a:extLst>
          </p:cNvPr>
          <p:cNvSpPr>
            <a:spLocks noGrp="1"/>
          </p:cNvSpPr>
          <p:nvPr/>
        </p:nvSpPr>
        <p:spPr>
          <a:xfrm>
            <a:off x="688340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9" name="PA-椭圆 56">
            <a:extLst>
              <a:ext uri="{FF2B5EF4-FFF2-40B4-BE49-F238E27FC236}">
                <a16:creationId xmlns:a16="http://schemas.microsoft.com/office/drawing/2014/main" id="{3C87EA06-0CDD-4E04-9A0F-521D14879124}"/>
              </a:ext>
            </a:extLst>
          </p:cNvPr>
          <p:cNvSpPr>
            <a:spLocks noGrp="1"/>
          </p:cNvSpPr>
          <p:nvPr/>
        </p:nvSpPr>
        <p:spPr>
          <a:xfrm>
            <a:off x="2099661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A7C0F8D-28A6-4341-8A18-A6CD5DDB8BA7}"/>
              </a:ext>
            </a:extLst>
          </p:cNvPr>
          <p:cNvSpPr>
            <a:spLocks noGrp="1"/>
          </p:cNvSpPr>
          <p:nvPr/>
        </p:nvSpPr>
        <p:spPr>
          <a:xfrm>
            <a:off x="945287" y="4588470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证据回答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41DEC6D-D742-4FC9-A26C-FFDAC1F6C509}"/>
              </a:ext>
            </a:extLst>
          </p:cNvPr>
          <p:cNvSpPr>
            <a:spLocks noGrp="1"/>
          </p:cNvSpPr>
          <p:nvPr/>
        </p:nvSpPr>
        <p:spPr>
          <a:xfrm>
            <a:off x="734378" y="5038095"/>
            <a:ext cx="3165018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结构化生成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引用校验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FE4C747-340D-4B2C-B520-D606A6D4940C}"/>
              </a:ext>
            </a:extLst>
          </p:cNvPr>
          <p:cNvSpPr>
            <a:spLocks noGrp="1"/>
          </p:cNvSpPr>
          <p:nvPr/>
        </p:nvSpPr>
        <p:spPr>
          <a:xfrm>
            <a:off x="1960531" y="4099032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04</a:t>
            </a:r>
          </a:p>
        </p:txBody>
      </p:sp>
      <p:sp>
        <p:nvSpPr>
          <p:cNvPr id="53" name="PA-圆角矩形 29">
            <a:extLst>
              <a:ext uri="{FF2B5EF4-FFF2-40B4-BE49-F238E27FC236}">
                <a16:creationId xmlns:a16="http://schemas.microsoft.com/office/drawing/2014/main" id="{87184BC9-0CBA-4934-BBEE-C42C7C265E94}"/>
              </a:ext>
            </a:extLst>
          </p:cNvPr>
          <p:cNvSpPr>
            <a:spLocks noGrp="1"/>
          </p:cNvSpPr>
          <p:nvPr/>
        </p:nvSpPr>
        <p:spPr>
          <a:xfrm>
            <a:off x="4466691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5875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4" name="PA-椭圆 61">
            <a:extLst>
              <a:ext uri="{FF2B5EF4-FFF2-40B4-BE49-F238E27FC236}">
                <a16:creationId xmlns:a16="http://schemas.microsoft.com/office/drawing/2014/main" id="{28E9D282-EE0B-4EDD-972C-C79708888758}"/>
              </a:ext>
            </a:extLst>
          </p:cNvPr>
          <p:cNvSpPr>
            <a:spLocks noGrp="1"/>
          </p:cNvSpPr>
          <p:nvPr/>
        </p:nvSpPr>
        <p:spPr>
          <a:xfrm>
            <a:off x="5878012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860CA41-7939-4356-8172-FBFD26650ED9}"/>
              </a:ext>
            </a:extLst>
          </p:cNvPr>
          <p:cNvSpPr>
            <a:spLocks noGrp="1"/>
          </p:cNvSpPr>
          <p:nvPr/>
        </p:nvSpPr>
        <p:spPr>
          <a:xfrm>
            <a:off x="4723638" y="4585897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安全降级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36F5F1-CACF-486C-BF3A-280F9F58B425}"/>
              </a:ext>
            </a:extLst>
          </p:cNvPr>
          <p:cNvSpPr>
            <a:spLocks noGrp="1"/>
          </p:cNvSpPr>
          <p:nvPr/>
        </p:nvSpPr>
        <p:spPr>
          <a:xfrm>
            <a:off x="4480924" y="5035522"/>
            <a:ext cx="3228629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低证据拒答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本地证据兜底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BEAB99-A29E-44E1-AB9B-365D10816E8C}"/>
              </a:ext>
            </a:extLst>
          </p:cNvPr>
          <p:cNvSpPr>
            <a:spLocks noGrp="1"/>
          </p:cNvSpPr>
          <p:nvPr/>
        </p:nvSpPr>
        <p:spPr>
          <a:xfrm>
            <a:off x="5738882" y="4096459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05</a:t>
            </a:r>
          </a:p>
        </p:txBody>
      </p:sp>
      <p:sp>
        <p:nvSpPr>
          <p:cNvPr id="58" name="PA-圆角矩形 30">
            <a:extLst>
              <a:ext uri="{FF2B5EF4-FFF2-40B4-BE49-F238E27FC236}">
                <a16:creationId xmlns:a16="http://schemas.microsoft.com/office/drawing/2014/main" id="{2ED17F29-4E17-4921-A6A4-13084C875031}"/>
              </a:ext>
            </a:extLst>
          </p:cNvPr>
          <p:cNvSpPr>
            <a:spLocks noGrp="1"/>
          </p:cNvSpPr>
          <p:nvPr/>
        </p:nvSpPr>
        <p:spPr>
          <a:xfrm>
            <a:off x="8245042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9" name="PA-椭圆 66">
            <a:extLst>
              <a:ext uri="{FF2B5EF4-FFF2-40B4-BE49-F238E27FC236}">
                <a16:creationId xmlns:a16="http://schemas.microsoft.com/office/drawing/2014/main" id="{70DB4994-323F-4CBB-81CC-5405D939B3A4}"/>
              </a:ext>
            </a:extLst>
          </p:cNvPr>
          <p:cNvSpPr>
            <a:spLocks noGrp="1"/>
          </p:cNvSpPr>
          <p:nvPr/>
        </p:nvSpPr>
        <p:spPr>
          <a:xfrm>
            <a:off x="9656363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D39E093-2ECD-483D-AAAE-A4DFD6957FD5}"/>
              </a:ext>
            </a:extLst>
          </p:cNvPr>
          <p:cNvSpPr>
            <a:spLocks noGrp="1"/>
          </p:cNvSpPr>
          <p:nvPr/>
        </p:nvSpPr>
        <p:spPr>
          <a:xfrm>
            <a:off x="8501989" y="4603124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反馈分析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8993099-C0CE-4D78-9732-ED67240143F9}"/>
              </a:ext>
            </a:extLst>
          </p:cNvPr>
          <p:cNvSpPr>
            <a:spLocks noGrp="1"/>
          </p:cNvSpPr>
          <p:nvPr/>
        </p:nvSpPr>
        <p:spPr>
          <a:xfrm>
            <a:off x="8304151" y="5052749"/>
            <a:ext cx="3138877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满意度闭环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失败查询 Top5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5E2199A-472E-46D0-B39D-11BAE31F07F5}"/>
              </a:ext>
            </a:extLst>
          </p:cNvPr>
          <p:cNvSpPr>
            <a:spLocks noGrp="1"/>
          </p:cNvSpPr>
          <p:nvPr/>
        </p:nvSpPr>
        <p:spPr>
          <a:xfrm>
            <a:off x="9517233" y="4113686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1914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FD30C51-1BD0-41D2-A238-A94CCB93418B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696CD8-8EC6-438B-8837-379AE0FF3E8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7ECDA534-36F5-4932-B8EA-2AF4BF75F2D8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可信回答：检索、生成、校验相互约束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723">
            <a:extLst>
              <a:ext uri="{FF2B5EF4-FFF2-40B4-BE49-F238E27FC236}">
                <a16:creationId xmlns:a16="http://schemas.microsoft.com/office/drawing/2014/main" id="{D64F7C32-C424-4E8F-9062-7E24F90EF08E}"/>
              </a:ext>
            </a:extLst>
          </p:cNvPr>
          <p:cNvSpPr>
            <a:spLocks noGrp="1"/>
          </p:cNvSpPr>
          <p:nvPr/>
        </p:nvSpPr>
        <p:spPr>
          <a:xfrm rot="18900000">
            <a:off x="5379144" y="2943837"/>
            <a:ext cx="1414666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hape 1726">
            <a:extLst>
              <a:ext uri="{FF2B5EF4-FFF2-40B4-BE49-F238E27FC236}">
                <a16:creationId xmlns:a16="http://schemas.microsoft.com/office/drawing/2014/main" id="{04F10E5A-A4EE-498B-B3C0-98B8339B81A8}"/>
              </a:ext>
            </a:extLst>
          </p:cNvPr>
          <p:cNvSpPr>
            <a:spLocks noGrp="1"/>
          </p:cNvSpPr>
          <p:nvPr/>
        </p:nvSpPr>
        <p:spPr>
          <a:xfrm rot="18900000">
            <a:off x="5379143" y="3148294"/>
            <a:ext cx="1414666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722">
            <a:extLst>
              <a:ext uri="{FF2B5EF4-FFF2-40B4-BE49-F238E27FC236}">
                <a16:creationId xmlns:a16="http://schemas.microsoft.com/office/drawing/2014/main" id="{095D6A02-E945-4A15-A826-67B1EF263787}"/>
              </a:ext>
            </a:extLst>
          </p:cNvPr>
          <p:cNvSpPr>
            <a:spLocks noGrp="1"/>
          </p:cNvSpPr>
          <p:nvPr/>
        </p:nvSpPr>
        <p:spPr>
          <a:xfrm rot="8100000">
            <a:off x="3563871" y="3356638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hape 1729">
            <a:extLst>
              <a:ext uri="{FF2B5EF4-FFF2-40B4-BE49-F238E27FC236}">
                <a16:creationId xmlns:a16="http://schemas.microsoft.com/office/drawing/2014/main" id="{297C59D9-2AC8-47C1-9726-351354CE404C}"/>
              </a:ext>
            </a:extLst>
          </p:cNvPr>
          <p:cNvSpPr>
            <a:spLocks noGrp="1"/>
          </p:cNvSpPr>
          <p:nvPr/>
        </p:nvSpPr>
        <p:spPr>
          <a:xfrm rot="8100000">
            <a:off x="3563871" y="3152180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hape 1721">
            <a:extLst>
              <a:ext uri="{FF2B5EF4-FFF2-40B4-BE49-F238E27FC236}">
                <a16:creationId xmlns:a16="http://schemas.microsoft.com/office/drawing/2014/main" id="{53298BD2-4EC7-4C95-835A-EEF7C84B9B32}"/>
              </a:ext>
            </a:extLst>
          </p:cNvPr>
          <p:cNvSpPr>
            <a:spLocks noGrp="1"/>
          </p:cNvSpPr>
          <p:nvPr/>
        </p:nvSpPr>
        <p:spPr>
          <a:xfrm rot="18900000">
            <a:off x="1743076" y="2943837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1732">
            <a:extLst>
              <a:ext uri="{FF2B5EF4-FFF2-40B4-BE49-F238E27FC236}">
                <a16:creationId xmlns:a16="http://schemas.microsoft.com/office/drawing/2014/main" id="{A3537DFA-F71C-4ED8-8305-04F02B919557}"/>
              </a:ext>
            </a:extLst>
          </p:cNvPr>
          <p:cNvSpPr>
            <a:spLocks noGrp="1"/>
          </p:cNvSpPr>
          <p:nvPr/>
        </p:nvSpPr>
        <p:spPr>
          <a:xfrm rot="18900000">
            <a:off x="1743076" y="3148294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hape 1724">
            <a:extLst>
              <a:ext uri="{FF2B5EF4-FFF2-40B4-BE49-F238E27FC236}">
                <a16:creationId xmlns:a16="http://schemas.microsoft.com/office/drawing/2014/main" id="{E2B8677B-DCEF-4DDA-BD5A-0F97327F79D9}"/>
              </a:ext>
            </a:extLst>
          </p:cNvPr>
          <p:cNvSpPr>
            <a:spLocks noGrp="1"/>
          </p:cNvSpPr>
          <p:nvPr/>
        </p:nvSpPr>
        <p:spPr>
          <a:xfrm rot="8100000">
            <a:off x="7138090" y="3441282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hape 1735">
            <a:extLst>
              <a:ext uri="{FF2B5EF4-FFF2-40B4-BE49-F238E27FC236}">
                <a16:creationId xmlns:a16="http://schemas.microsoft.com/office/drawing/2014/main" id="{21A0931B-4DF4-4FDE-9FB3-A37615619903}"/>
              </a:ext>
            </a:extLst>
          </p:cNvPr>
          <p:cNvSpPr>
            <a:spLocks noGrp="1"/>
          </p:cNvSpPr>
          <p:nvPr/>
        </p:nvSpPr>
        <p:spPr>
          <a:xfrm rot="8100000">
            <a:off x="7138090" y="3236823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hape 1725">
            <a:extLst>
              <a:ext uri="{FF2B5EF4-FFF2-40B4-BE49-F238E27FC236}">
                <a16:creationId xmlns:a16="http://schemas.microsoft.com/office/drawing/2014/main" id="{748B130B-F0D8-450B-B18F-D4C53801DC4D}"/>
              </a:ext>
            </a:extLst>
          </p:cNvPr>
          <p:cNvSpPr>
            <a:spLocks noGrp="1"/>
          </p:cNvSpPr>
          <p:nvPr/>
        </p:nvSpPr>
        <p:spPr>
          <a:xfrm rot="18900000">
            <a:off x="9015209" y="2943837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hape 1738">
            <a:extLst>
              <a:ext uri="{FF2B5EF4-FFF2-40B4-BE49-F238E27FC236}">
                <a16:creationId xmlns:a16="http://schemas.microsoft.com/office/drawing/2014/main" id="{B03C0D49-067A-47BD-A862-464FFD842AD6}"/>
              </a:ext>
            </a:extLst>
          </p:cNvPr>
          <p:cNvSpPr>
            <a:spLocks noGrp="1"/>
          </p:cNvSpPr>
          <p:nvPr/>
        </p:nvSpPr>
        <p:spPr>
          <a:xfrm rot="18900000">
            <a:off x="9015209" y="3148294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BF8EDAE8-208F-4254-8CFB-B0D34A7E1830}"/>
              </a:ext>
            </a:extLst>
          </p:cNvPr>
          <p:cNvSpPr>
            <a:spLocks noGrp="1"/>
          </p:cNvSpPr>
          <p:nvPr/>
        </p:nvSpPr>
        <p:spPr>
          <a:xfrm>
            <a:off x="1845000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理解问题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B913590E-8902-4E41-BAB9-C120ED056A98}"/>
              </a:ext>
            </a:extLst>
          </p:cNvPr>
          <p:cNvSpPr>
            <a:spLocks noGrp="1"/>
          </p:cNvSpPr>
          <p:nvPr/>
        </p:nvSpPr>
        <p:spPr>
          <a:xfrm>
            <a:off x="3663032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混合检索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2E4E12D-DCA0-4110-A35F-D26F0E6E9555}"/>
              </a:ext>
            </a:extLst>
          </p:cNvPr>
          <p:cNvSpPr>
            <a:spLocks noGrp="1"/>
          </p:cNvSpPr>
          <p:nvPr/>
        </p:nvSpPr>
        <p:spPr>
          <a:xfrm>
            <a:off x="5480353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证据编排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87620BF-128B-42C0-A291-0A34458B2539}"/>
              </a:ext>
            </a:extLst>
          </p:cNvPr>
          <p:cNvSpPr>
            <a:spLocks noGrp="1"/>
          </p:cNvSpPr>
          <p:nvPr/>
        </p:nvSpPr>
        <p:spPr>
          <a:xfrm>
            <a:off x="7298385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结构生成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F457139-9DF3-40ED-B1CE-17928C830043}"/>
              </a:ext>
            </a:extLst>
          </p:cNvPr>
          <p:cNvSpPr>
            <a:spLocks noGrp="1"/>
          </p:cNvSpPr>
          <p:nvPr/>
        </p:nvSpPr>
        <p:spPr>
          <a:xfrm>
            <a:off x="9117133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安全校验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A94426B9-3C26-4234-A09A-3471227A801B}"/>
              </a:ext>
            </a:extLst>
          </p:cNvPr>
          <p:cNvSpPr>
            <a:spLocks noGrp="1"/>
          </p:cNvSpPr>
          <p:nvPr/>
        </p:nvSpPr>
        <p:spPr>
          <a:xfrm>
            <a:off x="1295468" y="1628800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信息不足先澄清，避免直接猜测。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8074948C-1CC8-431B-A31A-DC157871A60F}"/>
              </a:ext>
            </a:extLst>
          </p:cNvPr>
          <p:cNvSpPr>
            <a:spLocks noGrp="1"/>
          </p:cNvSpPr>
          <p:nvPr/>
        </p:nvSpPr>
        <p:spPr>
          <a:xfrm>
            <a:off x="3119670" y="5109963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BGE 与 BM25 召回，经 RRF(k=60) 融合。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0C98BAC8-389F-4EDB-AC11-2E1158204B10}"/>
              </a:ext>
            </a:extLst>
          </p:cNvPr>
          <p:cNvSpPr>
            <a:spLocks noGrp="1"/>
          </p:cNvSpPr>
          <p:nvPr/>
        </p:nvSpPr>
        <p:spPr>
          <a:xfrm>
            <a:off x="4936088" y="1628800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保留版本、段落和证据 ID，构造上下文。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68BA8EA4-CD26-4853-A0F8-0571FF71D883}"/>
              </a:ext>
            </a:extLst>
          </p:cNvPr>
          <p:cNvSpPr>
            <a:spLocks noGrp="1"/>
          </p:cNvSpPr>
          <p:nvPr/>
        </p:nvSpPr>
        <p:spPr>
          <a:xfrm>
            <a:off x="6753874" y="5109963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按 JSON 输出答案、依据和下一步建议。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92DD16EC-2E12-4115-AA39-67332EC4EC83}"/>
              </a:ext>
            </a:extLst>
          </p:cNvPr>
          <p:cNvSpPr>
            <a:spLocks noGrp="1"/>
          </p:cNvSpPr>
          <p:nvPr/>
        </p:nvSpPr>
        <p:spPr>
          <a:xfrm>
            <a:off x="8552757" y="1628800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剔除伪造证据；低证据拒答或本地降级。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154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D3BD346-E7EB-47C4-A1BC-94EC5B78C538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7CD914-5F28-49D3-9E3A-56D80A84120F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D194D352-F59B-4EA9-AF39-46C23C6F4877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核心成果：功能、质量与验收一致通过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A93F44E-C0A4-48EB-969E-1DD8884A115E}"/>
              </a:ext>
            </a:extLst>
          </p:cNvPr>
          <p:cNvSpPr>
            <a:spLocks noGrp="1"/>
          </p:cNvSpPr>
          <p:nvPr/>
        </p:nvSpPr>
        <p:spPr>
          <a:xfrm>
            <a:off x="768358" y="1323173"/>
            <a:ext cx="10749575" cy="857689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2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功能追踪、分层测试、检索题集与正式场景共同支撑验收结论；数字均来自最终测试报告。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Down Arrow 15">
            <a:extLst>
              <a:ext uri="{FF2B5EF4-FFF2-40B4-BE49-F238E27FC236}">
                <a16:creationId xmlns:a16="http://schemas.microsoft.com/office/drawing/2014/main" id="{51070622-324E-431A-8794-9F3AF5E47508}"/>
              </a:ext>
            </a:extLst>
          </p:cNvPr>
          <p:cNvSpPr>
            <a:spLocks noGrp="1"/>
          </p:cNvSpPr>
          <p:nvPr/>
        </p:nvSpPr>
        <p:spPr>
          <a:xfrm>
            <a:off x="836109" y="2358265"/>
            <a:ext cx="1668241" cy="3638075"/>
          </a:xfrm>
          <a:prstGeom prst="downArrow">
            <a:avLst>
              <a:gd name="adj1" fmla="val 100000"/>
              <a:gd name="adj2" fmla="val 52223"/>
            </a:avLst>
          </a:prstGeom>
          <a:solidFill>
            <a:schemeClr val="accent1"/>
          </a:solidFill>
          <a:ln w="9525" cmpd="sng">
            <a:solidFill>
              <a:schemeClr val="accent1"/>
            </a:solidFill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Rectangle 87">
            <a:extLst>
              <a:ext uri="{FF2B5EF4-FFF2-40B4-BE49-F238E27FC236}">
                <a16:creationId xmlns:a16="http://schemas.microsoft.com/office/drawing/2014/main" id="{092113E1-1B82-420B-9031-B23972323100}"/>
              </a:ext>
            </a:extLst>
          </p:cNvPr>
          <p:cNvSpPr>
            <a:spLocks noGrp="1"/>
          </p:cNvSpPr>
          <p:nvPr/>
        </p:nvSpPr>
        <p:spPr>
          <a:xfrm>
            <a:off x="836109" y="2357246"/>
            <a:ext cx="1668241" cy="1048295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2E3D0D2-6AB1-4452-AF4F-ACE36DF60A03}"/>
              </a:ext>
            </a:extLst>
          </p:cNvPr>
          <p:cNvSpPr>
            <a:spLocks noGrp="1"/>
          </p:cNvSpPr>
          <p:nvPr/>
        </p:nvSpPr>
        <p:spPr>
          <a:xfrm>
            <a:off x="1018567" y="2633889"/>
            <a:ext cx="1323604" cy="556943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18/18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412DF4BF-5AA9-4E10-8DBF-E10C459C489C}"/>
              </a:ext>
            </a:extLst>
          </p:cNvPr>
          <p:cNvSpPr>
            <a:spLocks noGrp="1"/>
          </p:cNvSpPr>
          <p:nvPr/>
        </p:nvSpPr>
        <p:spPr>
          <a:xfrm>
            <a:off x="1053281" y="3543624"/>
            <a:ext cx="1262584" cy="322128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功能覆盖</a:t>
            </a:r>
            <a:endParaRPr sz="1467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3C777E-BD11-4DBB-BF00-B51F325ECCCE}"/>
              </a:ext>
            </a:extLst>
          </p:cNvPr>
          <p:cNvSpPr>
            <a:spLocks noGrp="1"/>
          </p:cNvSpPr>
          <p:nvPr/>
        </p:nvSpPr>
        <p:spPr>
          <a:xfrm>
            <a:off x="921507" y="3873713"/>
            <a:ext cx="1510109" cy="831255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F01–F18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全部完成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Down Arrow 91">
            <a:extLst>
              <a:ext uri="{FF2B5EF4-FFF2-40B4-BE49-F238E27FC236}">
                <a16:creationId xmlns:a16="http://schemas.microsoft.com/office/drawing/2014/main" id="{96A582F7-F9EC-4B8D-B0C9-97309A0C836E}"/>
              </a:ext>
            </a:extLst>
          </p:cNvPr>
          <p:cNvSpPr>
            <a:spLocks noGrp="1"/>
          </p:cNvSpPr>
          <p:nvPr/>
        </p:nvSpPr>
        <p:spPr>
          <a:xfrm>
            <a:off x="2626684" y="2358265"/>
            <a:ext cx="1668241" cy="3638075"/>
          </a:xfrm>
          <a:prstGeom prst="downArrow">
            <a:avLst>
              <a:gd name="adj1" fmla="val 100000"/>
              <a:gd name="adj2" fmla="val 52223"/>
            </a:avLst>
          </a:prstGeom>
          <a:solidFill>
            <a:srgbClr val="C4C7CB"/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92">
            <a:extLst>
              <a:ext uri="{FF2B5EF4-FFF2-40B4-BE49-F238E27FC236}">
                <a16:creationId xmlns:a16="http://schemas.microsoft.com/office/drawing/2014/main" id="{FA175197-51CD-4B50-867D-92D751A10E20}"/>
              </a:ext>
            </a:extLst>
          </p:cNvPr>
          <p:cNvSpPr>
            <a:spLocks noGrp="1"/>
          </p:cNvSpPr>
          <p:nvPr/>
        </p:nvSpPr>
        <p:spPr>
          <a:xfrm>
            <a:off x="2626684" y="2357246"/>
            <a:ext cx="1668241" cy="1048295"/>
          </a:xfrm>
          <a:prstGeom prst="rect">
            <a:avLst/>
          </a:prstGeom>
          <a:solidFill>
            <a:sysClr val="windowText" lastClr="000000">
              <a:alpha val="15000"/>
            </a:sysClr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DAC5B0-8753-4BA1-A63A-4F16797FB32D}"/>
              </a:ext>
            </a:extLst>
          </p:cNvPr>
          <p:cNvSpPr>
            <a:spLocks noGrp="1"/>
          </p:cNvSpPr>
          <p:nvPr/>
        </p:nvSpPr>
        <p:spPr>
          <a:xfrm>
            <a:off x="2809143" y="2633889"/>
            <a:ext cx="1323604" cy="556943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1D890A9-D355-4E40-8403-F2442AC27322}"/>
              </a:ext>
            </a:extLst>
          </p:cNvPr>
          <p:cNvSpPr>
            <a:spLocks noGrp="1"/>
          </p:cNvSpPr>
          <p:nvPr/>
        </p:nvSpPr>
        <p:spPr>
          <a:xfrm>
            <a:off x="2843856" y="3543624"/>
            <a:ext cx="1262584" cy="322128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后端测试</a:t>
            </a:r>
            <a:endParaRPr sz="1467" b="1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E04E5154-D15C-4EF8-9FD7-AA03C22AF584}"/>
              </a:ext>
            </a:extLst>
          </p:cNvPr>
          <p:cNvSpPr>
            <a:spLocks noGrp="1"/>
          </p:cNvSpPr>
          <p:nvPr/>
        </p:nvSpPr>
        <p:spPr>
          <a:xfrm>
            <a:off x="2712082" y="3873713"/>
            <a:ext cx="1510109" cy="831255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pytest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后端全通过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Down Arrow 96">
            <a:extLst>
              <a:ext uri="{FF2B5EF4-FFF2-40B4-BE49-F238E27FC236}">
                <a16:creationId xmlns:a16="http://schemas.microsoft.com/office/drawing/2014/main" id="{BE2182F4-7D59-4B4C-8718-9EE072A2B394}"/>
              </a:ext>
            </a:extLst>
          </p:cNvPr>
          <p:cNvSpPr>
            <a:spLocks noGrp="1"/>
          </p:cNvSpPr>
          <p:nvPr/>
        </p:nvSpPr>
        <p:spPr>
          <a:xfrm>
            <a:off x="4408692" y="2358265"/>
            <a:ext cx="1668241" cy="3638075"/>
          </a:xfrm>
          <a:prstGeom prst="downArrow">
            <a:avLst>
              <a:gd name="adj1" fmla="val 100000"/>
              <a:gd name="adj2" fmla="val 52223"/>
            </a:avLst>
          </a:prstGeom>
          <a:solidFill>
            <a:schemeClr val="accent1"/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Rectangle 97">
            <a:extLst>
              <a:ext uri="{FF2B5EF4-FFF2-40B4-BE49-F238E27FC236}">
                <a16:creationId xmlns:a16="http://schemas.microsoft.com/office/drawing/2014/main" id="{14153E01-35A6-4436-90F1-BE2436D02B68}"/>
              </a:ext>
            </a:extLst>
          </p:cNvPr>
          <p:cNvSpPr>
            <a:spLocks noGrp="1"/>
          </p:cNvSpPr>
          <p:nvPr/>
        </p:nvSpPr>
        <p:spPr>
          <a:xfrm>
            <a:off x="4408692" y="2357246"/>
            <a:ext cx="1668241" cy="1048295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A1AD6A9A-10A8-4083-8C30-9939E64C2FAE}"/>
              </a:ext>
            </a:extLst>
          </p:cNvPr>
          <p:cNvSpPr>
            <a:spLocks noGrp="1"/>
          </p:cNvSpPr>
          <p:nvPr/>
        </p:nvSpPr>
        <p:spPr>
          <a:xfrm>
            <a:off x="4591150" y="2633889"/>
            <a:ext cx="1323604" cy="556943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13D65520-376D-432F-A795-C8CB5DF9155D}"/>
              </a:ext>
            </a:extLst>
          </p:cNvPr>
          <p:cNvSpPr>
            <a:spLocks noGrp="1"/>
          </p:cNvSpPr>
          <p:nvPr/>
        </p:nvSpPr>
        <p:spPr>
          <a:xfrm>
            <a:off x="4625864" y="3543624"/>
            <a:ext cx="1262584" cy="322128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前端测试</a:t>
            </a:r>
            <a:endParaRPr sz="1467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75B19420-8826-45C9-B527-6963E7435B77}"/>
              </a:ext>
            </a:extLst>
          </p:cNvPr>
          <p:cNvSpPr>
            <a:spLocks noGrp="1"/>
          </p:cNvSpPr>
          <p:nvPr/>
        </p:nvSpPr>
        <p:spPr>
          <a:xfrm>
            <a:off x="4494088" y="3873713"/>
            <a:ext cx="1510109" cy="831255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Vitest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 文件全通过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Down Arrow 101">
            <a:extLst>
              <a:ext uri="{FF2B5EF4-FFF2-40B4-BE49-F238E27FC236}">
                <a16:creationId xmlns:a16="http://schemas.microsoft.com/office/drawing/2014/main" id="{68E5C29E-1B95-4ADF-9DEC-B47480FBF551}"/>
              </a:ext>
            </a:extLst>
          </p:cNvPr>
          <p:cNvSpPr>
            <a:spLocks noGrp="1"/>
          </p:cNvSpPr>
          <p:nvPr/>
        </p:nvSpPr>
        <p:spPr>
          <a:xfrm>
            <a:off x="6207833" y="2358265"/>
            <a:ext cx="1668241" cy="3638075"/>
          </a:xfrm>
          <a:prstGeom prst="downArrow">
            <a:avLst>
              <a:gd name="adj1" fmla="val 100000"/>
              <a:gd name="adj2" fmla="val 52223"/>
            </a:avLst>
          </a:prstGeom>
          <a:solidFill>
            <a:srgbClr val="C4C7CB"/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Rectangle 102">
            <a:extLst>
              <a:ext uri="{FF2B5EF4-FFF2-40B4-BE49-F238E27FC236}">
                <a16:creationId xmlns:a16="http://schemas.microsoft.com/office/drawing/2014/main" id="{98631E9E-C13C-4BD9-99DA-64C34EEDC671}"/>
              </a:ext>
            </a:extLst>
          </p:cNvPr>
          <p:cNvSpPr>
            <a:spLocks noGrp="1"/>
          </p:cNvSpPr>
          <p:nvPr/>
        </p:nvSpPr>
        <p:spPr>
          <a:xfrm>
            <a:off x="6207833" y="2357246"/>
            <a:ext cx="1668241" cy="1048295"/>
          </a:xfrm>
          <a:prstGeom prst="rect">
            <a:avLst/>
          </a:prstGeom>
          <a:solidFill>
            <a:sysClr val="windowText" lastClr="000000">
              <a:alpha val="15000"/>
            </a:sysClr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3570E9A-D9CD-4FDC-A65F-247BFB639116}"/>
              </a:ext>
            </a:extLst>
          </p:cNvPr>
          <p:cNvSpPr>
            <a:spLocks noGrp="1"/>
          </p:cNvSpPr>
          <p:nvPr/>
        </p:nvSpPr>
        <p:spPr>
          <a:xfrm>
            <a:off x="6390293" y="2633889"/>
            <a:ext cx="1323604" cy="556943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93A4BDFD-7FF2-4483-9F56-89B956901B2B}"/>
              </a:ext>
            </a:extLst>
          </p:cNvPr>
          <p:cNvSpPr>
            <a:spLocks noGrp="1"/>
          </p:cNvSpPr>
          <p:nvPr/>
        </p:nvSpPr>
        <p:spPr>
          <a:xfrm>
            <a:off x="6425005" y="3543624"/>
            <a:ext cx="1262584" cy="322128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浏览器用例</a:t>
            </a:r>
            <a:endParaRPr sz="1467" b="1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37B0FCED-4576-4032-8B2B-0B78E5E2EE62}"/>
              </a:ext>
            </a:extLst>
          </p:cNvPr>
          <p:cNvSpPr>
            <a:spLocks noGrp="1"/>
          </p:cNvSpPr>
          <p:nvPr/>
        </p:nvSpPr>
        <p:spPr>
          <a:xfrm>
            <a:off x="6293231" y="3873713"/>
            <a:ext cx="1510109" cy="831255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Edge E2E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桌面/移动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Down Arrow 106">
            <a:extLst>
              <a:ext uri="{FF2B5EF4-FFF2-40B4-BE49-F238E27FC236}">
                <a16:creationId xmlns:a16="http://schemas.microsoft.com/office/drawing/2014/main" id="{FF903E01-BB8F-43FE-B82A-F3BFFB4F4FE9}"/>
              </a:ext>
            </a:extLst>
          </p:cNvPr>
          <p:cNvSpPr>
            <a:spLocks noGrp="1"/>
          </p:cNvSpPr>
          <p:nvPr/>
        </p:nvSpPr>
        <p:spPr>
          <a:xfrm>
            <a:off x="8006976" y="2358265"/>
            <a:ext cx="1668241" cy="3638075"/>
          </a:xfrm>
          <a:prstGeom prst="downArrow">
            <a:avLst>
              <a:gd name="adj1" fmla="val 100000"/>
              <a:gd name="adj2" fmla="val 52223"/>
            </a:avLst>
          </a:prstGeom>
          <a:solidFill>
            <a:schemeClr val="accent1"/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Rectangle 107">
            <a:extLst>
              <a:ext uri="{FF2B5EF4-FFF2-40B4-BE49-F238E27FC236}">
                <a16:creationId xmlns:a16="http://schemas.microsoft.com/office/drawing/2014/main" id="{4A655F2C-EE89-4F1E-B4A0-0F5D80F99005}"/>
              </a:ext>
            </a:extLst>
          </p:cNvPr>
          <p:cNvSpPr>
            <a:spLocks noGrp="1"/>
          </p:cNvSpPr>
          <p:nvPr/>
        </p:nvSpPr>
        <p:spPr>
          <a:xfrm>
            <a:off x="8006976" y="2357246"/>
            <a:ext cx="1668241" cy="1048295"/>
          </a:xfrm>
          <a:prstGeom prst="rect">
            <a:avLst/>
          </a:prstGeom>
          <a:solidFill>
            <a:schemeClr val="accent1">
              <a:alpha val="15000"/>
            </a:schemeClr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DD949112-A801-4070-884D-6C126FFDC4B3}"/>
              </a:ext>
            </a:extLst>
          </p:cNvPr>
          <p:cNvSpPr>
            <a:spLocks noGrp="1"/>
          </p:cNvSpPr>
          <p:nvPr/>
        </p:nvSpPr>
        <p:spPr>
          <a:xfrm>
            <a:off x="8189435" y="2633889"/>
            <a:ext cx="1323604" cy="556943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25/25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F08FC54-095B-4520-9E96-1423540F81C2}"/>
              </a:ext>
            </a:extLst>
          </p:cNvPr>
          <p:cNvSpPr>
            <a:spLocks noGrp="1"/>
          </p:cNvSpPr>
          <p:nvPr/>
        </p:nvSpPr>
        <p:spPr>
          <a:xfrm>
            <a:off x="8224147" y="3543624"/>
            <a:ext cx="1262584" cy="322128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检索题集</a:t>
            </a:r>
            <a:endParaRPr sz="1467" b="1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E7484000-8397-43DC-8F79-D551E2418078}"/>
              </a:ext>
            </a:extLst>
          </p:cNvPr>
          <p:cNvSpPr>
            <a:spLocks noGrp="1"/>
          </p:cNvSpPr>
          <p:nvPr/>
        </p:nvSpPr>
        <p:spPr>
          <a:xfrm>
            <a:off x="8092372" y="3873713"/>
            <a:ext cx="1510109" cy="831255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Recall@3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检索 100%</a:t>
            </a:r>
            <a:endParaRPr sz="1333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Down Arrow 111">
            <a:extLst>
              <a:ext uri="{FF2B5EF4-FFF2-40B4-BE49-F238E27FC236}">
                <a16:creationId xmlns:a16="http://schemas.microsoft.com/office/drawing/2014/main" id="{A8E572BF-73E1-4D68-8D1C-6C7D8186BA0A}"/>
              </a:ext>
            </a:extLst>
          </p:cNvPr>
          <p:cNvSpPr>
            <a:spLocks noGrp="1"/>
          </p:cNvSpPr>
          <p:nvPr/>
        </p:nvSpPr>
        <p:spPr>
          <a:xfrm>
            <a:off x="9814685" y="2358265"/>
            <a:ext cx="1668241" cy="3638075"/>
          </a:xfrm>
          <a:prstGeom prst="downArrow">
            <a:avLst>
              <a:gd name="adj1" fmla="val 100000"/>
              <a:gd name="adj2" fmla="val 52223"/>
            </a:avLst>
          </a:prstGeom>
          <a:solidFill>
            <a:srgbClr val="C4C7CB"/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Rectangle 112">
            <a:extLst>
              <a:ext uri="{FF2B5EF4-FFF2-40B4-BE49-F238E27FC236}">
                <a16:creationId xmlns:a16="http://schemas.microsoft.com/office/drawing/2014/main" id="{2DFEC48E-AA77-453F-A4E0-B01840C9E55E}"/>
              </a:ext>
            </a:extLst>
          </p:cNvPr>
          <p:cNvSpPr>
            <a:spLocks noGrp="1"/>
          </p:cNvSpPr>
          <p:nvPr/>
        </p:nvSpPr>
        <p:spPr>
          <a:xfrm>
            <a:off x="9814685" y="2357246"/>
            <a:ext cx="1668241" cy="1048295"/>
          </a:xfrm>
          <a:prstGeom prst="rect">
            <a:avLst/>
          </a:prstGeom>
          <a:solidFill>
            <a:sysClr val="windowText" lastClr="000000">
              <a:alpha val="15000"/>
            </a:sysClr>
          </a:solidFill>
          <a:ln w="9525" cmpd="sng">
            <a:noFill/>
            <a:prstDash val="solid"/>
          </a:ln>
        </p:spPr>
        <p:txBody>
          <a:bodyPr lIns="45708" tIns="22853" rIns="45708" bIns="22853" anchor="ctr"/>
          <a:lstStyle/>
          <a:p>
            <a:pPr marL="0" marR="0" lvl="0" indent="0" algn="ctr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50059A83-AF4C-4FCE-B3A4-58A4D7FA4723}"/>
              </a:ext>
            </a:extLst>
          </p:cNvPr>
          <p:cNvSpPr>
            <a:spLocks noGrp="1"/>
          </p:cNvSpPr>
          <p:nvPr/>
        </p:nvSpPr>
        <p:spPr>
          <a:xfrm>
            <a:off x="9997143" y="2633889"/>
            <a:ext cx="1323604" cy="556943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 b="1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C34CC0F6-7FAF-42BC-84A7-CDDDA8B5F973}"/>
              </a:ext>
            </a:extLst>
          </p:cNvPr>
          <p:cNvSpPr>
            <a:spLocks noGrp="1"/>
          </p:cNvSpPr>
          <p:nvPr/>
        </p:nvSpPr>
        <p:spPr>
          <a:xfrm>
            <a:off x="10031857" y="3543624"/>
            <a:ext cx="1262584" cy="322128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467" b="1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场景验收</a:t>
            </a:r>
            <a:endParaRPr sz="1467" b="1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DCD8006A-489F-4D85-9A54-B411D6F5B1F0}"/>
              </a:ext>
            </a:extLst>
          </p:cNvPr>
          <p:cNvSpPr>
            <a:spLocks noGrp="1"/>
          </p:cNvSpPr>
          <p:nvPr/>
        </p:nvSpPr>
        <p:spPr>
          <a:xfrm>
            <a:off x="9900082" y="3873713"/>
            <a:ext cx="1510109" cy="831255"/>
          </a:xfrm>
          <a:prstGeom prst="rect">
            <a:avLst/>
          </a:prstGeom>
        </p:spPr>
        <p:txBody>
          <a:bodyPr lIns="45708" tIns="22853" rIns="45708" bIns="22853"/>
          <a:lstStyle>
            <a:lvl1pPr marL="779114" indent="-779114" algn="l" defTabSz="1038821">
              <a:spcBef>
                <a:spcPct val="20000"/>
              </a:spcBef>
              <a:buFont typeface="Arial"/>
              <a:buChar char="•"/>
              <a:defRPr sz="7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688083" indent="-649262" algn="l" defTabSz="1038821">
              <a:spcBef>
                <a:spcPct val="20000"/>
              </a:spcBef>
              <a:buFont typeface="Arial"/>
              <a:buChar char="–"/>
              <a:defRPr sz="6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597052" indent="-519410" algn="l" defTabSz="1038821">
              <a:spcBef>
                <a:spcPct val="20000"/>
              </a:spcBef>
              <a:buFont typeface="Arial"/>
              <a:buChar char="•"/>
              <a:defRPr sz="53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3635870" indent="-519410" algn="l" defTabSz="1038821">
              <a:spcBef>
                <a:spcPct val="20000"/>
              </a:spcBef>
              <a:buFont typeface="Arial"/>
              <a:buChar char="–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4674691" indent="-519410" algn="l" defTabSz="1038821">
              <a:spcBef>
                <a:spcPct val="20000"/>
              </a:spcBef>
              <a:buFont typeface="Arial"/>
              <a:buChar char="»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5713512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6752333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779115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8829974" indent="-519410" algn="l" defTabSz="1038821">
              <a:spcBef>
                <a:spcPct val="20000"/>
              </a:spcBef>
              <a:buFont typeface="Arial"/>
              <a:buChar char="•"/>
              <a:defRPr sz="4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正式场景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  <a:p>
            <a:pPr marL="0" marR="0" lvl="0" indent="0" algn="just" defTabSz="138506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全部通过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323084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noGrp="1"/>
          </p:cNvSpPr>
          <p:nvPr/>
        </p:nvSpPr>
        <p:spPr>
          <a:xfrm>
            <a:off x="7824190" y="2100860"/>
            <a:ext cx="2664295" cy="266429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noGrp="1"/>
          </p:cNvSpPr>
          <p:nvPr/>
        </p:nvSpPr>
        <p:spPr>
          <a:xfrm>
            <a:off x="7937764" y="2936718"/>
            <a:ext cx="3168994" cy="99257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02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noGrp="1"/>
          </p:cNvSpPr>
          <p:nvPr/>
        </p:nvSpPr>
        <p:spPr>
          <a:xfrm>
            <a:off x="1343472" y="3029051"/>
            <a:ext cx="4985980" cy="171450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批判性思维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B351835-B7ED-4E78-86CF-D1F787BEFE62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646CA0-4C8C-4FE6-9138-F5B506474E97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814B0E16-47CE-4A0A-9275-2E0E6D6D37EE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纠错案例：结论必须服从证据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F99B09-E687-41D9-B12E-E7FB94CCAC4D}"/>
              </a:ext>
            </a:extLst>
          </p:cNvPr>
          <p:cNvSpPr>
            <a:spLocks noGrp="1"/>
          </p:cNvSpPr>
          <p:nvPr/>
        </p:nvSpPr>
        <p:spPr>
          <a:xfrm>
            <a:off x="8213783" y="1758589"/>
            <a:ext cx="2020382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技术选型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E2C00B-68A9-43D5-871C-2DF8525D25CB}"/>
              </a:ext>
            </a:extLst>
          </p:cNvPr>
          <p:cNvSpPr>
            <a:spLocks noGrp="1"/>
          </p:cNvSpPr>
          <p:nvPr/>
        </p:nvSpPr>
        <p:spPr>
          <a:xfrm>
            <a:off x="8218948" y="2281302"/>
            <a:ext cx="3150506" cy="749808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AI 建议 Jinja</a:t>
            </a:r>
          </a:p>
          <a:p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约束要求 Vue3 + TS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EF0458D-75F2-4F63-A2B0-FEA6D76981E5}"/>
              </a:ext>
            </a:extLst>
          </p:cNvPr>
          <p:cNvSpPr>
            <a:spLocks noGrp="1"/>
          </p:cNvSpPr>
          <p:nvPr/>
        </p:nvSpPr>
        <p:spPr>
          <a:xfrm>
            <a:off x="8258853" y="4681593"/>
            <a:ext cx="2020383" cy="82296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启动证据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1836ED4-CFD3-4011-BAF0-6CEACC630EDA}"/>
              </a:ext>
            </a:extLst>
          </p:cNvPr>
          <p:cNvSpPr>
            <a:spLocks noGrp="1"/>
          </p:cNvSpPr>
          <p:nvPr/>
        </p:nvSpPr>
        <p:spPr>
          <a:xfrm>
            <a:off x="8258853" y="5143258"/>
            <a:ext cx="3150505" cy="749808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端口可达 ≠ 冷启动成功</a:t>
            </a:r>
          </a:p>
          <a:p>
            <a:pPr algn="just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补做独立启动验证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37D29F-F082-4355-B304-9B48201E6C8C}"/>
              </a:ext>
            </a:extLst>
          </p:cNvPr>
          <p:cNvSpPr>
            <a:spLocks noGrp="1"/>
          </p:cNvSpPr>
          <p:nvPr/>
        </p:nvSpPr>
        <p:spPr>
          <a:xfrm>
            <a:off x="1911030" y="1758589"/>
            <a:ext cx="2020382" cy="82296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buNone/>
            </a:pPr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范围假设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00466C-553A-4142-AE39-0BB1F3B0679E}"/>
              </a:ext>
            </a:extLst>
          </p:cNvPr>
          <p:cNvSpPr>
            <a:spLocks noGrp="1"/>
          </p:cNvSpPr>
          <p:nvPr/>
        </p:nvSpPr>
        <p:spPr>
          <a:xfrm>
            <a:off x="767408" y="2220075"/>
            <a:ext cx="3159575" cy="749808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AI 将 F18 置为次要</a:t>
            </a:r>
          </a:p>
          <a:p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验收要求全覆盖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980708E-D7B5-4DB6-BF2C-973A028D2715}"/>
              </a:ext>
            </a:extLst>
          </p:cNvPr>
          <p:cNvSpPr>
            <a:spLocks noGrp="1"/>
          </p:cNvSpPr>
          <p:nvPr/>
        </p:nvSpPr>
        <p:spPr>
          <a:xfrm>
            <a:off x="1911030" y="4681593"/>
            <a:ext cx="2020382" cy="82296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buNone/>
            </a:pPr>
            <a:r>
              <a:rPr sz="2250" b="1" spc="12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排期事实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43A6F77-1890-4BF2-818F-FB2B9AF3F562}"/>
              </a:ext>
            </a:extLst>
          </p:cNvPr>
          <p:cNvSpPr>
            <a:spLocks noGrp="1"/>
          </p:cNvSpPr>
          <p:nvPr/>
        </p:nvSpPr>
        <p:spPr>
          <a:xfrm>
            <a:off x="776479" y="5146495"/>
            <a:ext cx="3150504" cy="749808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AI 写成 9/4</a:t>
            </a:r>
          </a:p>
          <a:p>
            <a:pPr algn="r">
              <a:lnSpc>
                <a:spcPct val="120000"/>
              </a:lnSpc>
              <a:buNone/>
            </a:pPr>
            <a:r>
              <a:rPr sz="1650" spc="120">
                <a:solidFill>
                  <a:srgbClr val="262626"/>
                </a:solidFill>
                <a:latin typeface="微软雅黑 Light"/>
                <a:ea typeface="微软雅黑 Light"/>
                <a:cs typeface="微软雅黑 Light"/>
              </a:rPr>
              <a:t>里程碑记录为 9/3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DFD2E46A-06E0-45C5-B4F7-40FCA6FB4CDF}"/>
              </a:ext>
            </a:extLst>
          </p:cNvPr>
          <p:cNvSpPr>
            <a:spLocks noGrp="1"/>
          </p:cNvSpPr>
          <p:nvPr/>
        </p:nvSpPr>
        <p:spPr>
          <a:xfrm>
            <a:off x="6154934" y="1914132"/>
            <a:ext cx="1589590" cy="1600200"/>
          </a:xfrm>
          <a:custGeom>
            <a:avLst/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ahLst/>
            <a:cxnLst/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726ABBB-1DF2-4CBD-B66A-32147A004F76}"/>
              </a:ext>
            </a:extLst>
          </p:cNvPr>
          <p:cNvSpPr>
            <a:spLocks noGrp="1"/>
          </p:cNvSpPr>
          <p:nvPr/>
        </p:nvSpPr>
        <p:spPr>
          <a:xfrm>
            <a:off x="7050437" y="1537954"/>
            <a:ext cx="1047510" cy="1047510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DE0F347-5A9B-4005-989F-4FADB960AA42}"/>
              </a:ext>
            </a:extLst>
          </p:cNvPr>
          <p:cNvSpPr>
            <a:spLocks noGrp="1"/>
          </p:cNvSpPr>
          <p:nvPr/>
        </p:nvSpPr>
        <p:spPr>
          <a:xfrm rot="16200000">
            <a:off x="4434253" y="1902754"/>
            <a:ext cx="1589590" cy="1600200"/>
          </a:xfrm>
          <a:custGeom>
            <a:avLst/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ahLst/>
            <a:cxnLst/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7E8D6CA-CDBF-41AB-BCA1-EB24B70B1A9B}"/>
              </a:ext>
            </a:extLst>
          </p:cNvPr>
          <p:cNvSpPr>
            <a:spLocks noGrp="1"/>
          </p:cNvSpPr>
          <p:nvPr/>
        </p:nvSpPr>
        <p:spPr>
          <a:xfrm rot="16200000">
            <a:off x="4052770" y="1554637"/>
            <a:ext cx="1047510" cy="1047510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BD10D8F-EFE9-4578-A8E5-FD1BB326E867}"/>
              </a:ext>
            </a:extLst>
          </p:cNvPr>
          <p:cNvSpPr>
            <a:spLocks noGrp="1"/>
          </p:cNvSpPr>
          <p:nvPr/>
        </p:nvSpPr>
        <p:spPr>
          <a:xfrm flipV="1">
            <a:off x="6154934" y="3597689"/>
            <a:ext cx="1589590" cy="1600200"/>
          </a:xfrm>
          <a:custGeom>
            <a:avLst/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ahLst/>
            <a:cxnLst/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FE76E2FE-C0D2-4862-AF48-F231C9509B13}"/>
              </a:ext>
            </a:extLst>
          </p:cNvPr>
          <p:cNvSpPr>
            <a:spLocks noGrp="1"/>
          </p:cNvSpPr>
          <p:nvPr/>
        </p:nvSpPr>
        <p:spPr>
          <a:xfrm flipV="1">
            <a:off x="7050437" y="4526557"/>
            <a:ext cx="1047510" cy="1047510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78660860-7227-474D-A51A-066939228B2D}"/>
              </a:ext>
            </a:extLst>
          </p:cNvPr>
          <p:cNvSpPr>
            <a:spLocks noGrp="1"/>
          </p:cNvSpPr>
          <p:nvPr/>
        </p:nvSpPr>
        <p:spPr>
          <a:xfrm rot="5400000" flipV="1">
            <a:off x="4434253" y="3609067"/>
            <a:ext cx="1589590" cy="1600200"/>
          </a:xfrm>
          <a:custGeom>
            <a:avLst/>
            <a:gdLst>
              <a:gd name="connsiteX0" fmla="*/ 0 w 1589590"/>
              <a:gd name="connsiteY0" fmla="*/ 0 h 1600200"/>
              <a:gd name="connsiteX1" fmla="*/ 761950 w 1589590"/>
              <a:gd name="connsiteY1" fmla="*/ 0 h 1600200"/>
              <a:gd name="connsiteX2" fmla="*/ 758344 w 1589590"/>
              <a:gd name="connsiteY2" fmla="*/ 11618 h 1600200"/>
              <a:gd name="connsiteX3" fmla="*/ 744638 w 1589590"/>
              <a:gd name="connsiteY3" fmla="*/ 147577 h 1600200"/>
              <a:gd name="connsiteX4" fmla="*/ 1419258 w 1589590"/>
              <a:gd name="connsiteY4" fmla="*/ 822197 h 1600200"/>
              <a:gd name="connsiteX5" fmla="*/ 1555218 w 1589590"/>
              <a:gd name="connsiteY5" fmla="*/ 808491 h 1600200"/>
              <a:gd name="connsiteX6" fmla="*/ 1589590 w 1589590"/>
              <a:gd name="connsiteY6" fmla="*/ 797821 h 1600200"/>
              <a:gd name="connsiteX7" fmla="*/ 1589590 w 1589590"/>
              <a:gd name="connsiteY7" fmla="*/ 1600200 h 1600200"/>
              <a:gd name="connsiteX8" fmla="*/ 0 w 1589590"/>
              <a:gd name="connsiteY8" fmla="*/ 1600200 h 1600200"/>
            </a:gdLst>
            <a:ahLst/>
            <a:cxnLst/>
            <a:rect l="l" t="t" r="r" b="b"/>
            <a:pathLst>
              <a:path w="1589590" h="1600200">
                <a:moveTo>
                  <a:pt x="0" y="0"/>
                </a:moveTo>
                <a:lnTo>
                  <a:pt x="761950" y="0"/>
                </a:lnTo>
                <a:lnTo>
                  <a:pt x="758344" y="11618"/>
                </a:lnTo>
                <a:cubicBezTo>
                  <a:pt x="749358" y="55534"/>
                  <a:pt x="744638" y="101004"/>
                  <a:pt x="744638" y="147577"/>
                </a:cubicBezTo>
                <a:cubicBezTo>
                  <a:pt x="744638" y="520159"/>
                  <a:pt x="1046676" y="822197"/>
                  <a:pt x="1419258" y="822197"/>
                </a:cubicBezTo>
                <a:cubicBezTo>
                  <a:pt x="1465831" y="822197"/>
                  <a:pt x="1511302" y="817478"/>
                  <a:pt x="1555218" y="808491"/>
                </a:cubicBezTo>
                <a:lnTo>
                  <a:pt x="1589590" y="797821"/>
                </a:lnTo>
                <a:lnTo>
                  <a:pt x="1589590" y="1600200"/>
                </a:lnTo>
                <a:lnTo>
                  <a:pt x="0" y="1600200"/>
                </a:lnTo>
                <a:close/>
              </a:path>
            </a:pathLst>
          </a:cu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2F77558-72BA-463C-BFB8-E4090925CA7F}"/>
              </a:ext>
            </a:extLst>
          </p:cNvPr>
          <p:cNvSpPr>
            <a:spLocks noGrp="1"/>
          </p:cNvSpPr>
          <p:nvPr/>
        </p:nvSpPr>
        <p:spPr>
          <a:xfrm rot="5400000" flipV="1">
            <a:off x="4052770" y="4509875"/>
            <a:ext cx="1047510" cy="1047510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768E09B-4709-4692-9C45-B6CEABC58BF7}"/>
              </a:ext>
            </a:extLst>
          </p:cNvPr>
          <p:cNvSpPr>
            <a:spLocks noGrp="1"/>
          </p:cNvSpPr>
          <p:nvPr/>
        </p:nvSpPr>
        <p:spPr>
          <a:xfrm>
            <a:off x="4751296" y="2467244"/>
            <a:ext cx="10475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疑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9C45A82-3F62-41F2-BA67-7C30B6A2FDA9}"/>
              </a:ext>
            </a:extLst>
          </p:cNvPr>
          <p:cNvSpPr>
            <a:spLocks noGrp="1"/>
          </p:cNvSpPr>
          <p:nvPr/>
        </p:nvSpPr>
        <p:spPr>
          <a:xfrm>
            <a:off x="6296340" y="2467244"/>
            <a:ext cx="10475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核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2E3B40-9665-4930-8F53-13DB29778010}"/>
              </a:ext>
            </a:extLst>
          </p:cNvPr>
          <p:cNvSpPr>
            <a:spLocks noGrp="1"/>
          </p:cNvSpPr>
          <p:nvPr/>
        </p:nvSpPr>
        <p:spPr>
          <a:xfrm>
            <a:off x="4751296" y="3535932"/>
            <a:ext cx="10475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证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A0667E8-21A8-43E9-A391-C788ED0661C2}"/>
              </a:ext>
            </a:extLst>
          </p:cNvPr>
          <p:cNvSpPr>
            <a:spLocks noGrp="1"/>
          </p:cNvSpPr>
          <p:nvPr/>
        </p:nvSpPr>
        <p:spPr>
          <a:xfrm>
            <a:off x="6296340" y="3535932"/>
            <a:ext cx="104751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6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改</a:t>
            </a:r>
          </a:p>
        </p:txBody>
      </p:sp>
      <p:sp>
        <p:nvSpPr>
          <p:cNvPr id="41" name="test-tube-and-flask_73666">
            <a:extLst>
              <a:ext uri="{FF2B5EF4-FFF2-40B4-BE49-F238E27FC236}">
                <a16:creationId xmlns:a16="http://schemas.microsoft.com/office/drawing/2014/main" id="{BA1A9A6A-3248-40F0-819F-62FCD03480A0}"/>
              </a:ext>
            </a:extLst>
          </p:cNvPr>
          <p:cNvSpPr>
            <a:spLocks noGrp="1"/>
          </p:cNvSpPr>
          <p:nvPr/>
        </p:nvSpPr>
        <p:spPr>
          <a:xfrm>
            <a:off x="4271683" y="4760362"/>
            <a:ext cx="609685" cy="546536"/>
          </a:xfrm>
          <a:custGeom>
            <a:avLst/>
            <a:gdLst>
              <a:gd name="T0" fmla="*/ 2762 w 2806"/>
              <a:gd name="T1" fmla="*/ 2207 h 2519"/>
              <a:gd name="T2" fmla="*/ 2166 w 2806"/>
              <a:gd name="T3" fmla="*/ 1299 h 2519"/>
              <a:gd name="T4" fmla="*/ 2166 w 2806"/>
              <a:gd name="T5" fmla="*/ 934 h 2519"/>
              <a:gd name="T6" fmla="*/ 2166 w 2806"/>
              <a:gd name="T7" fmla="*/ 510 h 2519"/>
              <a:gd name="T8" fmla="*/ 2188 w 2806"/>
              <a:gd name="T9" fmla="*/ 510 h 2519"/>
              <a:gd name="T10" fmla="*/ 2255 w 2806"/>
              <a:gd name="T11" fmla="*/ 443 h 2519"/>
              <a:gd name="T12" fmla="*/ 2188 w 2806"/>
              <a:gd name="T13" fmla="*/ 376 h 2519"/>
              <a:gd name="T14" fmla="*/ 2166 w 2806"/>
              <a:gd name="T15" fmla="*/ 376 h 2519"/>
              <a:gd name="T16" fmla="*/ 2166 w 2806"/>
              <a:gd name="T17" fmla="*/ 66 h 2519"/>
              <a:gd name="T18" fmla="*/ 2100 w 2806"/>
              <a:gd name="T19" fmla="*/ 0 h 2519"/>
              <a:gd name="T20" fmla="*/ 1580 w 2806"/>
              <a:gd name="T21" fmla="*/ 0 h 2519"/>
              <a:gd name="T22" fmla="*/ 1514 w 2806"/>
              <a:gd name="T23" fmla="*/ 66 h 2519"/>
              <a:gd name="T24" fmla="*/ 1514 w 2806"/>
              <a:gd name="T25" fmla="*/ 376 h 2519"/>
              <a:gd name="T26" fmla="*/ 1492 w 2806"/>
              <a:gd name="T27" fmla="*/ 376 h 2519"/>
              <a:gd name="T28" fmla="*/ 1425 w 2806"/>
              <a:gd name="T29" fmla="*/ 443 h 2519"/>
              <a:gd name="T30" fmla="*/ 1492 w 2806"/>
              <a:gd name="T31" fmla="*/ 510 h 2519"/>
              <a:gd name="T32" fmla="*/ 1514 w 2806"/>
              <a:gd name="T33" fmla="*/ 510 h 2519"/>
              <a:gd name="T34" fmla="*/ 1514 w 2806"/>
              <a:gd name="T35" fmla="*/ 934 h 2519"/>
              <a:gd name="T36" fmla="*/ 1514 w 2806"/>
              <a:gd name="T37" fmla="*/ 1299 h 2519"/>
              <a:gd name="T38" fmla="*/ 918 w 2806"/>
              <a:gd name="T39" fmla="*/ 2207 h 2519"/>
              <a:gd name="T40" fmla="*/ 909 w 2806"/>
              <a:gd name="T41" fmla="*/ 2413 h 2519"/>
              <a:gd name="T42" fmla="*/ 1087 w 2806"/>
              <a:gd name="T43" fmla="*/ 2519 h 2519"/>
              <a:gd name="T44" fmla="*/ 2593 w 2806"/>
              <a:gd name="T45" fmla="*/ 2519 h 2519"/>
              <a:gd name="T46" fmla="*/ 2771 w 2806"/>
              <a:gd name="T47" fmla="*/ 2413 h 2519"/>
              <a:gd name="T48" fmla="*/ 2762 w 2806"/>
              <a:gd name="T49" fmla="*/ 2207 h 2519"/>
              <a:gd name="T50" fmla="*/ 2033 w 2806"/>
              <a:gd name="T51" fmla="*/ 510 h 2519"/>
              <a:gd name="T52" fmla="*/ 2033 w 2806"/>
              <a:gd name="T53" fmla="*/ 867 h 2519"/>
              <a:gd name="T54" fmla="*/ 1647 w 2806"/>
              <a:gd name="T55" fmla="*/ 867 h 2519"/>
              <a:gd name="T56" fmla="*/ 1647 w 2806"/>
              <a:gd name="T57" fmla="*/ 510 h 2519"/>
              <a:gd name="T58" fmla="*/ 2033 w 2806"/>
              <a:gd name="T59" fmla="*/ 510 h 2519"/>
              <a:gd name="T60" fmla="*/ 705 w 2806"/>
              <a:gd name="T61" fmla="*/ 971 h 2519"/>
              <a:gd name="T62" fmla="*/ 678 w 2806"/>
              <a:gd name="T63" fmla="*/ 971 h 2519"/>
              <a:gd name="T64" fmla="*/ 678 w 2806"/>
              <a:gd name="T65" fmla="*/ 723 h 2519"/>
              <a:gd name="T66" fmla="*/ 611 w 2806"/>
              <a:gd name="T67" fmla="*/ 656 h 2519"/>
              <a:gd name="T68" fmla="*/ 160 w 2806"/>
              <a:gd name="T69" fmla="*/ 656 h 2519"/>
              <a:gd name="T70" fmla="*/ 94 w 2806"/>
              <a:gd name="T71" fmla="*/ 723 h 2519"/>
              <a:gd name="T72" fmla="*/ 94 w 2806"/>
              <a:gd name="T73" fmla="*/ 971 h 2519"/>
              <a:gd name="T74" fmla="*/ 67 w 2806"/>
              <a:gd name="T75" fmla="*/ 971 h 2519"/>
              <a:gd name="T76" fmla="*/ 0 w 2806"/>
              <a:gd name="T77" fmla="*/ 1037 h 2519"/>
              <a:gd name="T78" fmla="*/ 67 w 2806"/>
              <a:gd name="T79" fmla="*/ 1104 h 2519"/>
              <a:gd name="T80" fmla="*/ 91 w 2806"/>
              <a:gd name="T81" fmla="*/ 1104 h 2519"/>
              <a:gd name="T82" fmla="*/ 91 w 2806"/>
              <a:gd name="T83" fmla="*/ 1503 h 2519"/>
              <a:gd name="T84" fmla="*/ 91 w 2806"/>
              <a:gd name="T85" fmla="*/ 2253 h 2519"/>
              <a:gd name="T86" fmla="*/ 357 w 2806"/>
              <a:gd name="T87" fmla="*/ 2519 h 2519"/>
              <a:gd name="T88" fmla="*/ 414 w 2806"/>
              <a:gd name="T89" fmla="*/ 2519 h 2519"/>
              <a:gd name="T90" fmla="*/ 681 w 2806"/>
              <a:gd name="T91" fmla="*/ 2253 h 2519"/>
              <a:gd name="T92" fmla="*/ 681 w 2806"/>
              <a:gd name="T93" fmla="*/ 1503 h 2519"/>
              <a:gd name="T94" fmla="*/ 681 w 2806"/>
              <a:gd name="T95" fmla="*/ 1104 h 2519"/>
              <a:gd name="T96" fmla="*/ 705 w 2806"/>
              <a:gd name="T97" fmla="*/ 1104 h 2519"/>
              <a:gd name="T98" fmla="*/ 771 w 2806"/>
              <a:gd name="T99" fmla="*/ 1037 h 2519"/>
              <a:gd name="T100" fmla="*/ 705 w 2806"/>
              <a:gd name="T101" fmla="*/ 971 h 2519"/>
              <a:gd name="T102" fmla="*/ 547 w 2806"/>
              <a:gd name="T103" fmla="*/ 1436 h 2519"/>
              <a:gd name="T104" fmla="*/ 224 w 2806"/>
              <a:gd name="T105" fmla="*/ 1436 h 2519"/>
              <a:gd name="T106" fmla="*/ 224 w 2806"/>
              <a:gd name="T107" fmla="*/ 1104 h 2519"/>
              <a:gd name="T108" fmla="*/ 547 w 2806"/>
              <a:gd name="T109" fmla="*/ 1104 h 2519"/>
              <a:gd name="T110" fmla="*/ 547 w 2806"/>
              <a:gd name="T111" fmla="*/ 1436 h 2519"/>
            </a:gdLst>
            <a:ahLst/>
            <a:cxnLst/>
            <a:rect l="0" t="0" r="r" b="b"/>
            <a:pathLst>
              <a:path w="2806" h="2519">
                <a:moveTo>
                  <a:pt x="2762" y="2207"/>
                </a:moveTo>
                <a:lnTo>
                  <a:pt x="2166" y="1299"/>
                </a:lnTo>
                <a:lnTo>
                  <a:pt x="2166" y="934"/>
                </a:lnTo>
                <a:lnTo>
                  <a:pt x="2166" y="510"/>
                </a:lnTo>
                <a:lnTo>
                  <a:pt x="2188" y="510"/>
                </a:lnTo>
                <a:cubicBezTo>
                  <a:pt x="2225" y="510"/>
                  <a:pt x="2255" y="480"/>
                  <a:pt x="2255" y="443"/>
                </a:cubicBezTo>
                <a:cubicBezTo>
                  <a:pt x="2255" y="406"/>
                  <a:pt x="2225" y="376"/>
                  <a:pt x="2188" y="376"/>
                </a:cubicBezTo>
                <a:lnTo>
                  <a:pt x="2166" y="376"/>
                </a:lnTo>
                <a:lnTo>
                  <a:pt x="2166" y="66"/>
                </a:lnTo>
                <a:cubicBezTo>
                  <a:pt x="2166" y="30"/>
                  <a:pt x="2137" y="0"/>
                  <a:pt x="2100" y="0"/>
                </a:cubicBezTo>
                <a:lnTo>
                  <a:pt x="1580" y="0"/>
                </a:lnTo>
                <a:cubicBezTo>
                  <a:pt x="1543" y="0"/>
                  <a:pt x="1514" y="30"/>
                  <a:pt x="1514" y="66"/>
                </a:cubicBezTo>
                <a:lnTo>
                  <a:pt x="1514" y="376"/>
                </a:lnTo>
                <a:lnTo>
                  <a:pt x="1492" y="376"/>
                </a:lnTo>
                <a:cubicBezTo>
                  <a:pt x="1455" y="376"/>
                  <a:pt x="1425" y="406"/>
                  <a:pt x="1425" y="443"/>
                </a:cubicBezTo>
                <a:cubicBezTo>
                  <a:pt x="1425" y="480"/>
                  <a:pt x="1455" y="510"/>
                  <a:pt x="1492" y="510"/>
                </a:cubicBezTo>
                <a:lnTo>
                  <a:pt x="1514" y="510"/>
                </a:lnTo>
                <a:lnTo>
                  <a:pt x="1514" y="934"/>
                </a:lnTo>
                <a:lnTo>
                  <a:pt x="1514" y="1299"/>
                </a:lnTo>
                <a:lnTo>
                  <a:pt x="918" y="2207"/>
                </a:lnTo>
                <a:cubicBezTo>
                  <a:pt x="877" y="2269"/>
                  <a:pt x="874" y="2348"/>
                  <a:pt x="909" y="2413"/>
                </a:cubicBezTo>
                <a:cubicBezTo>
                  <a:pt x="944" y="2479"/>
                  <a:pt x="1012" y="2519"/>
                  <a:pt x="1087" y="2519"/>
                </a:cubicBezTo>
                <a:lnTo>
                  <a:pt x="2593" y="2519"/>
                </a:lnTo>
                <a:cubicBezTo>
                  <a:pt x="2668" y="2519"/>
                  <a:pt x="2735" y="2479"/>
                  <a:pt x="2771" y="2413"/>
                </a:cubicBezTo>
                <a:cubicBezTo>
                  <a:pt x="2806" y="2348"/>
                  <a:pt x="2803" y="2269"/>
                  <a:pt x="2762" y="2207"/>
                </a:cubicBezTo>
                <a:close/>
                <a:moveTo>
                  <a:pt x="2033" y="510"/>
                </a:moveTo>
                <a:lnTo>
                  <a:pt x="2033" y="867"/>
                </a:lnTo>
                <a:lnTo>
                  <a:pt x="1647" y="867"/>
                </a:lnTo>
                <a:lnTo>
                  <a:pt x="1647" y="510"/>
                </a:lnTo>
                <a:lnTo>
                  <a:pt x="2033" y="510"/>
                </a:lnTo>
                <a:close/>
                <a:moveTo>
                  <a:pt x="705" y="971"/>
                </a:moveTo>
                <a:lnTo>
                  <a:pt x="678" y="971"/>
                </a:lnTo>
                <a:lnTo>
                  <a:pt x="678" y="723"/>
                </a:lnTo>
                <a:cubicBezTo>
                  <a:pt x="678" y="686"/>
                  <a:pt x="648" y="656"/>
                  <a:pt x="611" y="656"/>
                </a:cubicBezTo>
                <a:lnTo>
                  <a:pt x="160" y="656"/>
                </a:lnTo>
                <a:cubicBezTo>
                  <a:pt x="123" y="656"/>
                  <a:pt x="94" y="686"/>
                  <a:pt x="94" y="723"/>
                </a:cubicBezTo>
                <a:lnTo>
                  <a:pt x="94" y="971"/>
                </a:lnTo>
                <a:lnTo>
                  <a:pt x="67" y="971"/>
                </a:lnTo>
                <a:cubicBezTo>
                  <a:pt x="30" y="971"/>
                  <a:pt x="0" y="1000"/>
                  <a:pt x="0" y="1037"/>
                </a:cubicBezTo>
                <a:cubicBezTo>
                  <a:pt x="0" y="1074"/>
                  <a:pt x="30" y="1104"/>
                  <a:pt x="67" y="1104"/>
                </a:cubicBezTo>
                <a:lnTo>
                  <a:pt x="91" y="1104"/>
                </a:lnTo>
                <a:lnTo>
                  <a:pt x="91" y="1503"/>
                </a:lnTo>
                <a:lnTo>
                  <a:pt x="91" y="2253"/>
                </a:lnTo>
                <a:cubicBezTo>
                  <a:pt x="91" y="2400"/>
                  <a:pt x="210" y="2519"/>
                  <a:pt x="357" y="2519"/>
                </a:cubicBezTo>
                <a:lnTo>
                  <a:pt x="414" y="2519"/>
                </a:lnTo>
                <a:cubicBezTo>
                  <a:pt x="561" y="2519"/>
                  <a:pt x="681" y="2400"/>
                  <a:pt x="681" y="2253"/>
                </a:cubicBezTo>
                <a:lnTo>
                  <a:pt x="681" y="1503"/>
                </a:lnTo>
                <a:lnTo>
                  <a:pt x="681" y="1104"/>
                </a:lnTo>
                <a:lnTo>
                  <a:pt x="705" y="1104"/>
                </a:lnTo>
                <a:cubicBezTo>
                  <a:pt x="741" y="1104"/>
                  <a:pt x="771" y="1074"/>
                  <a:pt x="771" y="1037"/>
                </a:cubicBezTo>
                <a:cubicBezTo>
                  <a:pt x="771" y="1000"/>
                  <a:pt x="741" y="971"/>
                  <a:pt x="705" y="971"/>
                </a:cubicBezTo>
                <a:close/>
                <a:moveTo>
                  <a:pt x="547" y="1436"/>
                </a:moveTo>
                <a:lnTo>
                  <a:pt x="224" y="1436"/>
                </a:lnTo>
                <a:lnTo>
                  <a:pt x="224" y="1104"/>
                </a:lnTo>
                <a:lnTo>
                  <a:pt x="547" y="1104"/>
                </a:lnTo>
                <a:lnTo>
                  <a:pt x="547" y="14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notepad_285542">
            <a:extLst>
              <a:ext uri="{FF2B5EF4-FFF2-40B4-BE49-F238E27FC236}">
                <a16:creationId xmlns:a16="http://schemas.microsoft.com/office/drawing/2014/main" id="{894A0E89-381D-457C-BF96-1BCBDF32477C}"/>
              </a:ext>
            </a:extLst>
          </p:cNvPr>
          <p:cNvSpPr>
            <a:spLocks noGrp="1"/>
          </p:cNvSpPr>
          <p:nvPr/>
        </p:nvSpPr>
        <p:spPr>
          <a:xfrm>
            <a:off x="4348231" y="1773550"/>
            <a:ext cx="456589" cy="609685"/>
          </a:xfrm>
          <a:custGeom>
            <a:avLst/>
            <a:gdLst>
              <a:gd name="T0" fmla="*/ 4345 w 5105"/>
              <a:gd name="T1" fmla="*/ 438 h 6827"/>
              <a:gd name="T2" fmla="*/ 4345 w 5105"/>
              <a:gd name="T3" fmla="*/ 0 h 6827"/>
              <a:gd name="T4" fmla="*/ 3900 w 5105"/>
              <a:gd name="T5" fmla="*/ 0 h 6827"/>
              <a:gd name="T6" fmla="*/ 3900 w 5105"/>
              <a:gd name="T7" fmla="*/ 438 h 6827"/>
              <a:gd name="T8" fmla="*/ 3298 w 5105"/>
              <a:gd name="T9" fmla="*/ 438 h 6827"/>
              <a:gd name="T10" fmla="*/ 3298 w 5105"/>
              <a:gd name="T11" fmla="*/ 0 h 6827"/>
              <a:gd name="T12" fmla="*/ 2853 w 5105"/>
              <a:gd name="T13" fmla="*/ 0 h 6827"/>
              <a:gd name="T14" fmla="*/ 2853 w 5105"/>
              <a:gd name="T15" fmla="*/ 438 h 6827"/>
              <a:gd name="T16" fmla="*/ 2252 w 5105"/>
              <a:gd name="T17" fmla="*/ 438 h 6827"/>
              <a:gd name="T18" fmla="*/ 2252 w 5105"/>
              <a:gd name="T19" fmla="*/ 0 h 6827"/>
              <a:gd name="T20" fmla="*/ 1806 w 5105"/>
              <a:gd name="T21" fmla="*/ 0 h 6827"/>
              <a:gd name="T22" fmla="*/ 1806 w 5105"/>
              <a:gd name="T23" fmla="*/ 438 h 6827"/>
              <a:gd name="T24" fmla="*/ 1205 w 5105"/>
              <a:gd name="T25" fmla="*/ 438 h 6827"/>
              <a:gd name="T26" fmla="*/ 1205 w 5105"/>
              <a:gd name="T27" fmla="*/ 0 h 6827"/>
              <a:gd name="T28" fmla="*/ 760 w 5105"/>
              <a:gd name="T29" fmla="*/ 0 h 6827"/>
              <a:gd name="T30" fmla="*/ 760 w 5105"/>
              <a:gd name="T31" fmla="*/ 438 h 6827"/>
              <a:gd name="T32" fmla="*/ 0 w 5105"/>
              <a:gd name="T33" fmla="*/ 438 h 6827"/>
              <a:gd name="T34" fmla="*/ 0 w 5105"/>
              <a:gd name="T35" fmla="*/ 6827 h 6827"/>
              <a:gd name="T36" fmla="*/ 5105 w 5105"/>
              <a:gd name="T37" fmla="*/ 6827 h 6827"/>
              <a:gd name="T38" fmla="*/ 5105 w 5105"/>
              <a:gd name="T39" fmla="*/ 438 h 6827"/>
              <a:gd name="T40" fmla="*/ 4345 w 5105"/>
              <a:gd name="T41" fmla="*/ 438 h 6827"/>
              <a:gd name="T42" fmla="*/ 4122 w 5105"/>
              <a:gd name="T43" fmla="*/ 5771 h 6827"/>
              <a:gd name="T44" fmla="*/ 982 w 5105"/>
              <a:gd name="T45" fmla="*/ 5771 h 6827"/>
              <a:gd name="T46" fmla="*/ 982 w 5105"/>
              <a:gd name="T47" fmla="*/ 5326 h 6827"/>
              <a:gd name="T48" fmla="*/ 4122 w 5105"/>
              <a:gd name="T49" fmla="*/ 5326 h 6827"/>
              <a:gd name="T50" fmla="*/ 4122 w 5105"/>
              <a:gd name="T51" fmla="*/ 5771 h 6827"/>
              <a:gd name="T52" fmla="*/ 4122 w 5105"/>
              <a:gd name="T53" fmla="*/ 4494 h 6827"/>
              <a:gd name="T54" fmla="*/ 982 w 5105"/>
              <a:gd name="T55" fmla="*/ 4494 h 6827"/>
              <a:gd name="T56" fmla="*/ 982 w 5105"/>
              <a:gd name="T57" fmla="*/ 4048 h 6827"/>
              <a:gd name="T58" fmla="*/ 4122 w 5105"/>
              <a:gd name="T59" fmla="*/ 4048 h 6827"/>
              <a:gd name="T60" fmla="*/ 4122 w 5105"/>
              <a:gd name="T61" fmla="*/ 4494 h 6827"/>
              <a:gd name="T62" fmla="*/ 4122 w 5105"/>
              <a:gd name="T63" fmla="*/ 3216 h 6827"/>
              <a:gd name="T64" fmla="*/ 982 w 5105"/>
              <a:gd name="T65" fmla="*/ 3216 h 6827"/>
              <a:gd name="T66" fmla="*/ 982 w 5105"/>
              <a:gd name="T67" fmla="*/ 2771 h 6827"/>
              <a:gd name="T68" fmla="*/ 4122 w 5105"/>
              <a:gd name="T69" fmla="*/ 2771 h 6827"/>
              <a:gd name="T70" fmla="*/ 4122 w 5105"/>
              <a:gd name="T71" fmla="*/ 3216 h 6827"/>
              <a:gd name="T72" fmla="*/ 4122 w 5105"/>
              <a:gd name="T73" fmla="*/ 1938 h 6827"/>
              <a:gd name="T74" fmla="*/ 982 w 5105"/>
              <a:gd name="T75" fmla="*/ 1938 h 6827"/>
              <a:gd name="T76" fmla="*/ 982 w 5105"/>
              <a:gd name="T77" fmla="*/ 1493 h 6827"/>
              <a:gd name="T78" fmla="*/ 4122 w 5105"/>
              <a:gd name="T79" fmla="*/ 1493 h 6827"/>
              <a:gd name="T80" fmla="*/ 4122 w 5105"/>
              <a:gd name="T81" fmla="*/ 1938 h 6827"/>
            </a:gdLst>
            <a:ahLst/>
            <a:cxnLst/>
            <a:rect l="0" t="0" r="r" b="b"/>
            <a:pathLst>
              <a:path w="5105" h="6827">
                <a:moveTo>
                  <a:pt x="4345" y="438"/>
                </a:moveTo>
                <a:lnTo>
                  <a:pt x="4345" y="0"/>
                </a:lnTo>
                <a:lnTo>
                  <a:pt x="3900" y="0"/>
                </a:lnTo>
                <a:lnTo>
                  <a:pt x="3900" y="438"/>
                </a:lnTo>
                <a:lnTo>
                  <a:pt x="3298" y="438"/>
                </a:lnTo>
                <a:lnTo>
                  <a:pt x="3298" y="0"/>
                </a:lnTo>
                <a:lnTo>
                  <a:pt x="2853" y="0"/>
                </a:lnTo>
                <a:lnTo>
                  <a:pt x="2853" y="438"/>
                </a:lnTo>
                <a:lnTo>
                  <a:pt x="2252" y="438"/>
                </a:lnTo>
                <a:lnTo>
                  <a:pt x="2252" y="0"/>
                </a:lnTo>
                <a:lnTo>
                  <a:pt x="1806" y="0"/>
                </a:lnTo>
                <a:lnTo>
                  <a:pt x="1806" y="438"/>
                </a:lnTo>
                <a:lnTo>
                  <a:pt x="1205" y="438"/>
                </a:lnTo>
                <a:lnTo>
                  <a:pt x="1205" y="0"/>
                </a:lnTo>
                <a:lnTo>
                  <a:pt x="760" y="0"/>
                </a:lnTo>
                <a:lnTo>
                  <a:pt x="760" y="438"/>
                </a:lnTo>
                <a:lnTo>
                  <a:pt x="0" y="438"/>
                </a:lnTo>
                <a:lnTo>
                  <a:pt x="0" y="6827"/>
                </a:lnTo>
                <a:lnTo>
                  <a:pt x="5105" y="6827"/>
                </a:lnTo>
                <a:lnTo>
                  <a:pt x="5105" y="438"/>
                </a:lnTo>
                <a:lnTo>
                  <a:pt x="4345" y="438"/>
                </a:lnTo>
                <a:close/>
                <a:moveTo>
                  <a:pt x="4122" y="5771"/>
                </a:moveTo>
                <a:lnTo>
                  <a:pt x="982" y="5771"/>
                </a:lnTo>
                <a:lnTo>
                  <a:pt x="982" y="5326"/>
                </a:lnTo>
                <a:lnTo>
                  <a:pt x="4122" y="5326"/>
                </a:lnTo>
                <a:lnTo>
                  <a:pt x="4122" y="5771"/>
                </a:lnTo>
                <a:close/>
                <a:moveTo>
                  <a:pt x="4122" y="4494"/>
                </a:moveTo>
                <a:lnTo>
                  <a:pt x="982" y="4494"/>
                </a:lnTo>
                <a:lnTo>
                  <a:pt x="982" y="4048"/>
                </a:lnTo>
                <a:lnTo>
                  <a:pt x="4122" y="4048"/>
                </a:lnTo>
                <a:lnTo>
                  <a:pt x="4122" y="4494"/>
                </a:lnTo>
                <a:close/>
                <a:moveTo>
                  <a:pt x="4122" y="3216"/>
                </a:moveTo>
                <a:lnTo>
                  <a:pt x="982" y="3216"/>
                </a:lnTo>
                <a:lnTo>
                  <a:pt x="982" y="2771"/>
                </a:lnTo>
                <a:lnTo>
                  <a:pt x="4122" y="2771"/>
                </a:lnTo>
                <a:lnTo>
                  <a:pt x="4122" y="3216"/>
                </a:lnTo>
                <a:close/>
                <a:moveTo>
                  <a:pt x="4122" y="1938"/>
                </a:moveTo>
                <a:lnTo>
                  <a:pt x="982" y="1938"/>
                </a:lnTo>
                <a:lnTo>
                  <a:pt x="982" y="1493"/>
                </a:lnTo>
                <a:lnTo>
                  <a:pt x="4122" y="1493"/>
                </a:lnTo>
                <a:lnTo>
                  <a:pt x="4122" y="19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" name="chain-links_68872">
            <a:extLst>
              <a:ext uri="{FF2B5EF4-FFF2-40B4-BE49-F238E27FC236}">
                <a16:creationId xmlns:a16="http://schemas.microsoft.com/office/drawing/2014/main" id="{FBD07AE7-0583-4735-BB3E-9D0E6A5D6BFB}"/>
              </a:ext>
            </a:extLst>
          </p:cNvPr>
          <p:cNvSpPr>
            <a:spLocks noGrp="1"/>
          </p:cNvSpPr>
          <p:nvPr/>
        </p:nvSpPr>
        <p:spPr>
          <a:xfrm>
            <a:off x="7359653" y="4745470"/>
            <a:ext cx="429079" cy="609685"/>
          </a:xfrm>
          <a:custGeom>
            <a:avLst/>
            <a:gdLst>
              <a:gd name="connsiteX0" fmla="*/ 148905 w 426314"/>
              <a:gd name="connsiteY0" fmla="*/ 296101 h 605756"/>
              <a:gd name="connsiteX1" fmla="*/ 157077 w 426314"/>
              <a:gd name="connsiteY1" fmla="*/ 305336 h 605756"/>
              <a:gd name="connsiteX2" fmla="*/ 137830 w 426314"/>
              <a:gd name="connsiteY2" fmla="*/ 344102 h 605756"/>
              <a:gd name="connsiteX3" fmla="*/ 118690 w 426314"/>
              <a:gd name="connsiteY3" fmla="*/ 359028 h 605756"/>
              <a:gd name="connsiteX4" fmla="*/ 100626 w 426314"/>
              <a:gd name="connsiteY4" fmla="*/ 376102 h 605756"/>
              <a:gd name="connsiteX5" fmla="*/ 57293 w 426314"/>
              <a:gd name="connsiteY5" fmla="*/ 463298 h 605756"/>
              <a:gd name="connsiteX6" fmla="*/ 92669 w 426314"/>
              <a:gd name="connsiteY6" fmla="*/ 544910 h 605756"/>
              <a:gd name="connsiteX7" fmla="*/ 93744 w 426314"/>
              <a:gd name="connsiteY7" fmla="*/ 545340 h 605756"/>
              <a:gd name="connsiteX8" fmla="*/ 94712 w 426314"/>
              <a:gd name="connsiteY8" fmla="*/ 545877 h 605756"/>
              <a:gd name="connsiteX9" fmla="*/ 181055 w 426314"/>
              <a:gd name="connsiteY9" fmla="*/ 524078 h 605756"/>
              <a:gd name="connsiteX10" fmla="*/ 223743 w 426314"/>
              <a:gd name="connsiteY10" fmla="*/ 436559 h 605756"/>
              <a:gd name="connsiteX11" fmla="*/ 226324 w 426314"/>
              <a:gd name="connsiteY11" fmla="*/ 411861 h 605756"/>
              <a:gd name="connsiteX12" fmla="*/ 226431 w 426314"/>
              <a:gd name="connsiteY12" fmla="*/ 387700 h 605756"/>
              <a:gd name="connsiteX13" fmla="*/ 245463 w 426314"/>
              <a:gd name="connsiteY13" fmla="*/ 348719 h 605756"/>
              <a:gd name="connsiteX14" fmla="*/ 257721 w 426314"/>
              <a:gd name="connsiteY14" fmla="*/ 349578 h 605756"/>
              <a:gd name="connsiteX15" fmla="*/ 271592 w 426314"/>
              <a:gd name="connsiteY15" fmla="*/ 459862 h 605756"/>
              <a:gd name="connsiteX16" fmla="*/ 228905 w 426314"/>
              <a:gd name="connsiteY16" fmla="*/ 547380 h 605756"/>
              <a:gd name="connsiteX17" fmla="*/ 71379 w 426314"/>
              <a:gd name="connsiteY17" fmla="*/ 593663 h 605756"/>
              <a:gd name="connsiteX18" fmla="*/ 70196 w 426314"/>
              <a:gd name="connsiteY18" fmla="*/ 593126 h 605756"/>
              <a:gd name="connsiteX19" fmla="*/ 69014 w 426314"/>
              <a:gd name="connsiteY19" fmla="*/ 592481 h 605756"/>
              <a:gd name="connsiteX20" fmla="*/ 9552 w 426314"/>
              <a:gd name="connsiteY20" fmla="*/ 439674 h 605756"/>
              <a:gd name="connsiteX21" fmla="*/ 52992 w 426314"/>
              <a:gd name="connsiteY21" fmla="*/ 352478 h 605756"/>
              <a:gd name="connsiteX22" fmla="*/ 148905 w 426314"/>
              <a:gd name="connsiteY22" fmla="*/ 296101 h 605756"/>
              <a:gd name="connsiteX23" fmla="*/ 267867 w 426314"/>
              <a:gd name="connsiteY23" fmla="*/ 165141 h 605756"/>
              <a:gd name="connsiteX24" fmla="*/ 287980 w 426314"/>
              <a:gd name="connsiteY24" fmla="*/ 174806 h 605756"/>
              <a:gd name="connsiteX25" fmla="*/ 294218 w 426314"/>
              <a:gd name="connsiteY25" fmla="*/ 192956 h 605756"/>
              <a:gd name="connsiteX26" fmla="*/ 176550 w 426314"/>
              <a:gd name="connsiteY26" fmla="*/ 434374 h 605756"/>
              <a:gd name="connsiteX27" fmla="*/ 158372 w 426314"/>
              <a:gd name="connsiteY27" fmla="*/ 440603 h 605756"/>
              <a:gd name="connsiteX28" fmla="*/ 138367 w 426314"/>
              <a:gd name="connsiteY28" fmla="*/ 430830 h 605756"/>
              <a:gd name="connsiteX29" fmla="*/ 132128 w 426314"/>
              <a:gd name="connsiteY29" fmla="*/ 412788 h 605756"/>
              <a:gd name="connsiteX30" fmla="*/ 249797 w 426314"/>
              <a:gd name="connsiteY30" fmla="*/ 171370 h 605756"/>
              <a:gd name="connsiteX31" fmla="*/ 267867 w 426314"/>
              <a:gd name="connsiteY31" fmla="*/ 165141 h 605756"/>
              <a:gd name="connsiteX32" fmla="*/ 309732 w 426314"/>
              <a:gd name="connsiteY32" fmla="*/ 280 h 605756"/>
              <a:gd name="connsiteX33" fmla="*/ 354874 w 426314"/>
              <a:gd name="connsiteY33" fmla="*/ 12045 h 605756"/>
              <a:gd name="connsiteX34" fmla="*/ 356057 w 426314"/>
              <a:gd name="connsiteY34" fmla="*/ 12689 h 605756"/>
              <a:gd name="connsiteX35" fmla="*/ 357240 w 426314"/>
              <a:gd name="connsiteY35" fmla="*/ 13226 h 605756"/>
              <a:gd name="connsiteX36" fmla="*/ 416716 w 426314"/>
              <a:gd name="connsiteY36" fmla="*/ 166141 h 605756"/>
              <a:gd name="connsiteX37" fmla="*/ 373373 w 426314"/>
              <a:gd name="connsiteY37" fmla="*/ 253230 h 605756"/>
              <a:gd name="connsiteX38" fmla="*/ 277330 w 426314"/>
              <a:gd name="connsiteY38" fmla="*/ 309607 h 605756"/>
              <a:gd name="connsiteX39" fmla="*/ 269157 w 426314"/>
              <a:gd name="connsiteY39" fmla="*/ 300479 h 605756"/>
              <a:gd name="connsiteX40" fmla="*/ 288516 w 426314"/>
              <a:gd name="connsiteY40" fmla="*/ 261606 h 605756"/>
              <a:gd name="connsiteX41" fmla="*/ 307660 w 426314"/>
              <a:gd name="connsiteY41" fmla="*/ 246787 h 605756"/>
              <a:gd name="connsiteX42" fmla="*/ 325728 w 426314"/>
              <a:gd name="connsiteY42" fmla="*/ 229606 h 605756"/>
              <a:gd name="connsiteX43" fmla="*/ 369071 w 426314"/>
              <a:gd name="connsiteY43" fmla="*/ 142410 h 605756"/>
              <a:gd name="connsiteX44" fmla="*/ 333579 w 426314"/>
              <a:gd name="connsiteY44" fmla="*/ 60905 h 605756"/>
              <a:gd name="connsiteX45" fmla="*/ 332611 w 426314"/>
              <a:gd name="connsiteY45" fmla="*/ 60368 h 605756"/>
              <a:gd name="connsiteX46" fmla="*/ 331536 w 426314"/>
              <a:gd name="connsiteY46" fmla="*/ 59938 h 605756"/>
              <a:gd name="connsiteX47" fmla="*/ 245173 w 426314"/>
              <a:gd name="connsiteY47" fmla="*/ 81630 h 605756"/>
              <a:gd name="connsiteX48" fmla="*/ 202583 w 426314"/>
              <a:gd name="connsiteY48" fmla="*/ 169148 h 605756"/>
              <a:gd name="connsiteX49" fmla="*/ 200002 w 426314"/>
              <a:gd name="connsiteY49" fmla="*/ 193954 h 605756"/>
              <a:gd name="connsiteX50" fmla="*/ 199894 w 426314"/>
              <a:gd name="connsiteY50" fmla="*/ 218115 h 605756"/>
              <a:gd name="connsiteX51" fmla="*/ 180858 w 426314"/>
              <a:gd name="connsiteY51" fmla="*/ 257096 h 605756"/>
              <a:gd name="connsiteX52" fmla="*/ 168597 w 426314"/>
              <a:gd name="connsiteY52" fmla="*/ 256237 h 605756"/>
              <a:gd name="connsiteX53" fmla="*/ 154615 w 426314"/>
              <a:gd name="connsiteY53" fmla="*/ 145953 h 605756"/>
              <a:gd name="connsiteX54" fmla="*/ 197313 w 426314"/>
              <a:gd name="connsiteY54" fmla="*/ 58328 h 605756"/>
              <a:gd name="connsiteX55" fmla="*/ 309732 w 426314"/>
              <a:gd name="connsiteY55" fmla="*/ 280 h 605756"/>
            </a:gdLst>
            <a:ahLst/>
            <a:cxnLst/>
            <a:rect l="l" t="t" r="r" b="b"/>
            <a:pathLst>
              <a:path w="426314" h="605756">
                <a:moveTo>
                  <a:pt x="148905" y="296101"/>
                </a:moveTo>
                <a:cubicBezTo>
                  <a:pt x="153314" y="295886"/>
                  <a:pt x="159873" y="299645"/>
                  <a:pt x="157077" y="305336"/>
                </a:cubicBezTo>
                <a:cubicBezTo>
                  <a:pt x="151378" y="316933"/>
                  <a:pt x="141809" y="335940"/>
                  <a:pt x="137830" y="344102"/>
                </a:cubicBezTo>
                <a:cubicBezTo>
                  <a:pt x="134174" y="351404"/>
                  <a:pt x="123207" y="356558"/>
                  <a:pt x="118690" y="359028"/>
                </a:cubicBezTo>
                <a:cubicBezTo>
                  <a:pt x="110841" y="363109"/>
                  <a:pt x="104282" y="368800"/>
                  <a:pt x="100626" y="376102"/>
                </a:cubicBezTo>
                <a:lnTo>
                  <a:pt x="57293" y="463298"/>
                </a:lnTo>
                <a:cubicBezTo>
                  <a:pt x="43100" y="491755"/>
                  <a:pt x="65035" y="531165"/>
                  <a:pt x="92669" y="544910"/>
                </a:cubicBezTo>
                <a:cubicBezTo>
                  <a:pt x="92992" y="545017"/>
                  <a:pt x="93422" y="545232"/>
                  <a:pt x="93744" y="545340"/>
                </a:cubicBezTo>
                <a:cubicBezTo>
                  <a:pt x="94067" y="545554"/>
                  <a:pt x="94390" y="545769"/>
                  <a:pt x="94712" y="545877"/>
                </a:cubicBezTo>
                <a:cubicBezTo>
                  <a:pt x="122454" y="559407"/>
                  <a:pt x="167185" y="552642"/>
                  <a:pt x="181055" y="524078"/>
                </a:cubicBezTo>
                <a:lnTo>
                  <a:pt x="223743" y="436559"/>
                </a:lnTo>
                <a:cubicBezTo>
                  <a:pt x="227292" y="429150"/>
                  <a:pt x="227829" y="420559"/>
                  <a:pt x="226324" y="411861"/>
                </a:cubicBezTo>
                <a:cubicBezTo>
                  <a:pt x="225464" y="406814"/>
                  <a:pt x="222776" y="395002"/>
                  <a:pt x="226431" y="387700"/>
                </a:cubicBezTo>
                <a:cubicBezTo>
                  <a:pt x="230410" y="379538"/>
                  <a:pt x="239765" y="360317"/>
                  <a:pt x="245463" y="348719"/>
                </a:cubicBezTo>
                <a:cubicBezTo>
                  <a:pt x="248152" y="343028"/>
                  <a:pt x="255248" y="345927"/>
                  <a:pt x="257721" y="349578"/>
                </a:cubicBezTo>
                <a:cubicBezTo>
                  <a:pt x="278797" y="381257"/>
                  <a:pt x="289119" y="423995"/>
                  <a:pt x="271592" y="459862"/>
                </a:cubicBezTo>
                <a:lnTo>
                  <a:pt x="228905" y="547380"/>
                </a:lnTo>
                <a:cubicBezTo>
                  <a:pt x="203636" y="599354"/>
                  <a:pt x="128583" y="621475"/>
                  <a:pt x="71379" y="593663"/>
                </a:cubicBezTo>
                <a:cubicBezTo>
                  <a:pt x="71057" y="593448"/>
                  <a:pt x="70626" y="593233"/>
                  <a:pt x="70196" y="593126"/>
                </a:cubicBezTo>
                <a:cubicBezTo>
                  <a:pt x="69874" y="592911"/>
                  <a:pt x="69444" y="592696"/>
                  <a:pt x="69014" y="592481"/>
                </a:cubicBezTo>
                <a:cubicBezTo>
                  <a:pt x="12132" y="564239"/>
                  <a:pt x="-16147" y="491433"/>
                  <a:pt x="9552" y="439674"/>
                </a:cubicBezTo>
                <a:lnTo>
                  <a:pt x="52992" y="352478"/>
                </a:lnTo>
                <a:cubicBezTo>
                  <a:pt x="70734" y="316719"/>
                  <a:pt x="110949" y="298785"/>
                  <a:pt x="148905" y="296101"/>
                </a:cubicBezTo>
                <a:close/>
                <a:moveTo>
                  <a:pt x="267867" y="165141"/>
                </a:moveTo>
                <a:lnTo>
                  <a:pt x="287980" y="174806"/>
                </a:lnTo>
                <a:cubicBezTo>
                  <a:pt x="294648" y="178136"/>
                  <a:pt x="297445" y="186190"/>
                  <a:pt x="294218" y="192956"/>
                </a:cubicBezTo>
                <a:lnTo>
                  <a:pt x="176550" y="434374"/>
                </a:lnTo>
                <a:cubicBezTo>
                  <a:pt x="173323" y="441032"/>
                  <a:pt x="165149" y="443932"/>
                  <a:pt x="158372" y="440603"/>
                </a:cubicBezTo>
                <a:lnTo>
                  <a:pt x="138367" y="430830"/>
                </a:lnTo>
                <a:cubicBezTo>
                  <a:pt x="131591" y="427608"/>
                  <a:pt x="128794" y="419447"/>
                  <a:pt x="132128" y="412788"/>
                </a:cubicBezTo>
                <a:lnTo>
                  <a:pt x="249797" y="171370"/>
                </a:lnTo>
                <a:cubicBezTo>
                  <a:pt x="253024" y="164604"/>
                  <a:pt x="261198" y="161812"/>
                  <a:pt x="267867" y="165141"/>
                </a:cubicBezTo>
                <a:close/>
                <a:moveTo>
                  <a:pt x="309732" y="280"/>
                </a:moveTo>
                <a:cubicBezTo>
                  <a:pt x="325197" y="1300"/>
                  <a:pt x="340597" y="5119"/>
                  <a:pt x="354874" y="12045"/>
                </a:cubicBezTo>
                <a:cubicBezTo>
                  <a:pt x="355305" y="12260"/>
                  <a:pt x="355627" y="12475"/>
                  <a:pt x="356057" y="12689"/>
                </a:cubicBezTo>
                <a:cubicBezTo>
                  <a:pt x="356488" y="12904"/>
                  <a:pt x="356918" y="13119"/>
                  <a:pt x="357240" y="13226"/>
                </a:cubicBezTo>
                <a:cubicBezTo>
                  <a:pt x="414135" y="41468"/>
                  <a:pt x="442528" y="114382"/>
                  <a:pt x="416716" y="166141"/>
                </a:cubicBezTo>
                <a:lnTo>
                  <a:pt x="373373" y="253230"/>
                </a:lnTo>
                <a:cubicBezTo>
                  <a:pt x="355520" y="288989"/>
                  <a:pt x="315403" y="307030"/>
                  <a:pt x="277330" y="309607"/>
                </a:cubicBezTo>
                <a:cubicBezTo>
                  <a:pt x="273028" y="309929"/>
                  <a:pt x="266360" y="306063"/>
                  <a:pt x="269157" y="300479"/>
                </a:cubicBezTo>
                <a:cubicBezTo>
                  <a:pt x="274964" y="288882"/>
                  <a:pt x="284536" y="269767"/>
                  <a:pt x="288516" y="261606"/>
                </a:cubicBezTo>
                <a:cubicBezTo>
                  <a:pt x="292065" y="254304"/>
                  <a:pt x="303143" y="249149"/>
                  <a:pt x="307660" y="246787"/>
                </a:cubicBezTo>
                <a:cubicBezTo>
                  <a:pt x="315511" y="242599"/>
                  <a:pt x="321964" y="237015"/>
                  <a:pt x="325728" y="229606"/>
                </a:cubicBezTo>
                <a:lnTo>
                  <a:pt x="369071" y="142410"/>
                </a:lnTo>
                <a:cubicBezTo>
                  <a:pt x="383268" y="114060"/>
                  <a:pt x="361220" y="74543"/>
                  <a:pt x="333579" y="60905"/>
                </a:cubicBezTo>
                <a:cubicBezTo>
                  <a:pt x="333257" y="60690"/>
                  <a:pt x="332934" y="60583"/>
                  <a:pt x="332611" y="60368"/>
                </a:cubicBezTo>
                <a:cubicBezTo>
                  <a:pt x="332289" y="60261"/>
                  <a:pt x="331966" y="60046"/>
                  <a:pt x="331536" y="59938"/>
                </a:cubicBezTo>
                <a:cubicBezTo>
                  <a:pt x="303788" y="46408"/>
                  <a:pt x="259154" y="53066"/>
                  <a:pt x="245173" y="81630"/>
                </a:cubicBezTo>
                <a:lnTo>
                  <a:pt x="202583" y="169148"/>
                </a:lnTo>
                <a:cubicBezTo>
                  <a:pt x="198926" y="176558"/>
                  <a:pt x="198496" y="185148"/>
                  <a:pt x="200002" y="193954"/>
                </a:cubicBezTo>
                <a:cubicBezTo>
                  <a:pt x="200862" y="199001"/>
                  <a:pt x="203443" y="210813"/>
                  <a:pt x="199894" y="218115"/>
                </a:cubicBezTo>
                <a:cubicBezTo>
                  <a:pt x="195807" y="226277"/>
                  <a:pt x="186558" y="245498"/>
                  <a:pt x="180858" y="257096"/>
                </a:cubicBezTo>
                <a:cubicBezTo>
                  <a:pt x="178061" y="262680"/>
                  <a:pt x="170963" y="259780"/>
                  <a:pt x="168597" y="256237"/>
                </a:cubicBezTo>
                <a:cubicBezTo>
                  <a:pt x="147409" y="224558"/>
                  <a:pt x="137192" y="181820"/>
                  <a:pt x="154615" y="145953"/>
                </a:cubicBezTo>
                <a:lnTo>
                  <a:pt x="197313" y="58328"/>
                </a:lnTo>
                <a:cubicBezTo>
                  <a:pt x="216350" y="19347"/>
                  <a:pt x="263336" y="-2781"/>
                  <a:pt x="309732" y="28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" name="user_125734">
            <a:extLst>
              <a:ext uri="{FF2B5EF4-FFF2-40B4-BE49-F238E27FC236}">
                <a16:creationId xmlns:a16="http://schemas.microsoft.com/office/drawing/2014/main" id="{A78583BF-009E-42BB-8806-DA552E182A35}"/>
              </a:ext>
            </a:extLst>
          </p:cNvPr>
          <p:cNvSpPr>
            <a:spLocks noGrp="1"/>
          </p:cNvSpPr>
          <p:nvPr/>
        </p:nvSpPr>
        <p:spPr>
          <a:xfrm>
            <a:off x="7269350" y="1838787"/>
            <a:ext cx="609685" cy="445844"/>
          </a:xfrm>
          <a:custGeom>
            <a:avLst/>
            <a:gdLst>
              <a:gd name="connsiteX0" fmla="*/ 423919 w 606580"/>
              <a:gd name="connsiteY0" fmla="*/ 66190 h 443574"/>
              <a:gd name="connsiteX1" fmla="*/ 431550 w 606580"/>
              <a:gd name="connsiteY1" fmla="*/ 66190 h 443574"/>
              <a:gd name="connsiteX2" fmla="*/ 439369 w 606580"/>
              <a:gd name="connsiteY2" fmla="*/ 66190 h 443574"/>
              <a:gd name="connsiteX3" fmla="*/ 504181 w 606580"/>
              <a:gd name="connsiteY3" fmla="*/ 130906 h 443574"/>
              <a:gd name="connsiteX4" fmla="*/ 504181 w 606580"/>
              <a:gd name="connsiteY4" fmla="*/ 202771 h 443574"/>
              <a:gd name="connsiteX5" fmla="*/ 489768 w 606580"/>
              <a:gd name="connsiteY5" fmla="*/ 229767 h 443574"/>
              <a:gd name="connsiteX6" fmla="*/ 489768 w 606580"/>
              <a:gd name="connsiteY6" fmla="*/ 298998 h 443574"/>
              <a:gd name="connsiteX7" fmla="*/ 491463 w 606580"/>
              <a:gd name="connsiteY7" fmla="*/ 301914 h 443574"/>
              <a:gd name="connsiteX8" fmla="*/ 593863 w 606580"/>
              <a:gd name="connsiteY8" fmla="*/ 367477 h 443574"/>
              <a:gd name="connsiteX9" fmla="*/ 606580 w 606580"/>
              <a:gd name="connsiteY9" fmla="*/ 394285 h 443574"/>
              <a:gd name="connsiteX10" fmla="*/ 606580 w 606580"/>
              <a:gd name="connsiteY10" fmla="*/ 443574 h 443574"/>
              <a:gd name="connsiteX11" fmla="*/ 440782 w 606580"/>
              <a:gd name="connsiteY11" fmla="*/ 443574 h 443574"/>
              <a:gd name="connsiteX12" fmla="*/ 440782 w 606580"/>
              <a:gd name="connsiteY12" fmla="*/ 385819 h 443574"/>
              <a:gd name="connsiteX13" fmla="*/ 415158 w 606580"/>
              <a:gd name="connsiteY13" fmla="*/ 331450 h 443574"/>
              <a:gd name="connsiteX14" fmla="*/ 373332 w 606580"/>
              <a:gd name="connsiteY14" fmla="*/ 300221 h 443574"/>
              <a:gd name="connsiteX15" fmla="*/ 373520 w 606580"/>
              <a:gd name="connsiteY15" fmla="*/ 298998 h 443574"/>
              <a:gd name="connsiteX16" fmla="*/ 373520 w 606580"/>
              <a:gd name="connsiteY16" fmla="*/ 229767 h 443574"/>
              <a:gd name="connsiteX17" fmla="*/ 359107 w 606580"/>
              <a:gd name="connsiteY17" fmla="*/ 202771 h 443574"/>
              <a:gd name="connsiteX18" fmla="*/ 359107 w 606580"/>
              <a:gd name="connsiteY18" fmla="*/ 130906 h 443574"/>
              <a:gd name="connsiteX19" fmla="*/ 423919 w 606580"/>
              <a:gd name="connsiteY19" fmla="*/ 66190 h 443574"/>
              <a:gd name="connsiteX20" fmla="*/ 196607 w 606580"/>
              <a:gd name="connsiteY20" fmla="*/ 0 h 443574"/>
              <a:gd name="connsiteX21" fmla="*/ 205745 w 606580"/>
              <a:gd name="connsiteY21" fmla="*/ 0 h 443574"/>
              <a:gd name="connsiteX22" fmla="*/ 214789 w 606580"/>
              <a:gd name="connsiteY22" fmla="*/ 0 h 443574"/>
              <a:gd name="connsiteX23" fmla="*/ 291001 w 606580"/>
              <a:gd name="connsiteY23" fmla="*/ 76187 h 443574"/>
              <a:gd name="connsiteX24" fmla="*/ 291001 w 606580"/>
              <a:gd name="connsiteY24" fmla="*/ 160556 h 443574"/>
              <a:gd name="connsiteX25" fmla="*/ 273950 w 606580"/>
              <a:gd name="connsiteY25" fmla="*/ 192253 h 443574"/>
              <a:gd name="connsiteX26" fmla="*/ 273950 w 606580"/>
              <a:gd name="connsiteY26" fmla="*/ 273707 h 443574"/>
              <a:gd name="connsiteX27" fmla="*/ 276117 w 606580"/>
              <a:gd name="connsiteY27" fmla="*/ 277093 h 443574"/>
              <a:gd name="connsiteX28" fmla="*/ 396418 w 606580"/>
              <a:gd name="connsiteY28" fmla="*/ 354220 h 443574"/>
              <a:gd name="connsiteX29" fmla="*/ 411396 w 606580"/>
              <a:gd name="connsiteY29" fmla="*/ 385823 h 443574"/>
              <a:gd name="connsiteX30" fmla="*/ 411396 w 606580"/>
              <a:gd name="connsiteY30" fmla="*/ 443574 h 443574"/>
              <a:gd name="connsiteX31" fmla="*/ 205651 w 606580"/>
              <a:gd name="connsiteY31" fmla="*/ 443574 h 443574"/>
              <a:gd name="connsiteX32" fmla="*/ 0 w 606580"/>
              <a:gd name="connsiteY32" fmla="*/ 443574 h 443574"/>
              <a:gd name="connsiteX33" fmla="*/ 0 w 606580"/>
              <a:gd name="connsiteY33" fmla="*/ 385823 h 443574"/>
              <a:gd name="connsiteX34" fmla="*/ 14979 w 606580"/>
              <a:gd name="connsiteY34" fmla="*/ 354220 h 443574"/>
              <a:gd name="connsiteX35" fmla="*/ 135280 w 606580"/>
              <a:gd name="connsiteY35" fmla="*/ 277093 h 443574"/>
              <a:gd name="connsiteX36" fmla="*/ 137446 w 606580"/>
              <a:gd name="connsiteY36" fmla="*/ 273707 h 443574"/>
              <a:gd name="connsiteX37" fmla="*/ 137446 w 606580"/>
              <a:gd name="connsiteY37" fmla="*/ 192253 h 443574"/>
              <a:gd name="connsiteX38" fmla="*/ 120301 w 606580"/>
              <a:gd name="connsiteY38" fmla="*/ 160556 h 443574"/>
              <a:gd name="connsiteX39" fmla="*/ 120301 w 606580"/>
              <a:gd name="connsiteY39" fmla="*/ 76187 h 443574"/>
              <a:gd name="connsiteX40" fmla="*/ 196607 w 606580"/>
              <a:gd name="connsiteY40" fmla="*/ 0 h 443574"/>
            </a:gdLst>
            <a:ahLst/>
            <a:cxnLst/>
            <a:rect l="l" t="t" r="r" b="b"/>
            <a:pathLst>
              <a:path w="606580" h="443574">
                <a:moveTo>
                  <a:pt x="423919" y="66190"/>
                </a:moveTo>
                <a:lnTo>
                  <a:pt x="431550" y="66190"/>
                </a:lnTo>
                <a:lnTo>
                  <a:pt x="439369" y="66190"/>
                </a:lnTo>
                <a:cubicBezTo>
                  <a:pt x="475166" y="66190"/>
                  <a:pt x="504181" y="95162"/>
                  <a:pt x="504181" y="130906"/>
                </a:cubicBezTo>
                <a:lnTo>
                  <a:pt x="504181" y="202771"/>
                </a:lnTo>
                <a:cubicBezTo>
                  <a:pt x="504181" y="214059"/>
                  <a:pt x="498434" y="224029"/>
                  <a:pt x="489768" y="229767"/>
                </a:cubicBezTo>
                <a:lnTo>
                  <a:pt x="489768" y="298998"/>
                </a:lnTo>
                <a:cubicBezTo>
                  <a:pt x="489768" y="300221"/>
                  <a:pt x="490333" y="301350"/>
                  <a:pt x="491463" y="301914"/>
                </a:cubicBezTo>
                <a:cubicBezTo>
                  <a:pt x="501261" y="306617"/>
                  <a:pt x="549304" y="330886"/>
                  <a:pt x="593863" y="367477"/>
                </a:cubicBezTo>
                <a:cubicBezTo>
                  <a:pt x="601870" y="374155"/>
                  <a:pt x="606580" y="384032"/>
                  <a:pt x="606580" y="394285"/>
                </a:cubicBezTo>
                <a:lnTo>
                  <a:pt x="606580" y="443574"/>
                </a:lnTo>
                <a:lnTo>
                  <a:pt x="440782" y="443574"/>
                </a:lnTo>
                <a:lnTo>
                  <a:pt x="440782" y="385819"/>
                </a:lnTo>
                <a:cubicBezTo>
                  <a:pt x="440782" y="364749"/>
                  <a:pt x="431456" y="344901"/>
                  <a:pt x="415158" y="331450"/>
                </a:cubicBezTo>
                <a:cubicBezTo>
                  <a:pt x="401216" y="320068"/>
                  <a:pt x="386992" y="309627"/>
                  <a:pt x="373332" y="300221"/>
                </a:cubicBezTo>
                <a:cubicBezTo>
                  <a:pt x="373426" y="299845"/>
                  <a:pt x="373520" y="299374"/>
                  <a:pt x="373520" y="298998"/>
                </a:cubicBezTo>
                <a:lnTo>
                  <a:pt x="373520" y="229767"/>
                </a:lnTo>
                <a:cubicBezTo>
                  <a:pt x="364854" y="224029"/>
                  <a:pt x="359107" y="214059"/>
                  <a:pt x="359107" y="202771"/>
                </a:cubicBezTo>
                <a:lnTo>
                  <a:pt x="359107" y="130906"/>
                </a:lnTo>
                <a:cubicBezTo>
                  <a:pt x="359107" y="95162"/>
                  <a:pt x="388122" y="66190"/>
                  <a:pt x="423919" y="66190"/>
                </a:cubicBezTo>
                <a:close/>
                <a:moveTo>
                  <a:pt x="196607" y="0"/>
                </a:moveTo>
                <a:lnTo>
                  <a:pt x="205745" y="0"/>
                </a:lnTo>
                <a:lnTo>
                  <a:pt x="214789" y="0"/>
                </a:lnTo>
                <a:cubicBezTo>
                  <a:pt x="256899" y="0"/>
                  <a:pt x="291001" y="34143"/>
                  <a:pt x="291001" y="76187"/>
                </a:cubicBezTo>
                <a:lnTo>
                  <a:pt x="291001" y="160556"/>
                </a:lnTo>
                <a:cubicBezTo>
                  <a:pt x="291001" y="173818"/>
                  <a:pt x="284219" y="185481"/>
                  <a:pt x="273950" y="192253"/>
                </a:cubicBezTo>
                <a:lnTo>
                  <a:pt x="273950" y="273707"/>
                </a:lnTo>
                <a:cubicBezTo>
                  <a:pt x="273950" y="275024"/>
                  <a:pt x="274798" y="276434"/>
                  <a:pt x="276117" y="277093"/>
                </a:cubicBezTo>
                <a:cubicBezTo>
                  <a:pt x="287516" y="282736"/>
                  <a:pt x="344039" y="311142"/>
                  <a:pt x="396418" y="354220"/>
                </a:cubicBezTo>
                <a:cubicBezTo>
                  <a:pt x="405932" y="361933"/>
                  <a:pt x="411396" y="373596"/>
                  <a:pt x="411396" y="385823"/>
                </a:cubicBezTo>
                <a:lnTo>
                  <a:pt x="411396" y="443574"/>
                </a:lnTo>
                <a:lnTo>
                  <a:pt x="205651" y="443574"/>
                </a:lnTo>
                <a:lnTo>
                  <a:pt x="0" y="443574"/>
                </a:lnTo>
                <a:lnTo>
                  <a:pt x="0" y="385823"/>
                </a:lnTo>
                <a:cubicBezTo>
                  <a:pt x="0" y="373596"/>
                  <a:pt x="5558" y="361933"/>
                  <a:pt x="14979" y="354220"/>
                </a:cubicBezTo>
                <a:cubicBezTo>
                  <a:pt x="67357" y="311142"/>
                  <a:pt x="123692" y="282736"/>
                  <a:pt x="135280" y="277093"/>
                </a:cubicBezTo>
                <a:cubicBezTo>
                  <a:pt x="136504" y="276434"/>
                  <a:pt x="137446" y="275024"/>
                  <a:pt x="137446" y="273707"/>
                </a:cubicBezTo>
                <a:lnTo>
                  <a:pt x="137446" y="192253"/>
                </a:lnTo>
                <a:cubicBezTo>
                  <a:pt x="127084" y="185387"/>
                  <a:pt x="120301" y="173724"/>
                  <a:pt x="120301" y="160556"/>
                </a:cubicBezTo>
                <a:lnTo>
                  <a:pt x="120301" y="76187"/>
                </a:lnTo>
                <a:cubicBezTo>
                  <a:pt x="120301" y="34143"/>
                  <a:pt x="154497" y="0"/>
                  <a:pt x="19660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47914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8C4A795-F87D-413A-964D-1D1ED24D0A0E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006718-0854-4A4D-9F91-EC0B8F196D1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72CC7F29-419C-4A0B-A805-668912CF94D5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验证框架：六类证据互相约束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A-圆角矩形 25">
            <a:extLst>
              <a:ext uri="{FF2B5EF4-FFF2-40B4-BE49-F238E27FC236}">
                <a16:creationId xmlns:a16="http://schemas.microsoft.com/office/drawing/2014/main" id="{20E8EEA2-42BB-4158-B756-35FCA7E62EF1}"/>
              </a:ext>
            </a:extLst>
          </p:cNvPr>
          <p:cNvSpPr>
            <a:spLocks noGrp="1"/>
          </p:cNvSpPr>
          <p:nvPr/>
        </p:nvSpPr>
        <p:spPr>
          <a:xfrm>
            <a:off x="688340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4" name="PA-椭圆 31">
            <a:extLst>
              <a:ext uri="{FF2B5EF4-FFF2-40B4-BE49-F238E27FC236}">
                <a16:creationId xmlns:a16="http://schemas.microsoft.com/office/drawing/2014/main" id="{65A3BB24-F05E-4479-95CB-80FE1CD2E140}"/>
              </a:ext>
            </a:extLst>
          </p:cNvPr>
          <p:cNvSpPr>
            <a:spLocks noGrp="1"/>
          </p:cNvSpPr>
          <p:nvPr/>
        </p:nvSpPr>
        <p:spPr>
          <a:xfrm>
            <a:off x="2099661" y="1846460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749C8A3-395B-48E2-87F7-047F5A37AF30}"/>
              </a:ext>
            </a:extLst>
          </p:cNvPr>
          <p:cNvSpPr>
            <a:spLocks noGrp="1"/>
          </p:cNvSpPr>
          <p:nvPr/>
        </p:nvSpPr>
        <p:spPr>
          <a:xfrm>
            <a:off x="945287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需求追踪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56ECDA-7A63-469E-B02B-D452E629C934}"/>
              </a:ext>
            </a:extLst>
          </p:cNvPr>
          <p:cNvSpPr>
            <a:spLocks noGrp="1"/>
          </p:cNvSpPr>
          <p:nvPr/>
        </p:nvSpPr>
        <p:spPr>
          <a:xfrm>
            <a:off x="748612" y="2799904"/>
            <a:ext cx="3136551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F01–F18 逐项映射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状态与证据可查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9C48116-ECC4-4094-A4FD-B25D9D352EC8}"/>
              </a:ext>
            </a:extLst>
          </p:cNvPr>
          <p:cNvSpPr>
            <a:spLocks noGrp="1"/>
          </p:cNvSpPr>
          <p:nvPr/>
        </p:nvSpPr>
        <p:spPr>
          <a:xfrm>
            <a:off x="1960531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38" name="PA-圆角矩形 26">
            <a:extLst>
              <a:ext uri="{FF2B5EF4-FFF2-40B4-BE49-F238E27FC236}">
                <a16:creationId xmlns:a16="http://schemas.microsoft.com/office/drawing/2014/main" id="{54DEAB3F-43AD-473B-B659-C0D18339465D}"/>
              </a:ext>
            </a:extLst>
          </p:cNvPr>
          <p:cNvSpPr>
            <a:spLocks noGrp="1"/>
          </p:cNvSpPr>
          <p:nvPr/>
        </p:nvSpPr>
        <p:spPr>
          <a:xfrm>
            <a:off x="4466691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9" name="PA-椭圆 40">
            <a:extLst>
              <a:ext uri="{FF2B5EF4-FFF2-40B4-BE49-F238E27FC236}">
                <a16:creationId xmlns:a16="http://schemas.microsoft.com/office/drawing/2014/main" id="{0995008D-6F92-4C18-96FE-2345CFBA5050}"/>
              </a:ext>
            </a:extLst>
          </p:cNvPr>
          <p:cNvSpPr>
            <a:spLocks noGrp="1"/>
          </p:cNvSpPr>
          <p:nvPr/>
        </p:nvSpPr>
        <p:spPr>
          <a:xfrm>
            <a:off x="5878012" y="1845922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C5FDEE-4E6B-4BBE-B026-697871055A65}"/>
              </a:ext>
            </a:extLst>
          </p:cNvPr>
          <p:cNvSpPr>
            <a:spLocks noGrp="1"/>
          </p:cNvSpPr>
          <p:nvPr/>
        </p:nvSpPr>
        <p:spPr>
          <a:xfrm>
            <a:off x="4723638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后端单测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89BE0B-ED55-4F32-80BD-DA1DF8B12F78}"/>
              </a:ext>
            </a:extLst>
          </p:cNvPr>
          <p:cNvSpPr>
            <a:spLocks noGrp="1"/>
          </p:cNvSpPr>
          <p:nvPr/>
        </p:nvSpPr>
        <p:spPr>
          <a:xfrm>
            <a:off x="4488240" y="2799904"/>
            <a:ext cx="3213996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pytest 36 项通过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含迁移与契约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1DF53B-F64E-45C2-8795-216787BFBCEF}"/>
              </a:ext>
            </a:extLst>
          </p:cNvPr>
          <p:cNvSpPr>
            <a:spLocks noGrp="1"/>
          </p:cNvSpPr>
          <p:nvPr/>
        </p:nvSpPr>
        <p:spPr>
          <a:xfrm>
            <a:off x="5738882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02</a:t>
            </a:r>
          </a:p>
        </p:txBody>
      </p:sp>
      <p:sp>
        <p:nvSpPr>
          <p:cNvPr id="43" name="PA-圆角矩形 27">
            <a:extLst>
              <a:ext uri="{FF2B5EF4-FFF2-40B4-BE49-F238E27FC236}">
                <a16:creationId xmlns:a16="http://schemas.microsoft.com/office/drawing/2014/main" id="{893ABC73-6FB4-4020-8A9B-F07E01DEB464}"/>
              </a:ext>
            </a:extLst>
          </p:cNvPr>
          <p:cNvSpPr>
            <a:spLocks noGrp="1"/>
          </p:cNvSpPr>
          <p:nvPr/>
        </p:nvSpPr>
        <p:spPr>
          <a:xfrm>
            <a:off x="8245042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4" name="PA-椭圆 51">
            <a:extLst>
              <a:ext uri="{FF2B5EF4-FFF2-40B4-BE49-F238E27FC236}">
                <a16:creationId xmlns:a16="http://schemas.microsoft.com/office/drawing/2014/main" id="{2DB25371-F64A-44FC-9A91-CF57337E6C8F}"/>
              </a:ext>
            </a:extLst>
          </p:cNvPr>
          <p:cNvSpPr>
            <a:spLocks noGrp="1"/>
          </p:cNvSpPr>
          <p:nvPr/>
        </p:nvSpPr>
        <p:spPr>
          <a:xfrm>
            <a:off x="9656363" y="1846460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C33179A-D975-4DB9-9740-9550A639747B}"/>
              </a:ext>
            </a:extLst>
          </p:cNvPr>
          <p:cNvSpPr>
            <a:spLocks noGrp="1"/>
          </p:cNvSpPr>
          <p:nvPr/>
        </p:nvSpPr>
        <p:spPr>
          <a:xfrm>
            <a:off x="8501989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前端单测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1A91FC0-F614-49FD-9036-D1B38E8C2FAF}"/>
              </a:ext>
            </a:extLst>
          </p:cNvPr>
          <p:cNvSpPr>
            <a:spLocks noGrp="1"/>
          </p:cNvSpPr>
          <p:nvPr/>
        </p:nvSpPr>
        <p:spPr>
          <a:xfrm>
            <a:off x="8304151" y="2799904"/>
            <a:ext cx="3138877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Vitest 6 项通过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严格类型检查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2CE4E99-F410-4FC6-B8FF-F2289FE94AB3}"/>
              </a:ext>
            </a:extLst>
          </p:cNvPr>
          <p:cNvSpPr>
            <a:spLocks noGrp="1"/>
          </p:cNvSpPr>
          <p:nvPr/>
        </p:nvSpPr>
        <p:spPr>
          <a:xfrm>
            <a:off x="9517233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03</a:t>
            </a:r>
          </a:p>
        </p:txBody>
      </p:sp>
      <p:sp>
        <p:nvSpPr>
          <p:cNvPr id="48" name="PA-圆角矩形 28">
            <a:extLst>
              <a:ext uri="{FF2B5EF4-FFF2-40B4-BE49-F238E27FC236}">
                <a16:creationId xmlns:a16="http://schemas.microsoft.com/office/drawing/2014/main" id="{677963CF-58B2-4185-958C-C7E539740A9A}"/>
              </a:ext>
            </a:extLst>
          </p:cNvPr>
          <p:cNvSpPr>
            <a:spLocks noGrp="1"/>
          </p:cNvSpPr>
          <p:nvPr/>
        </p:nvSpPr>
        <p:spPr>
          <a:xfrm>
            <a:off x="688340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9" name="PA-椭圆 56">
            <a:extLst>
              <a:ext uri="{FF2B5EF4-FFF2-40B4-BE49-F238E27FC236}">
                <a16:creationId xmlns:a16="http://schemas.microsoft.com/office/drawing/2014/main" id="{3C87EA06-0CDD-4E04-9A0F-521D14879124}"/>
              </a:ext>
            </a:extLst>
          </p:cNvPr>
          <p:cNvSpPr>
            <a:spLocks noGrp="1"/>
          </p:cNvSpPr>
          <p:nvPr/>
        </p:nvSpPr>
        <p:spPr>
          <a:xfrm>
            <a:off x="2099661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A7C0F8D-28A6-4341-8A18-A6CD5DDB8BA7}"/>
              </a:ext>
            </a:extLst>
          </p:cNvPr>
          <p:cNvSpPr>
            <a:spLocks noGrp="1"/>
          </p:cNvSpPr>
          <p:nvPr/>
        </p:nvSpPr>
        <p:spPr>
          <a:xfrm>
            <a:off x="945287" y="4588470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端到端流程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41DEC6D-D742-4FC9-A26C-FFDAC1F6C509}"/>
              </a:ext>
            </a:extLst>
          </p:cNvPr>
          <p:cNvSpPr>
            <a:spLocks noGrp="1"/>
          </p:cNvSpPr>
          <p:nvPr/>
        </p:nvSpPr>
        <p:spPr>
          <a:xfrm>
            <a:off x="734378" y="5038095"/>
            <a:ext cx="3165018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Edge 4 项通过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桌面 + 移动端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FE4C747-340D-4B2C-B520-D606A6D4940C}"/>
              </a:ext>
            </a:extLst>
          </p:cNvPr>
          <p:cNvSpPr>
            <a:spLocks noGrp="1"/>
          </p:cNvSpPr>
          <p:nvPr/>
        </p:nvSpPr>
        <p:spPr>
          <a:xfrm>
            <a:off x="1960531" y="4099032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04</a:t>
            </a:r>
          </a:p>
        </p:txBody>
      </p:sp>
      <p:sp>
        <p:nvSpPr>
          <p:cNvPr id="53" name="PA-圆角矩形 29">
            <a:extLst>
              <a:ext uri="{FF2B5EF4-FFF2-40B4-BE49-F238E27FC236}">
                <a16:creationId xmlns:a16="http://schemas.microsoft.com/office/drawing/2014/main" id="{87184BC9-0CBA-4934-BBEE-C42C7C265E94}"/>
              </a:ext>
            </a:extLst>
          </p:cNvPr>
          <p:cNvSpPr>
            <a:spLocks noGrp="1"/>
          </p:cNvSpPr>
          <p:nvPr/>
        </p:nvSpPr>
        <p:spPr>
          <a:xfrm>
            <a:off x="4466691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5875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4" name="PA-椭圆 61">
            <a:extLst>
              <a:ext uri="{FF2B5EF4-FFF2-40B4-BE49-F238E27FC236}">
                <a16:creationId xmlns:a16="http://schemas.microsoft.com/office/drawing/2014/main" id="{28E9D282-EE0B-4EDD-972C-C79708888758}"/>
              </a:ext>
            </a:extLst>
          </p:cNvPr>
          <p:cNvSpPr>
            <a:spLocks noGrp="1"/>
          </p:cNvSpPr>
          <p:nvPr/>
        </p:nvSpPr>
        <p:spPr>
          <a:xfrm>
            <a:off x="5878012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860CA41-7939-4356-8172-FBFD26650ED9}"/>
              </a:ext>
            </a:extLst>
          </p:cNvPr>
          <p:cNvSpPr>
            <a:spLocks noGrp="1"/>
          </p:cNvSpPr>
          <p:nvPr/>
        </p:nvSpPr>
        <p:spPr>
          <a:xfrm>
            <a:off x="4723638" y="4585897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异常与安全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36F5F1-CACF-486C-BF3A-280F9F58B425}"/>
              </a:ext>
            </a:extLst>
          </p:cNvPr>
          <p:cNvSpPr>
            <a:spLocks noGrp="1"/>
          </p:cNvSpPr>
          <p:nvPr/>
        </p:nvSpPr>
        <p:spPr>
          <a:xfrm>
            <a:off x="4480924" y="5035522"/>
            <a:ext cx="3228629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伪造证据、超时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并发重建均覆盖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BEAB99-A29E-44E1-AB9B-365D10816E8C}"/>
              </a:ext>
            </a:extLst>
          </p:cNvPr>
          <p:cNvSpPr>
            <a:spLocks noGrp="1"/>
          </p:cNvSpPr>
          <p:nvPr/>
        </p:nvSpPr>
        <p:spPr>
          <a:xfrm>
            <a:off x="5738882" y="4096459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05</a:t>
            </a:r>
          </a:p>
        </p:txBody>
      </p:sp>
      <p:sp>
        <p:nvSpPr>
          <p:cNvPr id="58" name="PA-圆角矩形 30">
            <a:extLst>
              <a:ext uri="{FF2B5EF4-FFF2-40B4-BE49-F238E27FC236}">
                <a16:creationId xmlns:a16="http://schemas.microsoft.com/office/drawing/2014/main" id="{2ED17F29-4E17-4921-A6A4-13084C875031}"/>
              </a:ext>
            </a:extLst>
          </p:cNvPr>
          <p:cNvSpPr>
            <a:spLocks noGrp="1"/>
          </p:cNvSpPr>
          <p:nvPr/>
        </p:nvSpPr>
        <p:spPr>
          <a:xfrm>
            <a:off x="8245042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9" name="PA-椭圆 66">
            <a:extLst>
              <a:ext uri="{FF2B5EF4-FFF2-40B4-BE49-F238E27FC236}">
                <a16:creationId xmlns:a16="http://schemas.microsoft.com/office/drawing/2014/main" id="{70DB4994-323F-4CBB-81CC-5405D939B3A4}"/>
              </a:ext>
            </a:extLst>
          </p:cNvPr>
          <p:cNvSpPr>
            <a:spLocks noGrp="1"/>
          </p:cNvSpPr>
          <p:nvPr/>
        </p:nvSpPr>
        <p:spPr>
          <a:xfrm>
            <a:off x="9656363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D39E093-2ECD-483D-AAAE-A4DFD6957FD5}"/>
              </a:ext>
            </a:extLst>
          </p:cNvPr>
          <p:cNvSpPr>
            <a:spLocks noGrp="1"/>
          </p:cNvSpPr>
          <p:nvPr/>
        </p:nvSpPr>
        <p:spPr>
          <a:xfrm>
            <a:off x="8501989" y="4603124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边界声明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8993099-C0CE-4D78-9732-ED67240143F9}"/>
              </a:ext>
            </a:extLst>
          </p:cNvPr>
          <p:cNvSpPr>
            <a:spLocks noGrp="1"/>
          </p:cNvSpPr>
          <p:nvPr/>
        </p:nvSpPr>
        <p:spPr>
          <a:xfrm>
            <a:off x="8304151" y="5052749"/>
            <a:ext cx="3138877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SQLite 仅课程演示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外部模型依赖网络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5E2199A-472E-46D0-B39D-11BAE31F07F5}"/>
              </a:ext>
            </a:extLst>
          </p:cNvPr>
          <p:cNvSpPr>
            <a:spLocks noGrp="1"/>
          </p:cNvSpPr>
          <p:nvPr/>
        </p:nvSpPr>
        <p:spPr>
          <a:xfrm>
            <a:off x="9517233" y="4113686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19143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noGrp="1"/>
          </p:cNvSpPr>
          <p:nvPr/>
        </p:nvSpPr>
        <p:spPr>
          <a:xfrm>
            <a:off x="7824190" y="2100860"/>
            <a:ext cx="2664295" cy="266429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noGrp="1"/>
          </p:cNvSpPr>
          <p:nvPr/>
        </p:nvSpPr>
        <p:spPr>
          <a:xfrm>
            <a:off x="7937764" y="2936718"/>
            <a:ext cx="3168994" cy="99257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03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noGrp="1"/>
          </p:cNvSpPr>
          <p:nvPr/>
        </p:nvSpPr>
        <p:spPr>
          <a:xfrm>
            <a:off x="1343472" y="3029051"/>
            <a:ext cx="4985980" cy="171450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协作过程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35FF4EC-2FC0-4005-A6B3-57148802B83A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C355C7-6723-493E-A9A2-DA395792FFB3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51BD2EED-9A22-4908-A110-FE3D2E4A5E05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10 轮协作：6 个关键转折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19755C0D-31D9-4C25-8A0F-C593D2FF7582}"/>
              </a:ext>
            </a:extLst>
          </p:cNvPr>
          <p:cNvSpPr>
            <a:spLocks noGrp="1"/>
          </p:cNvSpPr>
          <p:nvPr/>
        </p:nvSpPr>
        <p:spPr>
          <a:xfrm>
            <a:off x="9702598" y="3110683"/>
            <a:ext cx="499685" cy="1039972"/>
          </a:xfrm>
          <a:custGeom>
            <a:avLst/>
            <a:gdLst>
              <a:gd name="T0" fmla="*/ 280 w 280"/>
              <a:gd name="T1" fmla="*/ 278 h 862"/>
              <a:gd name="T2" fmla="*/ 280 w 280"/>
              <a:gd name="T3" fmla="*/ 862 h 862"/>
              <a:gd name="T4" fmla="*/ 0 w 280"/>
              <a:gd name="T5" fmla="*/ 582 h 862"/>
              <a:gd name="T6" fmla="*/ 0 w 280"/>
              <a:gd name="T7" fmla="*/ 0 h 862"/>
              <a:gd name="T8" fmla="*/ 3 w 280"/>
              <a:gd name="T9" fmla="*/ 0 h 862"/>
              <a:gd name="T10" fmla="*/ 280 w 280"/>
              <a:gd name="T11" fmla="*/ 278 h 862"/>
            </a:gdLst>
            <a:ahLst/>
            <a:cxnLst/>
            <a:rect l="0" t="0" r="r" b="b"/>
            <a:pathLst>
              <a:path w="280" h="862">
                <a:moveTo>
                  <a:pt x="280" y="278"/>
                </a:moveTo>
                <a:lnTo>
                  <a:pt x="280" y="862"/>
                </a:lnTo>
                <a:lnTo>
                  <a:pt x="0" y="582"/>
                </a:lnTo>
                <a:lnTo>
                  <a:pt x="0" y="0"/>
                </a:lnTo>
                <a:lnTo>
                  <a:pt x="3" y="0"/>
                </a:lnTo>
                <a:lnTo>
                  <a:pt x="280" y="27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7FEAC26E-6F3A-4931-931B-F38083198332}"/>
              </a:ext>
            </a:extLst>
          </p:cNvPr>
          <p:cNvSpPr>
            <a:spLocks noGrp="1"/>
          </p:cNvSpPr>
          <p:nvPr/>
        </p:nvSpPr>
        <p:spPr>
          <a:xfrm>
            <a:off x="8171418" y="3110683"/>
            <a:ext cx="501471" cy="1354859"/>
          </a:xfrm>
          <a:custGeom>
            <a:avLst/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9 w 281"/>
              <a:gd name="T9" fmla="*/ 278 h 1123"/>
              <a:gd name="T10" fmla="*/ 281 w 281"/>
              <a:gd name="T11" fmla="*/ 278 h 1123"/>
            </a:gdLst>
            <a:ahLst/>
            <a:cxnLst/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9" y="278"/>
                </a:lnTo>
                <a:lnTo>
                  <a:pt x="281" y="27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1F8C609-779C-4265-9DF8-49CFA471337D}"/>
              </a:ext>
            </a:extLst>
          </p:cNvPr>
          <p:cNvSpPr>
            <a:spLocks noGrp="1"/>
          </p:cNvSpPr>
          <p:nvPr/>
        </p:nvSpPr>
        <p:spPr>
          <a:xfrm>
            <a:off x="6642022" y="3110683"/>
            <a:ext cx="501471" cy="1354859"/>
          </a:xfrm>
          <a:custGeom>
            <a:avLst/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8 w 281"/>
              <a:gd name="T9" fmla="*/ 278 h 1123"/>
              <a:gd name="T10" fmla="*/ 281 w 281"/>
              <a:gd name="T11" fmla="*/ 278 h 1123"/>
            </a:gdLst>
            <a:ahLst/>
            <a:cxnLst/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1" y="27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39C28449-175F-4F43-9EEF-A6FDB97B71B9}"/>
              </a:ext>
            </a:extLst>
          </p:cNvPr>
          <p:cNvSpPr>
            <a:spLocks noGrp="1"/>
          </p:cNvSpPr>
          <p:nvPr/>
        </p:nvSpPr>
        <p:spPr>
          <a:xfrm>
            <a:off x="5112626" y="3110683"/>
            <a:ext cx="499685" cy="1354859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/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4AF534D0-6F5F-4328-A74B-125482AFAA0A}"/>
              </a:ext>
            </a:extLst>
          </p:cNvPr>
          <p:cNvSpPr>
            <a:spLocks noGrp="1"/>
          </p:cNvSpPr>
          <p:nvPr/>
        </p:nvSpPr>
        <p:spPr>
          <a:xfrm>
            <a:off x="3583230" y="3110683"/>
            <a:ext cx="499685" cy="1354859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/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DA0AC5C4-0BD3-4D15-B4A3-E3BCA2D17850}"/>
              </a:ext>
            </a:extLst>
          </p:cNvPr>
          <p:cNvSpPr>
            <a:spLocks noGrp="1"/>
          </p:cNvSpPr>
          <p:nvPr/>
        </p:nvSpPr>
        <p:spPr>
          <a:xfrm>
            <a:off x="2053834" y="3110683"/>
            <a:ext cx="499685" cy="1354859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/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ysClr val="window" lastClr="FFFFFF">
              <a:lumMod val="85000"/>
            </a:sys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2486FC2B-ECDC-4F0A-99E4-32E67FD54D3F}"/>
              </a:ext>
            </a:extLst>
          </p:cNvPr>
          <p:cNvSpPr>
            <a:spLocks noGrp="1"/>
          </p:cNvSpPr>
          <p:nvPr/>
        </p:nvSpPr>
        <p:spPr>
          <a:xfrm>
            <a:off x="10202284" y="3285620"/>
            <a:ext cx="1101093" cy="1024288"/>
          </a:xfrm>
          <a:custGeom>
            <a:avLst/>
            <a:gdLst>
              <a:gd name="T0" fmla="*/ 210 w 617"/>
              <a:gd name="T1" fmla="*/ 849 h 849"/>
              <a:gd name="T2" fmla="*/ 210 w 617"/>
              <a:gd name="T3" fmla="*/ 717 h 849"/>
              <a:gd name="T4" fmla="*/ 0 w 617"/>
              <a:gd name="T5" fmla="*/ 717 h 849"/>
              <a:gd name="T6" fmla="*/ 0 w 617"/>
              <a:gd name="T7" fmla="*/ 133 h 849"/>
              <a:gd name="T8" fmla="*/ 210 w 617"/>
              <a:gd name="T9" fmla="*/ 133 h 849"/>
              <a:gd name="T10" fmla="*/ 210 w 617"/>
              <a:gd name="T11" fmla="*/ 0 h 849"/>
              <a:gd name="T12" fmla="*/ 617 w 617"/>
              <a:gd name="T13" fmla="*/ 424 h 849"/>
              <a:gd name="T14" fmla="*/ 210 w 617"/>
              <a:gd name="T15" fmla="*/ 849 h 849"/>
            </a:gdLst>
            <a:ahLst/>
            <a:cxnLst/>
            <a:rect l="0" t="0" r="r" b="b"/>
            <a:pathLst>
              <a:path w="617" h="849">
                <a:moveTo>
                  <a:pt x="210" y="849"/>
                </a:moveTo>
                <a:lnTo>
                  <a:pt x="210" y="717"/>
                </a:lnTo>
                <a:lnTo>
                  <a:pt x="0" y="717"/>
                </a:lnTo>
                <a:lnTo>
                  <a:pt x="0" y="133"/>
                </a:lnTo>
                <a:lnTo>
                  <a:pt x="210" y="133"/>
                </a:lnTo>
                <a:lnTo>
                  <a:pt x="210" y="0"/>
                </a:lnTo>
                <a:lnTo>
                  <a:pt x="617" y="424"/>
                </a:lnTo>
                <a:lnTo>
                  <a:pt x="210" y="849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2" name="Freeform 15">
            <a:extLst>
              <a:ext uri="{FF2B5EF4-FFF2-40B4-BE49-F238E27FC236}">
                <a16:creationId xmlns:a16="http://schemas.microsoft.com/office/drawing/2014/main" id="{353AEF42-645D-4136-8CCC-B24D911965F5}"/>
              </a:ext>
            </a:extLst>
          </p:cNvPr>
          <p:cNvSpPr>
            <a:spLocks noGrp="1"/>
          </p:cNvSpPr>
          <p:nvPr/>
        </p:nvSpPr>
        <p:spPr>
          <a:xfrm>
            <a:off x="1024125" y="3110684"/>
            <a:ext cx="1029709" cy="1350033"/>
          </a:xfrm>
          <a:custGeom>
            <a:avLst/>
            <a:gdLst>
              <a:gd name="T0" fmla="*/ 577 w 577"/>
              <a:gd name="T1" fmla="*/ 0 h 1119"/>
              <a:gd name="T2" fmla="*/ 577 w 577"/>
              <a:gd name="T3" fmla="*/ 1119 h 1119"/>
              <a:gd name="T4" fmla="*/ 288 w 577"/>
              <a:gd name="T5" fmla="*/ 840 h 1119"/>
              <a:gd name="T6" fmla="*/ 0 w 577"/>
              <a:gd name="T7" fmla="*/ 1118 h 1119"/>
              <a:gd name="T8" fmla="*/ 0 w 577"/>
              <a:gd name="T9" fmla="*/ 0 h 1119"/>
              <a:gd name="T10" fmla="*/ 577 w 577"/>
              <a:gd name="T11" fmla="*/ 0 h 1119"/>
            </a:gdLst>
            <a:ahLst/>
            <a:cxnLst/>
            <a:rect l="0" t="0" r="r" b="b"/>
            <a:pathLst>
              <a:path w="577" h="1119">
                <a:moveTo>
                  <a:pt x="577" y="0"/>
                </a:moveTo>
                <a:lnTo>
                  <a:pt x="577" y="1119"/>
                </a:lnTo>
                <a:lnTo>
                  <a:pt x="288" y="840"/>
                </a:lnTo>
                <a:lnTo>
                  <a:pt x="0" y="1118"/>
                </a:lnTo>
                <a:lnTo>
                  <a:pt x="0" y="0"/>
                </a:lnTo>
                <a:lnTo>
                  <a:pt x="5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353E0186-FD76-4D74-98CF-DD3246BA38D9}"/>
              </a:ext>
            </a:extLst>
          </p:cNvPr>
          <p:cNvSpPr>
            <a:spLocks noGrp="1"/>
          </p:cNvSpPr>
          <p:nvPr/>
        </p:nvSpPr>
        <p:spPr>
          <a:xfrm>
            <a:off x="911425" y="3272686"/>
            <a:ext cx="1279553" cy="903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I1</a:t>
            </a:r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6D191A20-4B33-4750-925E-9D7237E3A18B}"/>
              </a:ext>
            </a:extLst>
          </p:cNvPr>
          <p:cNvSpPr>
            <a:spLocks noGrp="1"/>
          </p:cNvSpPr>
          <p:nvPr/>
        </p:nvSpPr>
        <p:spPr>
          <a:xfrm>
            <a:off x="2553521" y="3110683"/>
            <a:ext cx="1029709" cy="13548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9874098E-5F22-40E2-91F3-EE95E10FBA0E}"/>
              </a:ext>
            </a:extLst>
          </p:cNvPr>
          <p:cNvSpPr>
            <a:spLocks noGrp="1"/>
          </p:cNvSpPr>
          <p:nvPr/>
        </p:nvSpPr>
        <p:spPr>
          <a:xfrm>
            <a:off x="2440821" y="3272684"/>
            <a:ext cx="1279553" cy="903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I2</a:t>
            </a:r>
          </a:p>
        </p:txBody>
      </p:sp>
      <p:sp>
        <p:nvSpPr>
          <p:cNvPr id="28" name="Rectangle 11">
            <a:extLst>
              <a:ext uri="{FF2B5EF4-FFF2-40B4-BE49-F238E27FC236}">
                <a16:creationId xmlns:a16="http://schemas.microsoft.com/office/drawing/2014/main" id="{4F296DE7-0D67-4595-B0BE-486470349AB1}"/>
              </a:ext>
            </a:extLst>
          </p:cNvPr>
          <p:cNvSpPr>
            <a:spLocks noGrp="1"/>
          </p:cNvSpPr>
          <p:nvPr/>
        </p:nvSpPr>
        <p:spPr>
          <a:xfrm>
            <a:off x="4082917" y="3110683"/>
            <a:ext cx="1029709" cy="13548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29" name="Text Placeholder 59">
            <a:extLst>
              <a:ext uri="{FF2B5EF4-FFF2-40B4-BE49-F238E27FC236}">
                <a16:creationId xmlns:a16="http://schemas.microsoft.com/office/drawing/2014/main" id="{57BEF405-08FB-4849-8EBC-A3F79324D61A}"/>
              </a:ext>
            </a:extLst>
          </p:cNvPr>
          <p:cNvSpPr>
            <a:spLocks noGrp="1"/>
          </p:cNvSpPr>
          <p:nvPr/>
        </p:nvSpPr>
        <p:spPr>
          <a:xfrm>
            <a:off x="3970217" y="3272684"/>
            <a:ext cx="1279553" cy="903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I3</a:t>
            </a:r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D000F564-5F1F-4593-898D-A8285382DE2C}"/>
              </a:ext>
            </a:extLst>
          </p:cNvPr>
          <p:cNvSpPr>
            <a:spLocks noGrp="1"/>
          </p:cNvSpPr>
          <p:nvPr/>
        </p:nvSpPr>
        <p:spPr>
          <a:xfrm>
            <a:off x="5612313" y="3110683"/>
            <a:ext cx="1029709" cy="13548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35" name="Text Placeholder 59">
            <a:extLst>
              <a:ext uri="{FF2B5EF4-FFF2-40B4-BE49-F238E27FC236}">
                <a16:creationId xmlns:a16="http://schemas.microsoft.com/office/drawing/2014/main" id="{E8C14D49-4972-4282-A305-C52DC66E6D9A}"/>
              </a:ext>
            </a:extLst>
          </p:cNvPr>
          <p:cNvSpPr>
            <a:spLocks noGrp="1"/>
          </p:cNvSpPr>
          <p:nvPr/>
        </p:nvSpPr>
        <p:spPr>
          <a:xfrm>
            <a:off x="5499613" y="3272684"/>
            <a:ext cx="1279553" cy="903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accent5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I4</a:t>
            </a:r>
          </a:p>
        </p:txBody>
      </p:sp>
      <p:sp>
        <p:nvSpPr>
          <p:cNvPr id="37" name="Rectangle 7">
            <a:extLst>
              <a:ext uri="{FF2B5EF4-FFF2-40B4-BE49-F238E27FC236}">
                <a16:creationId xmlns:a16="http://schemas.microsoft.com/office/drawing/2014/main" id="{6886624F-8C84-4F45-A845-7696F10DCDBA}"/>
              </a:ext>
            </a:extLst>
          </p:cNvPr>
          <p:cNvSpPr>
            <a:spLocks noGrp="1"/>
          </p:cNvSpPr>
          <p:nvPr/>
        </p:nvSpPr>
        <p:spPr>
          <a:xfrm>
            <a:off x="7143492" y="3110683"/>
            <a:ext cx="1027925" cy="13548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38" name="Text Placeholder 59">
            <a:extLst>
              <a:ext uri="{FF2B5EF4-FFF2-40B4-BE49-F238E27FC236}">
                <a16:creationId xmlns:a16="http://schemas.microsoft.com/office/drawing/2014/main" id="{292C0E21-75CC-49CF-BD2D-5D98633F4B04}"/>
              </a:ext>
            </a:extLst>
          </p:cNvPr>
          <p:cNvSpPr>
            <a:spLocks noGrp="1"/>
          </p:cNvSpPr>
          <p:nvPr/>
        </p:nvSpPr>
        <p:spPr>
          <a:xfrm>
            <a:off x="7025646" y="3272684"/>
            <a:ext cx="1279553" cy="903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I6</a:t>
            </a:r>
            <a:endParaRPr sz="2667" b="0" i="0" u="none" kern="1200" cap="none" spc="0" baseline="0">
              <a:ln>
                <a:noFill/>
              </a:ln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F9BCFBB9-B50D-44DC-8F74-ACC2EAF7C677}"/>
              </a:ext>
            </a:extLst>
          </p:cNvPr>
          <p:cNvSpPr>
            <a:spLocks noGrp="1"/>
          </p:cNvSpPr>
          <p:nvPr/>
        </p:nvSpPr>
        <p:spPr>
          <a:xfrm>
            <a:off x="8672889" y="3110683"/>
            <a:ext cx="1029709" cy="13548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pPr marL="0" marR="0" lvl="0" indent="0" algn="l" defTabSz="12191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400" b="0" i="0" u="none" kern="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1" name="Text Placeholder 59">
            <a:extLst>
              <a:ext uri="{FF2B5EF4-FFF2-40B4-BE49-F238E27FC236}">
                <a16:creationId xmlns:a16="http://schemas.microsoft.com/office/drawing/2014/main" id="{BCA52969-87AB-4C34-9B12-78B10C0BB788}"/>
              </a:ext>
            </a:extLst>
          </p:cNvPr>
          <p:cNvSpPr>
            <a:spLocks noGrp="1"/>
          </p:cNvSpPr>
          <p:nvPr/>
        </p:nvSpPr>
        <p:spPr>
          <a:xfrm>
            <a:off x="8560189" y="3272684"/>
            <a:ext cx="1279553" cy="90308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>
              <a:spcBef>
                <a:spcPct val="20000"/>
              </a:spcBef>
              <a:buFont typeface="Arial"/>
              <a:buNone/>
              <a:defRPr sz="2000" b="0" kern="1200">
                <a:solidFill>
                  <a:schemeClr val="bg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ctr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667" b="0" i="0" u="none" cap="none" spc="0">
                <a:ln>
                  <a:noFill/>
                </a:ln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I10</a:t>
            </a:r>
          </a:p>
        </p:txBody>
      </p:sp>
      <p:sp>
        <p:nvSpPr>
          <p:cNvPr id="42" name="Text Placeholder 59">
            <a:extLst>
              <a:ext uri="{FF2B5EF4-FFF2-40B4-BE49-F238E27FC236}">
                <a16:creationId xmlns:a16="http://schemas.microsoft.com/office/drawing/2014/main" id="{8FE2DF50-CEEA-469D-97F0-F6D7F891D73D}"/>
              </a:ext>
            </a:extLst>
          </p:cNvPr>
          <p:cNvSpPr>
            <a:spLocks noGrp="1"/>
          </p:cNvSpPr>
          <p:nvPr/>
        </p:nvSpPr>
        <p:spPr>
          <a:xfrm>
            <a:off x="2553520" y="4799952"/>
            <a:ext cx="2559105" cy="12481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排期修正</a:t>
            </a:r>
          </a:p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把 9/4 改为 9/3，重排里程碑。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3" name="Straight Connector 54">
            <a:extLst>
              <a:ext uri="{FF2B5EF4-FFF2-40B4-BE49-F238E27FC236}">
                <a16:creationId xmlns:a16="http://schemas.microsoft.com/office/drawing/2014/main" id="{F6155FDC-710F-431C-8268-789EA298D306}"/>
              </a:ext>
            </a:extLst>
          </p:cNvPr>
          <p:cNvSpPr>
            <a:spLocks noGrp="1"/>
          </p:cNvSpPr>
          <p:nvPr/>
        </p:nvSpPr>
        <p:spPr>
          <a:xfrm>
            <a:off x="2553520" y="4458403"/>
            <a:ext cx="0" cy="1465668"/>
          </a:xfrm>
          <a:prstGeom prst="line">
            <a:avLst/>
          </a:prstGeom>
          <a:noFill/>
          <a:ln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44" name="Text Placeholder 59">
            <a:extLst>
              <a:ext uri="{FF2B5EF4-FFF2-40B4-BE49-F238E27FC236}">
                <a16:creationId xmlns:a16="http://schemas.microsoft.com/office/drawing/2014/main" id="{CABCD097-3D84-4506-A9C0-6AB76D790B9D}"/>
              </a:ext>
            </a:extLst>
          </p:cNvPr>
          <p:cNvSpPr>
            <a:spLocks noGrp="1"/>
          </p:cNvSpPr>
          <p:nvPr/>
        </p:nvSpPr>
        <p:spPr>
          <a:xfrm>
            <a:off x="5611554" y="4799952"/>
            <a:ext cx="2559105" cy="12481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架构定型</a:t>
            </a:r>
          </a:p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5000 / 5173 分离运行，补 CORS/CSRF。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5" name="Straight Connector 56">
            <a:extLst>
              <a:ext uri="{FF2B5EF4-FFF2-40B4-BE49-F238E27FC236}">
                <a16:creationId xmlns:a16="http://schemas.microsoft.com/office/drawing/2014/main" id="{9F0D0D82-BEA1-4C7E-AB52-C820D7F0C4B4}"/>
              </a:ext>
            </a:extLst>
          </p:cNvPr>
          <p:cNvSpPr>
            <a:spLocks noGrp="1"/>
          </p:cNvSpPr>
          <p:nvPr/>
        </p:nvSpPr>
        <p:spPr>
          <a:xfrm>
            <a:off x="5611555" y="4458403"/>
            <a:ext cx="0" cy="1465668"/>
          </a:xfrm>
          <a:prstGeom prst="line">
            <a:avLst/>
          </a:prstGeom>
          <a:noFill/>
          <a:ln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46" name="Text Placeholder 59">
            <a:extLst>
              <a:ext uri="{FF2B5EF4-FFF2-40B4-BE49-F238E27FC236}">
                <a16:creationId xmlns:a16="http://schemas.microsoft.com/office/drawing/2014/main" id="{4818586E-41A7-4844-BA9D-77A38C180910}"/>
              </a:ext>
            </a:extLst>
          </p:cNvPr>
          <p:cNvSpPr>
            <a:spLocks noGrp="1"/>
          </p:cNvSpPr>
          <p:nvPr/>
        </p:nvSpPr>
        <p:spPr>
          <a:xfrm>
            <a:off x="8672888" y="4799952"/>
            <a:ext cx="2559105" cy="12481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验收闭环</a:t>
            </a:r>
          </a:p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统一功能、测试、文档与边界证据。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7" name="Straight Connector 58">
            <a:extLst>
              <a:ext uri="{FF2B5EF4-FFF2-40B4-BE49-F238E27FC236}">
                <a16:creationId xmlns:a16="http://schemas.microsoft.com/office/drawing/2014/main" id="{8D68B3F0-5251-44C2-8A32-BBE3213856C1}"/>
              </a:ext>
            </a:extLst>
          </p:cNvPr>
          <p:cNvSpPr>
            <a:spLocks noGrp="1"/>
          </p:cNvSpPr>
          <p:nvPr/>
        </p:nvSpPr>
        <p:spPr>
          <a:xfrm>
            <a:off x="8672888" y="4458403"/>
            <a:ext cx="0" cy="1465668"/>
          </a:xfrm>
          <a:prstGeom prst="line">
            <a:avLst/>
          </a:prstGeom>
          <a:noFill/>
          <a:ln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48" name="Text Placeholder 59">
            <a:extLst>
              <a:ext uri="{FF2B5EF4-FFF2-40B4-BE49-F238E27FC236}">
                <a16:creationId xmlns:a16="http://schemas.microsoft.com/office/drawing/2014/main" id="{E9EB2531-829F-4A50-887B-97C78A6A90C7}"/>
              </a:ext>
            </a:extLst>
          </p:cNvPr>
          <p:cNvSpPr>
            <a:spLocks noGrp="1"/>
          </p:cNvSpPr>
          <p:nvPr/>
        </p:nvSpPr>
        <p:spPr>
          <a:xfrm>
            <a:off x="1024124" y="1556792"/>
            <a:ext cx="2559105" cy="12481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范围共识</a:t>
            </a:r>
          </a:p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保留轻量知识治理，不扩展为 HRIS。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49" name="Text Placeholder 59">
            <a:extLst>
              <a:ext uri="{FF2B5EF4-FFF2-40B4-BE49-F238E27FC236}">
                <a16:creationId xmlns:a16="http://schemas.microsoft.com/office/drawing/2014/main" id="{BF67C02F-2786-4ACA-BF3D-8C06B5A20A33}"/>
              </a:ext>
            </a:extLst>
          </p:cNvPr>
          <p:cNvSpPr>
            <a:spLocks noGrp="1"/>
          </p:cNvSpPr>
          <p:nvPr/>
        </p:nvSpPr>
        <p:spPr>
          <a:xfrm>
            <a:off x="4082158" y="1556792"/>
            <a:ext cx="2559105" cy="12481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技术栈锁定</a:t>
            </a:r>
          </a:p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从 Jinja 切换为 Vue3 + TypeScript。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50" name="Text Placeholder 59">
            <a:extLst>
              <a:ext uri="{FF2B5EF4-FFF2-40B4-BE49-F238E27FC236}">
                <a16:creationId xmlns:a16="http://schemas.microsoft.com/office/drawing/2014/main" id="{8ADA4718-7B04-4D33-AC00-45EBDC154E59}"/>
              </a:ext>
            </a:extLst>
          </p:cNvPr>
          <p:cNvSpPr>
            <a:spLocks noGrp="1"/>
          </p:cNvSpPr>
          <p:nvPr/>
        </p:nvSpPr>
        <p:spPr>
          <a:xfrm>
            <a:off x="7143492" y="1556792"/>
            <a:ext cx="2559105" cy="12481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>
              <a:spcBef>
                <a:spcPct val="20000"/>
              </a:spcBef>
              <a:buFont typeface="Arial"/>
              <a:buNone/>
              <a:defRPr sz="1800" b="0" kern="1200">
                <a:solidFill>
                  <a:schemeClr val="tx1"/>
                </a:solidFill>
                <a:latin typeface="Roboto Light"/>
                <a:ea typeface="Roboto Light"/>
                <a:cs typeface="Roboto Ligh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证据纠偏</a:t>
            </a:r>
          </a:p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微软雅黑"/>
                <a:ea typeface="微软雅黑"/>
                <a:cs typeface="微软雅黑"/>
              </a:rPr>
              <a:t>识别旧服务干扰，补做真实冷启动。</a:t>
            </a:r>
            <a:endParaRPr sz="1333" b="0" i="0" u="none" kern="1200" cap="none" spc="0" baseline="0">
              <a:ln>
                <a:noFill/>
              </a:ln>
              <a:solidFill>
                <a:prstClr val="black"/>
              </a:solidFill>
              <a:latin typeface="Roboto Light"/>
              <a:ea typeface="Roboto Light"/>
              <a:cs typeface="Roboto Light"/>
            </a:endParaRPr>
          </a:p>
        </p:txBody>
      </p:sp>
      <p:sp>
        <p:nvSpPr>
          <p:cNvPr id="51" name="Straight Connector 62">
            <a:extLst>
              <a:ext uri="{FF2B5EF4-FFF2-40B4-BE49-F238E27FC236}">
                <a16:creationId xmlns:a16="http://schemas.microsoft.com/office/drawing/2014/main" id="{319153B7-A681-4155-99CE-895D9831F538}"/>
              </a:ext>
            </a:extLst>
          </p:cNvPr>
          <p:cNvSpPr>
            <a:spLocks noGrp="1"/>
          </p:cNvSpPr>
          <p:nvPr/>
        </p:nvSpPr>
        <p:spPr>
          <a:xfrm>
            <a:off x="1034668" y="1652803"/>
            <a:ext cx="0" cy="1465668"/>
          </a:xfrm>
          <a:prstGeom prst="line">
            <a:avLst/>
          </a:prstGeom>
          <a:noFill/>
          <a:ln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52" name="Straight Connector 63">
            <a:extLst>
              <a:ext uri="{FF2B5EF4-FFF2-40B4-BE49-F238E27FC236}">
                <a16:creationId xmlns:a16="http://schemas.microsoft.com/office/drawing/2014/main" id="{14FDB0E5-6C02-4F63-94B0-06D21E35674B}"/>
              </a:ext>
            </a:extLst>
          </p:cNvPr>
          <p:cNvSpPr>
            <a:spLocks noGrp="1"/>
          </p:cNvSpPr>
          <p:nvPr/>
        </p:nvSpPr>
        <p:spPr>
          <a:xfrm>
            <a:off x="4092268" y="1652803"/>
            <a:ext cx="0" cy="1465668"/>
          </a:xfrm>
          <a:prstGeom prst="line">
            <a:avLst/>
          </a:prstGeom>
          <a:noFill/>
          <a:ln w="9525">
            <a:solidFill>
              <a:sysClr val="window" lastClr="FFFFFF">
                <a:lumMod val="65000"/>
              </a:sysClr>
            </a:solidFill>
            <a:prstDash val="solid"/>
          </a:ln>
        </p:spPr>
      </p:sp>
      <p:sp>
        <p:nvSpPr>
          <p:cNvPr id="53" name="Straight Connector 64">
            <a:extLst>
              <a:ext uri="{FF2B5EF4-FFF2-40B4-BE49-F238E27FC236}">
                <a16:creationId xmlns:a16="http://schemas.microsoft.com/office/drawing/2014/main" id="{8044056F-C95C-4EDD-9A0C-B99AD1F90B5F}"/>
              </a:ext>
            </a:extLst>
          </p:cNvPr>
          <p:cNvSpPr>
            <a:spLocks noGrp="1"/>
          </p:cNvSpPr>
          <p:nvPr/>
        </p:nvSpPr>
        <p:spPr>
          <a:xfrm>
            <a:off x="7147900" y="1652803"/>
            <a:ext cx="0" cy="1465668"/>
          </a:xfrm>
          <a:prstGeom prst="line">
            <a:avLst/>
          </a:prstGeom>
          <a:noFill/>
          <a:ln w="9525">
            <a:solidFill>
              <a:sysClr val="window" lastClr="FFFFFF">
                <a:lumMod val="65000"/>
              </a:sys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7352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FD30C51-1BD0-41D2-A238-A94CCB93418B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4696CD8-8EC6-438B-8837-379AE0FF3E8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7ECDA534-36F5-4932-B8EA-2AF4BF75F2D8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人机分工：判断权始终在人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Shape 1723">
            <a:extLst>
              <a:ext uri="{FF2B5EF4-FFF2-40B4-BE49-F238E27FC236}">
                <a16:creationId xmlns:a16="http://schemas.microsoft.com/office/drawing/2014/main" id="{D64F7C32-C424-4E8F-9062-7E24F90EF08E}"/>
              </a:ext>
            </a:extLst>
          </p:cNvPr>
          <p:cNvSpPr>
            <a:spLocks noGrp="1"/>
          </p:cNvSpPr>
          <p:nvPr/>
        </p:nvSpPr>
        <p:spPr>
          <a:xfrm rot="18900000">
            <a:off x="5379144" y="2943837"/>
            <a:ext cx="1414666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Shape 1726">
            <a:extLst>
              <a:ext uri="{FF2B5EF4-FFF2-40B4-BE49-F238E27FC236}">
                <a16:creationId xmlns:a16="http://schemas.microsoft.com/office/drawing/2014/main" id="{04F10E5A-A4EE-498B-B3C0-98B8339B81A8}"/>
              </a:ext>
            </a:extLst>
          </p:cNvPr>
          <p:cNvSpPr>
            <a:spLocks noGrp="1"/>
          </p:cNvSpPr>
          <p:nvPr/>
        </p:nvSpPr>
        <p:spPr>
          <a:xfrm rot="18900000">
            <a:off x="5379143" y="3148294"/>
            <a:ext cx="1414666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722">
            <a:extLst>
              <a:ext uri="{FF2B5EF4-FFF2-40B4-BE49-F238E27FC236}">
                <a16:creationId xmlns:a16="http://schemas.microsoft.com/office/drawing/2014/main" id="{095D6A02-E945-4A15-A826-67B1EF263787}"/>
              </a:ext>
            </a:extLst>
          </p:cNvPr>
          <p:cNvSpPr>
            <a:spLocks noGrp="1"/>
          </p:cNvSpPr>
          <p:nvPr/>
        </p:nvSpPr>
        <p:spPr>
          <a:xfrm rot="8100000">
            <a:off x="3563871" y="3356638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Shape 1729">
            <a:extLst>
              <a:ext uri="{FF2B5EF4-FFF2-40B4-BE49-F238E27FC236}">
                <a16:creationId xmlns:a16="http://schemas.microsoft.com/office/drawing/2014/main" id="{297C59D9-2AC8-47C1-9726-351354CE404C}"/>
              </a:ext>
            </a:extLst>
          </p:cNvPr>
          <p:cNvSpPr>
            <a:spLocks noGrp="1"/>
          </p:cNvSpPr>
          <p:nvPr/>
        </p:nvSpPr>
        <p:spPr>
          <a:xfrm rot="8100000">
            <a:off x="3563871" y="3152180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Shape 1721">
            <a:extLst>
              <a:ext uri="{FF2B5EF4-FFF2-40B4-BE49-F238E27FC236}">
                <a16:creationId xmlns:a16="http://schemas.microsoft.com/office/drawing/2014/main" id="{53298BD2-4EC7-4C95-835A-EEF7C84B9B32}"/>
              </a:ext>
            </a:extLst>
          </p:cNvPr>
          <p:cNvSpPr>
            <a:spLocks noGrp="1"/>
          </p:cNvSpPr>
          <p:nvPr/>
        </p:nvSpPr>
        <p:spPr>
          <a:xfrm rot="18900000">
            <a:off x="1743076" y="2943837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1732">
            <a:extLst>
              <a:ext uri="{FF2B5EF4-FFF2-40B4-BE49-F238E27FC236}">
                <a16:creationId xmlns:a16="http://schemas.microsoft.com/office/drawing/2014/main" id="{A3537DFA-F71C-4ED8-8305-04F02B919557}"/>
              </a:ext>
            </a:extLst>
          </p:cNvPr>
          <p:cNvSpPr>
            <a:spLocks noGrp="1"/>
          </p:cNvSpPr>
          <p:nvPr/>
        </p:nvSpPr>
        <p:spPr>
          <a:xfrm rot="18900000">
            <a:off x="1743076" y="3148294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Shape 1724">
            <a:extLst>
              <a:ext uri="{FF2B5EF4-FFF2-40B4-BE49-F238E27FC236}">
                <a16:creationId xmlns:a16="http://schemas.microsoft.com/office/drawing/2014/main" id="{E2B8677B-DCEF-4DDA-BD5A-0F97327F79D9}"/>
              </a:ext>
            </a:extLst>
          </p:cNvPr>
          <p:cNvSpPr>
            <a:spLocks noGrp="1"/>
          </p:cNvSpPr>
          <p:nvPr/>
        </p:nvSpPr>
        <p:spPr>
          <a:xfrm rot="8100000">
            <a:off x="7138090" y="3441282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Shape 1735">
            <a:extLst>
              <a:ext uri="{FF2B5EF4-FFF2-40B4-BE49-F238E27FC236}">
                <a16:creationId xmlns:a16="http://schemas.microsoft.com/office/drawing/2014/main" id="{21A0931B-4DF4-4FDE-9FB3-A37615619903}"/>
              </a:ext>
            </a:extLst>
          </p:cNvPr>
          <p:cNvSpPr>
            <a:spLocks noGrp="1"/>
          </p:cNvSpPr>
          <p:nvPr/>
        </p:nvSpPr>
        <p:spPr>
          <a:xfrm rot="8100000">
            <a:off x="7138090" y="3236823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Shape 1725">
            <a:extLst>
              <a:ext uri="{FF2B5EF4-FFF2-40B4-BE49-F238E27FC236}">
                <a16:creationId xmlns:a16="http://schemas.microsoft.com/office/drawing/2014/main" id="{748B130B-F0D8-450B-B18F-D4C53801DC4D}"/>
              </a:ext>
            </a:extLst>
          </p:cNvPr>
          <p:cNvSpPr>
            <a:spLocks noGrp="1"/>
          </p:cNvSpPr>
          <p:nvPr/>
        </p:nvSpPr>
        <p:spPr>
          <a:xfrm rot="18900000">
            <a:off x="9015209" y="2943837"/>
            <a:ext cx="1414667" cy="1414666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/>
        </p:spPr>
        <p:txBody>
          <a:bodyPr lIns="67733" tIns="67733" rIns="67733" bIns="67733" anchor="ctr"/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Shape 1738">
            <a:extLst>
              <a:ext uri="{FF2B5EF4-FFF2-40B4-BE49-F238E27FC236}">
                <a16:creationId xmlns:a16="http://schemas.microsoft.com/office/drawing/2014/main" id="{B03C0D49-067A-47BD-A862-464FFD842AD6}"/>
              </a:ext>
            </a:extLst>
          </p:cNvPr>
          <p:cNvSpPr>
            <a:spLocks noGrp="1"/>
          </p:cNvSpPr>
          <p:nvPr/>
        </p:nvSpPr>
        <p:spPr>
          <a:xfrm rot="18900000">
            <a:off x="9015209" y="3148294"/>
            <a:ext cx="1414667" cy="1414667"/>
          </a:xfrm>
          <a:prstGeom prst="roundRect">
            <a:avLst>
              <a:gd name="adj" fmla="val 15000"/>
            </a:avLst>
          </a:prstGeom>
          <a:solidFill>
            <a:srgbClr val="C4C7CB"/>
          </a:solidFill>
          <a:ln w="12700">
            <a:noFill/>
          </a:ln>
        </p:spPr>
        <p:txBody>
          <a:bodyPr wrap="square" lIns="67733" tIns="67733" rIns="67733" bIns="67733" anchor="ctr">
            <a:noAutofit/>
          </a:bodyPr>
          <a:lstStyle/>
          <a:p>
            <a:pPr marL="0" marR="0" lvl="0" indent="0" algn="l" defTabSz="1219170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defRPr sz="2500">
                <a:latin typeface="Aller Light"/>
                <a:ea typeface="Aller Light"/>
                <a:cs typeface="Aller Light"/>
              </a:defRPr>
            </a:pPr>
            <a:endParaRPr sz="3333" b="0" i="0" u="none" kern="0" cap="none" spc="0" baseline="0">
              <a:ln>
                <a:noFill/>
              </a:ln>
              <a:solidFill>
                <a:prstClr val="black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BF8EDAE8-208F-4254-8CFB-B0D34A7E1830}"/>
              </a:ext>
            </a:extLst>
          </p:cNvPr>
          <p:cNvSpPr>
            <a:spLocks noGrp="1"/>
          </p:cNvSpPr>
          <p:nvPr/>
        </p:nvSpPr>
        <p:spPr>
          <a:xfrm>
            <a:off x="1845000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人·定方向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B913590E-8902-4E41-BAB9-C120ED056A98}"/>
              </a:ext>
            </a:extLst>
          </p:cNvPr>
          <p:cNvSpPr>
            <a:spLocks noGrp="1"/>
          </p:cNvSpPr>
          <p:nvPr/>
        </p:nvSpPr>
        <p:spPr>
          <a:xfrm>
            <a:off x="3663032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AI·扩方案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72E4E12D-DCA0-4110-A35F-D26F0E6E9555}"/>
              </a:ext>
            </a:extLst>
          </p:cNvPr>
          <p:cNvSpPr>
            <a:spLocks noGrp="1"/>
          </p:cNvSpPr>
          <p:nvPr/>
        </p:nvSpPr>
        <p:spPr>
          <a:xfrm>
            <a:off x="5480353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共同·定标准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87620BF-128B-42C0-A291-0A34458B2539}"/>
              </a:ext>
            </a:extLst>
          </p:cNvPr>
          <p:cNvSpPr>
            <a:spLocks noGrp="1"/>
          </p:cNvSpPr>
          <p:nvPr/>
        </p:nvSpPr>
        <p:spPr>
          <a:xfrm>
            <a:off x="7298385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AI·做实现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F457139-9DF3-40ED-B1CE-17928C830043}"/>
              </a:ext>
            </a:extLst>
          </p:cNvPr>
          <p:cNvSpPr>
            <a:spLocks noGrp="1"/>
          </p:cNvSpPr>
          <p:nvPr/>
        </p:nvSpPr>
        <p:spPr>
          <a:xfrm>
            <a:off x="9117133" y="3721744"/>
            <a:ext cx="1210819" cy="267765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42950" indent="-285750" algn="l" defTabSz="914400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121917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 b="1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人·作验收</a:t>
            </a:r>
            <a:endParaRPr sz="1600" b="1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A94426B9-3C26-4234-A09A-3471227A801B}"/>
              </a:ext>
            </a:extLst>
          </p:cNvPr>
          <p:cNvSpPr>
            <a:spLocks noGrp="1"/>
          </p:cNvSpPr>
          <p:nvPr/>
        </p:nvSpPr>
        <p:spPr>
          <a:xfrm>
            <a:off x="1295468" y="1628800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人：定义目标、边界、技术栈和风险阈值。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8074948C-1CC8-431B-A31A-DC157871A60F}"/>
              </a:ext>
            </a:extLst>
          </p:cNvPr>
          <p:cNvSpPr>
            <a:spLocks noGrp="1"/>
          </p:cNvSpPr>
          <p:nvPr/>
        </p:nvSpPr>
        <p:spPr>
          <a:xfrm>
            <a:off x="3119670" y="5109963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AI：拆解需求，提出备选方案与影响分析。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23">
            <a:extLst>
              <a:ext uri="{FF2B5EF4-FFF2-40B4-BE49-F238E27FC236}">
                <a16:creationId xmlns:a16="http://schemas.microsoft.com/office/drawing/2014/main" id="{0C98BAC8-389F-4EDB-AC11-2E1158204B10}"/>
              </a:ext>
            </a:extLst>
          </p:cNvPr>
          <p:cNvSpPr>
            <a:spLocks noGrp="1"/>
          </p:cNvSpPr>
          <p:nvPr/>
        </p:nvSpPr>
        <p:spPr>
          <a:xfrm>
            <a:off x="4936088" y="1628800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共同：确定成功标准、接口合同与证据口径。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24">
            <a:extLst>
              <a:ext uri="{FF2B5EF4-FFF2-40B4-BE49-F238E27FC236}">
                <a16:creationId xmlns:a16="http://schemas.microsoft.com/office/drawing/2014/main" id="{68BA8EA4-CD26-4853-A0F8-0571FF71D883}"/>
              </a:ext>
            </a:extLst>
          </p:cNvPr>
          <p:cNvSpPr>
            <a:spLocks noGrp="1"/>
          </p:cNvSpPr>
          <p:nvPr/>
        </p:nvSpPr>
        <p:spPr>
          <a:xfrm>
            <a:off x="6753874" y="5109963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AI：编码、测试、回归、文档；暴露不确定性。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92DD16EC-2E12-4115-AA39-67332EC4EC83}"/>
              </a:ext>
            </a:extLst>
          </p:cNvPr>
          <p:cNvSpPr>
            <a:spLocks noGrp="1"/>
          </p:cNvSpPr>
          <p:nvPr/>
        </p:nvSpPr>
        <p:spPr>
          <a:xfrm>
            <a:off x="8552757" y="1628800"/>
            <a:ext cx="2328369" cy="9638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just" defTabSz="121917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33" b="0" i="0" u="none" cap="none" spc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微软雅黑"/>
                <a:ea typeface="微软雅黑"/>
                <a:cs typeface="微软雅黑"/>
              </a:rPr>
              <a:t>人：核验事实、处理取舍并对验收结论负责。</a:t>
            </a:r>
            <a:endParaRPr sz="1333" b="0" i="0" u="none" kern="1200" cap="none" spc="0" baseline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1154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C8AACBD7-5DAD-44AC-B7DD-4ABAB1BA4947}"/>
              </a:ext>
            </a:extLst>
          </p:cNvPr>
          <p:cNvSpPr>
            <a:spLocks noGrp="1"/>
          </p:cNvSpPr>
          <p:nvPr/>
        </p:nvSpPr>
        <p:spPr>
          <a:xfrm>
            <a:off x="7824190" y="2100860"/>
            <a:ext cx="2664295" cy="266429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D224CB50-74D8-4AFD-94D6-01EC1D3F44AE}"/>
              </a:ext>
            </a:extLst>
          </p:cNvPr>
          <p:cNvSpPr>
            <a:spLocks noGrp="1"/>
          </p:cNvSpPr>
          <p:nvPr/>
        </p:nvSpPr>
        <p:spPr>
          <a:xfrm>
            <a:off x="7937764" y="2936718"/>
            <a:ext cx="3168994" cy="99257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sz="6000" b="1">
                <a:solidFill>
                  <a:schemeClr val="accent1"/>
                </a:solidFill>
                <a:latin typeface="AvantGarde Md BT"/>
                <a:ea typeface="AvantGarde Md BT"/>
                <a:cs typeface="AvantGarde Md BT"/>
              </a:rPr>
              <a:t>04</a:t>
            </a: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9CD98A30-1D75-47BF-BB50-8D5D21463686}"/>
              </a:ext>
            </a:extLst>
          </p:cNvPr>
          <p:cNvSpPr>
            <a:spLocks noGrp="1"/>
          </p:cNvSpPr>
          <p:nvPr/>
        </p:nvSpPr>
        <p:spPr>
          <a:xfrm>
            <a:off x="1343472" y="3029051"/>
            <a:ext cx="4985980" cy="1714500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r>
              <a:rPr sz="5400" b="1">
                <a:solidFill>
                  <a:schemeClr val="bg1"/>
                </a:solidFill>
                <a:latin typeface="AvantGarde Md BT"/>
                <a:ea typeface="AvantGarde Md BT"/>
                <a:cs typeface="AvantGarde Md BT"/>
              </a:rPr>
              <a:t>创新点</a:t>
            </a:r>
          </a:p>
        </p:txBody>
      </p:sp>
    </p:spTree>
    <p:extLst>
      <p:ext uri="{BB962C8B-B14F-4D97-AF65-F5344CB8AC3E}">
        <p14:creationId xmlns:p14="http://schemas.microsoft.com/office/powerpoint/2010/main" val="272218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58C4A795-F87D-413A-964D-1D1ED24D0A0E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006718-0854-4A4D-9F91-EC0B8F196D1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72CC7F29-419C-4A0B-A805-668912CF94D5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创新点：可信、可控、可运营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PA-圆角矩形 25">
            <a:extLst>
              <a:ext uri="{FF2B5EF4-FFF2-40B4-BE49-F238E27FC236}">
                <a16:creationId xmlns:a16="http://schemas.microsoft.com/office/drawing/2014/main" id="{20E8EEA2-42BB-4158-B756-35FCA7E62EF1}"/>
              </a:ext>
            </a:extLst>
          </p:cNvPr>
          <p:cNvSpPr>
            <a:spLocks noGrp="1"/>
          </p:cNvSpPr>
          <p:nvPr/>
        </p:nvSpPr>
        <p:spPr>
          <a:xfrm>
            <a:off x="688340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4" name="PA-椭圆 31">
            <a:extLst>
              <a:ext uri="{FF2B5EF4-FFF2-40B4-BE49-F238E27FC236}">
                <a16:creationId xmlns:a16="http://schemas.microsoft.com/office/drawing/2014/main" id="{65A3BB24-F05E-4479-95CB-80FE1CD2E140}"/>
              </a:ext>
            </a:extLst>
          </p:cNvPr>
          <p:cNvSpPr>
            <a:spLocks noGrp="1"/>
          </p:cNvSpPr>
          <p:nvPr/>
        </p:nvSpPr>
        <p:spPr>
          <a:xfrm>
            <a:off x="2099661" y="1846460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749C8A3-395B-48E2-87F7-047F5A37AF30}"/>
              </a:ext>
            </a:extLst>
          </p:cNvPr>
          <p:cNvSpPr>
            <a:spLocks noGrp="1"/>
          </p:cNvSpPr>
          <p:nvPr/>
        </p:nvSpPr>
        <p:spPr>
          <a:xfrm>
            <a:off x="945287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混合检索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AF56ECDA-7A63-469E-B02B-D452E629C934}"/>
              </a:ext>
            </a:extLst>
          </p:cNvPr>
          <p:cNvSpPr>
            <a:spLocks noGrp="1"/>
          </p:cNvSpPr>
          <p:nvPr/>
        </p:nvSpPr>
        <p:spPr>
          <a:xfrm>
            <a:off x="748612" y="2799904"/>
            <a:ext cx="3136551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语义 + 关键词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RRF 融合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9C48116-ECC4-4094-A4FD-B25D9D352EC8}"/>
              </a:ext>
            </a:extLst>
          </p:cNvPr>
          <p:cNvSpPr>
            <a:spLocks noGrp="1"/>
          </p:cNvSpPr>
          <p:nvPr/>
        </p:nvSpPr>
        <p:spPr>
          <a:xfrm>
            <a:off x="1960531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01</a:t>
            </a:r>
          </a:p>
        </p:txBody>
      </p:sp>
      <p:sp>
        <p:nvSpPr>
          <p:cNvPr id="38" name="PA-圆角矩形 26">
            <a:extLst>
              <a:ext uri="{FF2B5EF4-FFF2-40B4-BE49-F238E27FC236}">
                <a16:creationId xmlns:a16="http://schemas.microsoft.com/office/drawing/2014/main" id="{54DEAB3F-43AD-473B-B659-C0D18339465D}"/>
              </a:ext>
            </a:extLst>
          </p:cNvPr>
          <p:cNvSpPr>
            <a:spLocks noGrp="1"/>
          </p:cNvSpPr>
          <p:nvPr/>
        </p:nvSpPr>
        <p:spPr>
          <a:xfrm>
            <a:off x="4466691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39" name="PA-椭圆 40">
            <a:extLst>
              <a:ext uri="{FF2B5EF4-FFF2-40B4-BE49-F238E27FC236}">
                <a16:creationId xmlns:a16="http://schemas.microsoft.com/office/drawing/2014/main" id="{0995008D-6F92-4C18-96FE-2345CFBA5050}"/>
              </a:ext>
            </a:extLst>
          </p:cNvPr>
          <p:cNvSpPr>
            <a:spLocks noGrp="1"/>
          </p:cNvSpPr>
          <p:nvPr/>
        </p:nvSpPr>
        <p:spPr>
          <a:xfrm>
            <a:off x="5878012" y="1845922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C5FDEE-4E6B-4BBE-B026-697871055A65}"/>
              </a:ext>
            </a:extLst>
          </p:cNvPr>
          <p:cNvSpPr>
            <a:spLocks noGrp="1"/>
          </p:cNvSpPr>
          <p:nvPr/>
        </p:nvSpPr>
        <p:spPr>
          <a:xfrm>
            <a:off x="4723638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证据约束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89BE0B-ED55-4F32-80BD-DA1DF8B12F78}"/>
              </a:ext>
            </a:extLst>
          </p:cNvPr>
          <p:cNvSpPr>
            <a:spLocks noGrp="1"/>
          </p:cNvSpPr>
          <p:nvPr/>
        </p:nvSpPr>
        <p:spPr>
          <a:xfrm>
            <a:off x="4488240" y="2799904"/>
            <a:ext cx="3213996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结构化生成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引用 ID 校验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F1DF53B-F64E-45C2-8795-216787BFBCEF}"/>
              </a:ext>
            </a:extLst>
          </p:cNvPr>
          <p:cNvSpPr>
            <a:spLocks noGrp="1"/>
          </p:cNvSpPr>
          <p:nvPr/>
        </p:nvSpPr>
        <p:spPr>
          <a:xfrm>
            <a:off x="5738882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02</a:t>
            </a:r>
          </a:p>
        </p:txBody>
      </p:sp>
      <p:sp>
        <p:nvSpPr>
          <p:cNvPr id="43" name="PA-圆角矩形 27">
            <a:extLst>
              <a:ext uri="{FF2B5EF4-FFF2-40B4-BE49-F238E27FC236}">
                <a16:creationId xmlns:a16="http://schemas.microsoft.com/office/drawing/2014/main" id="{893ABC73-6FB4-4020-8A9B-F07E01DEB464}"/>
              </a:ext>
            </a:extLst>
          </p:cNvPr>
          <p:cNvSpPr>
            <a:spLocks noGrp="1"/>
          </p:cNvSpPr>
          <p:nvPr/>
        </p:nvSpPr>
        <p:spPr>
          <a:xfrm>
            <a:off x="8245042" y="1650085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4" name="PA-椭圆 51">
            <a:extLst>
              <a:ext uri="{FF2B5EF4-FFF2-40B4-BE49-F238E27FC236}">
                <a16:creationId xmlns:a16="http://schemas.microsoft.com/office/drawing/2014/main" id="{2DB25371-F64A-44FC-9A91-CF57337E6C8F}"/>
              </a:ext>
            </a:extLst>
          </p:cNvPr>
          <p:cNvSpPr>
            <a:spLocks noGrp="1"/>
          </p:cNvSpPr>
          <p:nvPr/>
        </p:nvSpPr>
        <p:spPr>
          <a:xfrm>
            <a:off x="9656363" y="1846460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C33179A-D975-4DB9-9740-9550A639747B}"/>
              </a:ext>
            </a:extLst>
          </p:cNvPr>
          <p:cNvSpPr>
            <a:spLocks noGrp="1"/>
          </p:cNvSpPr>
          <p:nvPr/>
        </p:nvSpPr>
        <p:spPr>
          <a:xfrm>
            <a:off x="8501989" y="2350279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主动澄清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1A91FC0-F614-49FD-9036-D1B38E8C2FAF}"/>
              </a:ext>
            </a:extLst>
          </p:cNvPr>
          <p:cNvSpPr>
            <a:spLocks noGrp="1"/>
          </p:cNvSpPr>
          <p:nvPr/>
        </p:nvSpPr>
        <p:spPr>
          <a:xfrm>
            <a:off x="8304151" y="2799904"/>
            <a:ext cx="3138877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信息不足先追问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降低误答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2CE4E99-F410-4FC6-B8FF-F2289FE94AB3}"/>
              </a:ext>
            </a:extLst>
          </p:cNvPr>
          <p:cNvSpPr>
            <a:spLocks noGrp="1"/>
          </p:cNvSpPr>
          <p:nvPr/>
        </p:nvSpPr>
        <p:spPr>
          <a:xfrm>
            <a:off x="9517233" y="1860841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03</a:t>
            </a:r>
          </a:p>
        </p:txBody>
      </p:sp>
      <p:sp>
        <p:nvSpPr>
          <p:cNvPr id="48" name="PA-圆角矩形 28">
            <a:extLst>
              <a:ext uri="{FF2B5EF4-FFF2-40B4-BE49-F238E27FC236}">
                <a16:creationId xmlns:a16="http://schemas.microsoft.com/office/drawing/2014/main" id="{677963CF-58B2-4185-958C-C7E539740A9A}"/>
              </a:ext>
            </a:extLst>
          </p:cNvPr>
          <p:cNvSpPr>
            <a:spLocks noGrp="1"/>
          </p:cNvSpPr>
          <p:nvPr/>
        </p:nvSpPr>
        <p:spPr>
          <a:xfrm>
            <a:off x="688340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49" name="PA-椭圆 56">
            <a:extLst>
              <a:ext uri="{FF2B5EF4-FFF2-40B4-BE49-F238E27FC236}">
                <a16:creationId xmlns:a16="http://schemas.microsoft.com/office/drawing/2014/main" id="{3C87EA06-0CDD-4E04-9A0F-521D14879124}"/>
              </a:ext>
            </a:extLst>
          </p:cNvPr>
          <p:cNvSpPr>
            <a:spLocks noGrp="1"/>
          </p:cNvSpPr>
          <p:nvPr/>
        </p:nvSpPr>
        <p:spPr>
          <a:xfrm>
            <a:off x="2099661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A7C0F8D-28A6-4341-8A18-A6CD5DDB8BA7}"/>
              </a:ext>
            </a:extLst>
          </p:cNvPr>
          <p:cNvSpPr>
            <a:spLocks noGrp="1"/>
          </p:cNvSpPr>
          <p:nvPr/>
        </p:nvSpPr>
        <p:spPr>
          <a:xfrm>
            <a:off x="945287" y="4588470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新鲜度防护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41DEC6D-D742-4FC9-A26C-FFDAC1F6C509}"/>
              </a:ext>
            </a:extLst>
          </p:cNvPr>
          <p:cNvSpPr>
            <a:spLocks noGrp="1"/>
          </p:cNvSpPr>
          <p:nvPr/>
        </p:nvSpPr>
        <p:spPr>
          <a:xfrm>
            <a:off x="734378" y="5038095"/>
            <a:ext cx="3165018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陈旧索引阻断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提示重建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FE4C747-340D-4B2C-B520-D606A6D4940C}"/>
              </a:ext>
            </a:extLst>
          </p:cNvPr>
          <p:cNvSpPr>
            <a:spLocks noGrp="1"/>
          </p:cNvSpPr>
          <p:nvPr/>
        </p:nvSpPr>
        <p:spPr>
          <a:xfrm>
            <a:off x="1960531" y="4099032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04</a:t>
            </a:r>
          </a:p>
        </p:txBody>
      </p:sp>
      <p:sp>
        <p:nvSpPr>
          <p:cNvPr id="53" name="PA-圆角矩形 29">
            <a:extLst>
              <a:ext uri="{FF2B5EF4-FFF2-40B4-BE49-F238E27FC236}">
                <a16:creationId xmlns:a16="http://schemas.microsoft.com/office/drawing/2014/main" id="{87184BC9-0CBA-4934-BBEE-C42C7C265E94}"/>
              </a:ext>
            </a:extLst>
          </p:cNvPr>
          <p:cNvSpPr>
            <a:spLocks noGrp="1"/>
          </p:cNvSpPr>
          <p:nvPr/>
        </p:nvSpPr>
        <p:spPr>
          <a:xfrm>
            <a:off x="4466691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5875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4" name="PA-椭圆 61">
            <a:extLst>
              <a:ext uri="{FF2B5EF4-FFF2-40B4-BE49-F238E27FC236}">
                <a16:creationId xmlns:a16="http://schemas.microsoft.com/office/drawing/2014/main" id="{28E9D282-EE0B-4EDD-972C-C79708888758}"/>
              </a:ext>
            </a:extLst>
          </p:cNvPr>
          <p:cNvSpPr>
            <a:spLocks noGrp="1"/>
          </p:cNvSpPr>
          <p:nvPr/>
        </p:nvSpPr>
        <p:spPr>
          <a:xfrm>
            <a:off x="5878012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2860CA41-7939-4356-8172-FBFD26650ED9}"/>
              </a:ext>
            </a:extLst>
          </p:cNvPr>
          <p:cNvSpPr>
            <a:spLocks noGrp="1"/>
          </p:cNvSpPr>
          <p:nvPr/>
        </p:nvSpPr>
        <p:spPr>
          <a:xfrm>
            <a:off x="4723638" y="4585897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场景化回答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36F5F1-CACF-486C-BF3A-280F9F58B425}"/>
              </a:ext>
            </a:extLst>
          </p:cNvPr>
          <p:cNvSpPr>
            <a:spLocks noGrp="1"/>
          </p:cNvSpPr>
          <p:nvPr/>
        </p:nvSpPr>
        <p:spPr>
          <a:xfrm>
            <a:off x="4480924" y="5035522"/>
            <a:ext cx="3228629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场景重放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下一步行动卡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DBEAB99-A29E-44E1-AB9B-365D10816E8C}"/>
              </a:ext>
            </a:extLst>
          </p:cNvPr>
          <p:cNvSpPr>
            <a:spLocks noGrp="1"/>
          </p:cNvSpPr>
          <p:nvPr/>
        </p:nvSpPr>
        <p:spPr>
          <a:xfrm>
            <a:off x="5738882" y="4096459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05</a:t>
            </a:r>
          </a:p>
        </p:txBody>
      </p:sp>
      <p:sp>
        <p:nvSpPr>
          <p:cNvPr id="58" name="PA-圆角矩形 30">
            <a:extLst>
              <a:ext uri="{FF2B5EF4-FFF2-40B4-BE49-F238E27FC236}">
                <a16:creationId xmlns:a16="http://schemas.microsoft.com/office/drawing/2014/main" id="{2ED17F29-4E17-4921-A6A4-13084C875031}"/>
              </a:ext>
            </a:extLst>
          </p:cNvPr>
          <p:cNvSpPr>
            <a:spLocks noGrp="1"/>
          </p:cNvSpPr>
          <p:nvPr/>
        </p:nvSpPr>
        <p:spPr>
          <a:xfrm>
            <a:off x="8245042" y="3903330"/>
            <a:ext cx="3257095" cy="1973942"/>
          </a:xfrm>
          <a:prstGeom prst="roundRect">
            <a:avLst>
              <a:gd name="adj" fmla="val 6373"/>
            </a:avLst>
          </a:prstGeom>
          <a:solidFill>
            <a:srgbClr val="FFFFFF"/>
          </a:solidFill>
          <a:ln w="12700" cmpd="sng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59" name="PA-椭圆 66">
            <a:extLst>
              <a:ext uri="{FF2B5EF4-FFF2-40B4-BE49-F238E27FC236}">
                <a16:creationId xmlns:a16="http://schemas.microsoft.com/office/drawing/2014/main" id="{70DB4994-323F-4CBB-81CC-5405D939B3A4}"/>
              </a:ext>
            </a:extLst>
          </p:cNvPr>
          <p:cNvSpPr>
            <a:spLocks noGrp="1"/>
          </p:cNvSpPr>
          <p:nvPr/>
        </p:nvSpPr>
        <p:spPr>
          <a:xfrm>
            <a:off x="9656363" y="4083834"/>
            <a:ext cx="434452" cy="434452"/>
          </a:xfrm>
          <a:prstGeom prst="ellipse">
            <a:avLst/>
          </a:prstGeom>
          <a:solidFill>
            <a:schemeClr val="accent1"/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prstClr val="white"/>
              </a:solidFill>
              <a:latin typeface="Segoe UI Semilight"/>
              <a:ea typeface="Segoe UI Semilight"/>
              <a:cs typeface="Segoe UI Semilight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D39E093-2ECD-483D-AAAE-A4DFD6957FD5}"/>
              </a:ext>
            </a:extLst>
          </p:cNvPr>
          <p:cNvSpPr>
            <a:spLocks noGrp="1"/>
          </p:cNvSpPr>
          <p:nvPr/>
        </p:nvSpPr>
        <p:spPr>
          <a:xfrm>
            <a:off x="8501989" y="4603124"/>
            <a:ext cx="2743200" cy="46166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400" b="1" spc="120">
                <a:solidFill>
                  <a:schemeClr val="accent1"/>
                </a:solidFill>
                <a:latin typeface="Microsoft YaHei"/>
                <a:ea typeface="Microsoft YaHei"/>
                <a:cs typeface="Microsoft YaHei"/>
              </a:rPr>
              <a:t>反馈运营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8993099-C0CE-4D78-9732-ED67240143F9}"/>
              </a:ext>
            </a:extLst>
          </p:cNvPr>
          <p:cNvSpPr>
            <a:spLocks noGrp="1"/>
          </p:cNvSpPr>
          <p:nvPr/>
        </p:nvSpPr>
        <p:spPr>
          <a:xfrm>
            <a:off x="8304151" y="5052749"/>
            <a:ext cx="3138877" cy="804672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满意度闭环</a:t>
            </a:r>
            <a:endParaRPr kern="0" spc="50">
              <a:solidFill>
                <a:srgbClr val="0C0C0C"/>
              </a:solidFill>
              <a:latin typeface="微软雅黑 Light"/>
              <a:ea typeface="微软雅黑 Light"/>
              <a:cs typeface="微软雅黑 Light"/>
            </a:endParaRPr>
          </a:p>
          <a:p>
            <a:pPr lvl="0" algn="ctr" defTabSz="457200">
              <a:lnSpc>
                <a:spcPct val="130000"/>
              </a:lnSpc>
              <a:buNone/>
            </a:pPr>
            <a:r>
              <a:rPr spc="50">
                <a:solidFill>
                  <a:srgbClr val="0C0C0C"/>
                </a:solidFill>
                <a:latin typeface="微软雅黑 Light"/>
                <a:ea typeface="微软雅黑 Light"/>
                <a:cs typeface="微软雅黑 Light"/>
              </a:rPr>
              <a:t>失败查询 Top5</a:t>
            </a:r>
            <a:endParaRPr spc="120">
              <a:solidFill>
                <a:srgbClr val="262626"/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5E2199A-472E-46D0-B39D-11BAE31F07F5}"/>
              </a:ext>
            </a:extLst>
          </p:cNvPr>
          <p:cNvSpPr>
            <a:spLocks noGrp="1"/>
          </p:cNvSpPr>
          <p:nvPr/>
        </p:nvSpPr>
        <p:spPr>
          <a:xfrm>
            <a:off x="9517233" y="4113686"/>
            <a:ext cx="740717" cy="400110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None/>
            </a:pPr>
            <a:r>
              <a:rPr sz="2000" b="1" spc="120">
                <a:solidFill>
                  <a:srgbClr val="FFFFFF"/>
                </a:solidFill>
                <a:latin typeface="Agency FB"/>
                <a:ea typeface="Agency FB"/>
                <a:cs typeface="Agency FB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219143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67CB3D05-11C7-47D1-AC02-FCF170AE1D84}"/>
              </a:ext>
            </a:extLst>
          </p:cNvPr>
          <p:cNvSpPr>
            <a:spLocks noGrp="1"/>
          </p:cNvSpPr>
          <p:nvPr/>
        </p:nvSpPr>
        <p:spPr>
          <a:xfrm>
            <a:off x="299356" y="260648"/>
            <a:ext cx="43204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688B40-85F4-4889-B653-91925FFA1CAE}"/>
              </a:ext>
            </a:extLst>
          </p:cNvPr>
          <p:cNvSpPr>
            <a:spLocks noGrp="1"/>
          </p:cNvSpPr>
          <p:nvPr/>
        </p:nvSpPr>
        <p:spPr>
          <a:xfrm>
            <a:off x="479376" y="438854"/>
            <a:ext cx="504056" cy="50405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36">
            <a:extLst>
              <a:ext uri="{FF2B5EF4-FFF2-40B4-BE49-F238E27FC236}">
                <a16:creationId xmlns:a16="http://schemas.microsoft.com/office/drawing/2014/main" id="{E939BF92-B2C0-4251-A6F1-EDCF02D7C038}"/>
              </a:ext>
            </a:extLst>
          </p:cNvPr>
          <p:cNvSpPr>
            <a:spLocks noGrp="1"/>
          </p:cNvSpPr>
          <p:nvPr/>
        </p:nvSpPr>
        <p:spPr>
          <a:xfrm>
            <a:off x="1163452" y="260648"/>
            <a:ext cx="3011081" cy="56169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验收结论</a:t>
            </a:r>
            <a:endParaRPr sz="3200" b="1" i="0" u="none" kern="1200" cap="none" spc="0" baseline="0">
              <a:ln>
                <a:noFill/>
              </a:ln>
              <a:solidFill>
                <a:schemeClr val="accent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AEC719-10BF-4E1E-B911-2D43FE6DB8B6}"/>
              </a:ext>
            </a:extLst>
          </p:cNvPr>
          <p:cNvSpPr>
            <a:spLocks noGrp="1"/>
          </p:cNvSpPr>
          <p:nvPr/>
        </p:nvSpPr>
        <p:spPr>
          <a:xfrm>
            <a:off x="10635827" y="6428534"/>
            <a:ext cx="11865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000" b="1" i="0" u="none" cap="none" spc="0">
                <a:ln>
                  <a:noFill/>
                </a:ln>
                <a:solidFill>
                  <a:srgbClr val="D2D2D2"/>
                </a:solidFill>
                <a:latin typeface="Calibri"/>
                <a:ea typeface="Calibri"/>
                <a:cs typeface="Calibri"/>
              </a:rPr>
              <a:t>2026.08.28</a:t>
            </a:r>
            <a:endParaRPr sz="2000" b="1" i="0" u="none" kern="1200" cap="none" spc="0" baseline="30000">
              <a:ln>
                <a:noFill/>
              </a:ln>
              <a:solidFill>
                <a:srgbClr val="D2D2D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箭头: 下 1">
            <a:extLst>
              <a:ext uri="{FF2B5EF4-FFF2-40B4-BE49-F238E27FC236}">
                <a16:creationId xmlns:a16="http://schemas.microsoft.com/office/drawing/2014/main" id="{4EF2A33D-FC0B-4BBE-86E0-20430D4AC49B}"/>
              </a:ext>
            </a:extLst>
          </p:cNvPr>
          <p:cNvSpPr>
            <a:spLocks noGrp="1"/>
          </p:cNvSpPr>
          <p:nvPr/>
        </p:nvSpPr>
        <p:spPr>
          <a:xfrm flipV="1">
            <a:off x="1547709" y="2670631"/>
            <a:ext cx="9131359" cy="2340488"/>
          </a:xfrm>
          <a:custGeom>
            <a:avLst/>
            <a:gdLst>
              <a:gd name="connsiteX0" fmla="*/ 0 w 4125547"/>
              <a:gd name="connsiteY0" fmla="*/ 1993527 h 2825934"/>
              <a:gd name="connsiteX1" fmla="*/ 675723 w 4125547"/>
              <a:gd name="connsiteY1" fmla="*/ 1993527 h 2825934"/>
              <a:gd name="connsiteX2" fmla="*/ 675723 w 4125547"/>
              <a:gd name="connsiteY2" fmla="*/ 0 h 2825934"/>
              <a:gd name="connsiteX3" fmla="*/ 3449824 w 4125547"/>
              <a:gd name="connsiteY3" fmla="*/ 0 h 2825934"/>
              <a:gd name="connsiteX4" fmla="*/ 3449824 w 4125547"/>
              <a:gd name="connsiteY4" fmla="*/ 1993527 h 2825934"/>
              <a:gd name="connsiteX5" fmla="*/ 4125547 w 4125547"/>
              <a:gd name="connsiteY5" fmla="*/ 1993527 h 2825934"/>
              <a:gd name="connsiteX6" fmla="*/ 2062774 w 4125547"/>
              <a:gd name="connsiteY6" fmla="*/ 2825934 h 2825934"/>
              <a:gd name="connsiteX7" fmla="*/ 0 w 4125547"/>
              <a:gd name="connsiteY7" fmla="*/ 1993527 h 2825934"/>
              <a:gd name="connsiteX0" fmla="*/ 2299706 w 6425253"/>
              <a:gd name="connsiteY0" fmla="*/ 2022556 h 2854963"/>
              <a:gd name="connsiteX1" fmla="*/ 2975429 w 6425253"/>
              <a:gd name="connsiteY1" fmla="*/ 2022556 h 2854963"/>
              <a:gd name="connsiteX2" fmla="*/ 0 w 6425253"/>
              <a:gd name="connsiteY2" fmla="*/ 0 h 2854963"/>
              <a:gd name="connsiteX3" fmla="*/ 5749530 w 6425253"/>
              <a:gd name="connsiteY3" fmla="*/ 29029 h 2854963"/>
              <a:gd name="connsiteX4" fmla="*/ 5749530 w 6425253"/>
              <a:gd name="connsiteY4" fmla="*/ 2022556 h 2854963"/>
              <a:gd name="connsiteX5" fmla="*/ 6425253 w 6425253"/>
              <a:gd name="connsiteY5" fmla="*/ 2022556 h 2854963"/>
              <a:gd name="connsiteX6" fmla="*/ 4362480 w 6425253"/>
              <a:gd name="connsiteY6" fmla="*/ 2854963 h 2854963"/>
              <a:gd name="connsiteX7" fmla="*/ 2299706 w 6425253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  <a:gd name="connsiteX0" fmla="*/ 2299706 w 9131359"/>
              <a:gd name="connsiteY0" fmla="*/ 2022556 h 2854963"/>
              <a:gd name="connsiteX1" fmla="*/ 2975429 w 9131359"/>
              <a:gd name="connsiteY1" fmla="*/ 2022556 h 2854963"/>
              <a:gd name="connsiteX2" fmla="*/ 0 w 9131359"/>
              <a:gd name="connsiteY2" fmla="*/ 0 h 2854963"/>
              <a:gd name="connsiteX3" fmla="*/ 9131359 w 9131359"/>
              <a:gd name="connsiteY3" fmla="*/ 58057 h 2854963"/>
              <a:gd name="connsiteX4" fmla="*/ 5749530 w 9131359"/>
              <a:gd name="connsiteY4" fmla="*/ 2022556 h 2854963"/>
              <a:gd name="connsiteX5" fmla="*/ 6425253 w 9131359"/>
              <a:gd name="connsiteY5" fmla="*/ 2022556 h 2854963"/>
              <a:gd name="connsiteX6" fmla="*/ 4362480 w 9131359"/>
              <a:gd name="connsiteY6" fmla="*/ 2854963 h 2854963"/>
              <a:gd name="connsiteX7" fmla="*/ 2299706 w 9131359"/>
              <a:gd name="connsiteY7" fmla="*/ 2022556 h 2854963"/>
            </a:gdLst>
            <a:ahLst/>
            <a:cxnLst/>
            <a:rect l="l" t="t" r="r" b="b"/>
            <a:pathLst>
              <a:path w="9131359" h="2854963">
                <a:moveTo>
                  <a:pt x="2299706" y="2022556"/>
                </a:moveTo>
                <a:lnTo>
                  <a:pt x="2975429" y="2022556"/>
                </a:lnTo>
                <a:cubicBezTo>
                  <a:pt x="2433561" y="1072600"/>
                  <a:pt x="1383696" y="514528"/>
                  <a:pt x="0" y="0"/>
                </a:cubicBezTo>
                <a:lnTo>
                  <a:pt x="9131359" y="58057"/>
                </a:lnTo>
                <a:cubicBezTo>
                  <a:pt x="7191283" y="408090"/>
                  <a:pt x="6513949" y="1091952"/>
                  <a:pt x="5749530" y="2022556"/>
                </a:cubicBezTo>
                <a:lnTo>
                  <a:pt x="6425253" y="2022556"/>
                </a:lnTo>
                <a:lnTo>
                  <a:pt x="4362480" y="2854963"/>
                </a:lnTo>
                <a:lnTo>
                  <a:pt x="2299706" y="2022556"/>
                </a:lnTo>
                <a:close/>
              </a:path>
            </a:pathLst>
          </a:custGeom>
          <a:gradFill rotWithShape="1">
            <a:gsLst>
              <a:gs pos="100000">
                <a:schemeClr val="accent1"/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18CAA58-16E7-41CC-9C76-21CD5BE2F1FC}"/>
              </a:ext>
            </a:extLst>
          </p:cNvPr>
          <p:cNvSpPr>
            <a:spLocks noGrp="1"/>
          </p:cNvSpPr>
          <p:nvPr/>
        </p:nvSpPr>
        <p:spPr>
          <a:xfrm>
            <a:off x="698297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6FB1AC-7097-4BFA-B6C7-E5AF4C78D897}"/>
              </a:ext>
            </a:extLst>
          </p:cNvPr>
          <p:cNvSpPr>
            <a:spLocks noGrp="1"/>
          </p:cNvSpPr>
          <p:nvPr/>
        </p:nvSpPr>
        <p:spPr>
          <a:xfrm>
            <a:off x="623392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功能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18/18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A764BAF-3C31-4FAC-8B79-E9E50A9F5DF9}"/>
              </a:ext>
            </a:extLst>
          </p:cNvPr>
          <p:cNvSpPr>
            <a:spLocks noGrp="1"/>
          </p:cNvSpPr>
          <p:nvPr/>
        </p:nvSpPr>
        <p:spPr>
          <a:xfrm>
            <a:off x="2970593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48F37F5-FEDC-40D8-ADF1-C5111C96391D}"/>
              </a:ext>
            </a:extLst>
          </p:cNvPr>
          <p:cNvSpPr>
            <a:spLocks noGrp="1"/>
          </p:cNvSpPr>
          <p:nvPr/>
        </p:nvSpPr>
        <p:spPr>
          <a:xfrm>
            <a:off x="5242885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242FAAD-BB1D-47B2-89C0-EDF99B6FC5D3}"/>
              </a:ext>
            </a:extLst>
          </p:cNvPr>
          <p:cNvSpPr>
            <a:spLocks noGrp="1"/>
          </p:cNvSpPr>
          <p:nvPr/>
        </p:nvSpPr>
        <p:spPr>
          <a:xfrm>
            <a:off x="7515185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E995535-B0AA-4261-B20C-A5A4EA1C82E5}"/>
              </a:ext>
            </a:extLst>
          </p:cNvPr>
          <p:cNvSpPr>
            <a:spLocks noGrp="1"/>
          </p:cNvSpPr>
          <p:nvPr/>
        </p:nvSpPr>
        <p:spPr>
          <a:xfrm>
            <a:off x="9787482" y="3719914"/>
            <a:ext cx="1514794" cy="1514794"/>
          </a:xfrm>
          <a:prstGeom prst="ellipse">
            <a:avLst/>
          </a:prstGeom>
          <a:noFill/>
          <a:ln w="28575" cmpd="thinThick">
            <a:solidFill>
              <a:schemeClr val="accent1"/>
            </a:solidFill>
            <a:prstDash val="solid"/>
            <a:tailEnd type="triangle" w="lg" len="lg"/>
          </a:ln>
        </p:spPr>
        <p:txBody>
          <a:bodyPr rot="0" spcFirstLastPara="0" vert="horz" wrap="square" lIns="60960" tIns="30480" rIns="60960" bIns="30480" anchor="ctr">
            <a:no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900" b="0" i="0" u="none" kern="0" cap="none" spc="0" baseline="0">
              <a:ln>
                <a:noFill/>
              </a:ln>
              <a:solidFill>
                <a:prstClr val="white"/>
              </a:solidFill>
              <a:latin typeface="DIN"/>
              <a:ea typeface="DIN"/>
              <a:cs typeface="DIN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13F3B8-E7D3-4ECF-B1B8-9C67889543A7}"/>
              </a:ext>
            </a:extLst>
          </p:cNvPr>
          <p:cNvSpPr>
            <a:spLocks noGrp="1"/>
          </p:cNvSpPr>
          <p:nvPr/>
        </p:nvSpPr>
        <p:spPr>
          <a:xfrm>
            <a:off x="2219999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9A20F77-923B-48F9-8192-630C7212CD63}"/>
              </a:ext>
            </a:extLst>
          </p:cNvPr>
          <p:cNvSpPr>
            <a:spLocks noGrp="1"/>
          </p:cNvSpPr>
          <p:nvPr/>
        </p:nvSpPr>
        <p:spPr>
          <a:xfrm>
            <a:off x="4502703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F64240B-616D-4FDC-8C46-EEB477E90562}"/>
              </a:ext>
            </a:extLst>
          </p:cNvPr>
          <p:cNvSpPr>
            <a:spLocks noGrp="1"/>
          </p:cNvSpPr>
          <p:nvPr/>
        </p:nvSpPr>
        <p:spPr>
          <a:xfrm>
            <a:off x="6767720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A414929-2B97-418B-B0F9-DF240ABED147}"/>
              </a:ext>
            </a:extLst>
          </p:cNvPr>
          <p:cNvSpPr>
            <a:spLocks noGrp="1"/>
          </p:cNvSpPr>
          <p:nvPr/>
        </p:nvSpPr>
        <p:spPr>
          <a:xfrm>
            <a:off x="9034998" y="4366343"/>
            <a:ext cx="73741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E4D7ED-1D7C-408D-90A6-2BD528ACE8D7}"/>
              </a:ext>
            </a:extLst>
          </p:cNvPr>
          <p:cNvSpPr>
            <a:spLocks noGrp="1"/>
          </p:cNvSpPr>
          <p:nvPr/>
        </p:nvSpPr>
        <p:spPr>
          <a:xfrm>
            <a:off x="4710250" y="1577796"/>
            <a:ext cx="249299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457200">
              <a:buNone/>
            </a:pPr>
            <a:r>
              <a:rPr sz="6000" b="1">
                <a:solidFill>
                  <a:schemeClr val="accent1"/>
                </a:solidFill>
                <a:effectLst>
                  <a:outerShdw blurRad="520700" algn="ctr" rotWithShape="0">
                    <a:srgbClr val="FFFFFF">
                      <a:lumMod val="95000"/>
                      <a:alpha val="44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可运行 · 可验证 · 可解释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6594DD7-3399-48E1-B842-FAA86947F656}"/>
              </a:ext>
            </a:extLst>
          </p:cNvPr>
          <p:cNvSpPr>
            <a:spLocks noGrp="1"/>
          </p:cNvSpPr>
          <p:nvPr/>
        </p:nvSpPr>
        <p:spPr>
          <a:xfrm>
            <a:off x="2897758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测试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全通过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817B289-1395-4CF7-BFA5-3B604DE1C394}"/>
              </a:ext>
            </a:extLst>
          </p:cNvPr>
          <p:cNvSpPr>
            <a:spLocks noGrp="1"/>
          </p:cNvSpPr>
          <p:nvPr/>
        </p:nvSpPr>
        <p:spPr>
          <a:xfrm>
            <a:off x="5169425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检索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可追溯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40FE19-DDD6-4F92-9664-F0E43F124FFA}"/>
              </a:ext>
            </a:extLst>
          </p:cNvPr>
          <p:cNvSpPr>
            <a:spLocks noGrp="1"/>
          </p:cNvSpPr>
          <p:nvPr/>
        </p:nvSpPr>
        <p:spPr>
          <a:xfrm>
            <a:off x="7439320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协作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可复盘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02E350D-B535-4859-8FD5-273BDDB9C827}"/>
              </a:ext>
            </a:extLst>
          </p:cNvPr>
          <p:cNvSpPr>
            <a:spLocks noGrp="1"/>
          </p:cNvSpPr>
          <p:nvPr/>
        </p:nvSpPr>
        <p:spPr>
          <a:xfrm>
            <a:off x="9725151" y="4212394"/>
            <a:ext cx="1664605" cy="944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创新</a:t>
            </a:r>
          </a:p>
          <a:p>
            <a:pPr algn="ctr" defTabSz="457200">
              <a:buNone/>
            </a:pPr>
            <a:r>
              <a:rPr sz="2100" b="1" spc="3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可落地</a:t>
            </a:r>
          </a:p>
        </p:txBody>
      </p:sp>
    </p:spTree>
    <p:extLst>
      <p:ext uri="{BB962C8B-B14F-4D97-AF65-F5344CB8AC3E}">
        <p14:creationId xmlns:p14="http://schemas.microsoft.com/office/powerpoint/2010/main" val="3072855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04B9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Microsoft Office PowerPoint</Application>
  <DocSecurity>0</DocSecurity>
  <PresentationFormat>宽屏</PresentationFormat>
  <Paragraphs>285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AvantGarde Md BT</vt:lpstr>
      <vt:lpstr>DIN</vt:lpstr>
      <vt:lpstr>方正舒体</vt:lpstr>
      <vt:lpstr>黑体</vt:lpstr>
      <vt:lpstr>微软雅黑</vt:lpstr>
      <vt:lpstr>微软雅黑</vt:lpstr>
      <vt:lpstr>微软雅黑 Light</vt:lpstr>
      <vt:lpstr>Agency FB</vt:lpstr>
      <vt:lpstr>Arial</vt:lpstr>
      <vt:lpstr>Calibri</vt:lpstr>
      <vt:lpstr>Roboto Light</vt:lpstr>
      <vt:lpstr>Segoe UI</vt:lpstr>
      <vt:lpstr>Segoe UI Semilight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欣芮 肖</cp:lastModifiedBy>
  <cp:revision>1</cp:revision>
  <dcterms:created xsi:type="dcterms:W3CDTF">2026-08-28T13:28:55Z</dcterms:created>
  <dcterms:modified xsi:type="dcterms:W3CDTF">2026-08-29T00:30:11Z</dcterms:modified>
</cp:coreProperties>
</file>