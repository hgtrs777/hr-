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b5d24e0985411d" /><Relationship Type="http://schemas.openxmlformats.org/officeDocument/2006/relationships/extended-properties" Target="/docProps/app.xml" Id="R1f36957b8d5d4dec" /><Relationship Type="http://schemas.openxmlformats.org/officeDocument/2006/relationships/officeDocument" Target="/ppt/presentation.xml" Id="R3fb926e48d5d46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e739675bf240f2"/>
    <p:sldMasterId xmlns:r="http://schemas.openxmlformats.org/officeDocument/2006/relationships" id="2147483660" r:id="R188239adefef4033"/>
  </p:sldMasterIdLst>
  <p:notesMasterIdLst>
    <p:notesMasterId xmlns:r="http://schemas.openxmlformats.org/officeDocument/2006/relationships" r:id="Rf3aa9ed9f2c6419c"/>
  </p:notesMasterIdLst>
  <p:sldIdLst>
    <p:sldId xmlns:r="http://schemas.openxmlformats.org/officeDocument/2006/relationships" id="256" r:id="R0c2882cbe2bd4c04"/>
    <p:sldId xmlns:r="http://schemas.openxmlformats.org/officeDocument/2006/relationships" id="257" r:id="R5e36392c32314806"/>
    <p:sldId xmlns:r="http://schemas.openxmlformats.org/officeDocument/2006/relationships" id="258" r:id="R9e5b5de66e5b43f4"/>
    <p:sldId xmlns:r="http://schemas.openxmlformats.org/officeDocument/2006/relationships" id="259" r:id="Reafcd87b04cc4341"/>
    <p:sldId xmlns:r="http://schemas.openxmlformats.org/officeDocument/2006/relationships" id="260" r:id="R0953d4dcc5dd4fb0"/>
    <p:sldId xmlns:r="http://schemas.openxmlformats.org/officeDocument/2006/relationships" id="261" r:id="Ref3ca58ebf7a4e1c"/>
    <p:sldId xmlns:r="http://schemas.openxmlformats.org/officeDocument/2006/relationships" id="262" r:id="R6020cac56ee9440e"/>
    <p:sldId xmlns:r="http://schemas.openxmlformats.org/officeDocument/2006/relationships" id="263" r:id="Rb950c752bbef4acd"/>
    <p:sldId xmlns:r="http://schemas.openxmlformats.org/officeDocument/2006/relationships" id="264" r:id="Re1a398f82ae2452b"/>
    <p:sldId xmlns:r="http://schemas.openxmlformats.org/officeDocument/2006/relationships" id="265" r:id="R1dfa13b00ad4433d"/>
    <p:sldId xmlns:r="http://schemas.openxmlformats.org/officeDocument/2006/relationships" id="266" r:id="Rd3979d0f24b74c0e"/>
    <p:sldId xmlns:r="http://schemas.openxmlformats.org/officeDocument/2006/relationships" id="267" r:id="Ra01667abfdbc4ced"/>
    <p:sldId xmlns:r="http://schemas.openxmlformats.org/officeDocument/2006/relationships" id="268" r:id="Rb5a20c9019ae431e"/>
    <p:sldId xmlns:r="http://schemas.openxmlformats.org/officeDocument/2006/relationships" id="269" r:id="R28352b8964af4146"/>
    <p:sldId xmlns:r="http://schemas.openxmlformats.org/officeDocument/2006/relationships" id="270" r:id="Rfed56a1c048a46b8"/>
    <p:sldId xmlns:r="http://schemas.openxmlformats.org/officeDocument/2006/relationships" id="271" r:id="Ra0b30525017e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a203d4206b4b6b" /><Relationship Type="http://schemas.openxmlformats.org/officeDocument/2006/relationships/slideMaster" Target="/ppt/slideMasters/slideMaster1.xml" Id="Rbae739675bf240f2" /><Relationship Type="http://schemas.openxmlformats.org/officeDocument/2006/relationships/slideMaster" Target="/ppt/slideMasters/slideMaster2.xml" Id="R188239adefef4033" /><Relationship Type="http://schemas.openxmlformats.org/officeDocument/2006/relationships/notesMaster" Target="/ppt/notesMasters/notesMaster1.xml" Id="Rf3aa9ed9f2c6419c" /><Relationship Type="http://schemas.openxmlformats.org/officeDocument/2006/relationships/presProps" Target="/ppt/presProps.xml" Id="Rce452ea7fed64252" /><Relationship Type="http://schemas.openxmlformats.org/officeDocument/2006/relationships/viewProps" Target="/ppt/viewProps.xml" Id="Rbee2573820154efc" /><Relationship Type="http://schemas.openxmlformats.org/officeDocument/2006/relationships/tableStyles" Target="/ppt/tableStyles.xml" Id="R66dce18e8b1042c3" /><Relationship Type="http://schemas.openxmlformats.org/officeDocument/2006/relationships/slide" Target="/ppt/slides/slide1.xml" Id="R0c2882cbe2bd4c04" /><Relationship Type="http://schemas.openxmlformats.org/officeDocument/2006/relationships/slide" Target="/ppt/slides/slide2.xml" Id="R5e36392c32314806" /><Relationship Type="http://schemas.openxmlformats.org/officeDocument/2006/relationships/slide" Target="/ppt/slides/slide3.xml" Id="R9e5b5de66e5b43f4" /><Relationship Type="http://schemas.openxmlformats.org/officeDocument/2006/relationships/slide" Target="/ppt/slides/slide4.xml" Id="Reafcd87b04cc4341" /><Relationship Type="http://schemas.openxmlformats.org/officeDocument/2006/relationships/slide" Target="/ppt/slides/slide5.xml" Id="R0953d4dcc5dd4fb0" /><Relationship Type="http://schemas.openxmlformats.org/officeDocument/2006/relationships/slide" Target="/ppt/slides/slide6.xml" Id="Ref3ca58ebf7a4e1c" /><Relationship Type="http://schemas.openxmlformats.org/officeDocument/2006/relationships/slide" Target="/ppt/slides/slide7.xml" Id="R6020cac56ee9440e" /><Relationship Type="http://schemas.openxmlformats.org/officeDocument/2006/relationships/slide" Target="/ppt/slides/slide8.xml" Id="Rb950c752bbef4acd" /><Relationship Type="http://schemas.openxmlformats.org/officeDocument/2006/relationships/slide" Target="/ppt/slides/slide9.xml" Id="Re1a398f82ae2452b" /><Relationship Type="http://schemas.openxmlformats.org/officeDocument/2006/relationships/slide" Target="/ppt/slides/slide10.xml" Id="R1dfa13b00ad4433d" /><Relationship Type="http://schemas.openxmlformats.org/officeDocument/2006/relationships/slide" Target="/ppt/slides/slide11.xml" Id="Rd3979d0f24b74c0e" /><Relationship Type="http://schemas.openxmlformats.org/officeDocument/2006/relationships/slide" Target="/ppt/slides/slide12.xml" Id="Ra01667abfdbc4ced" /><Relationship Type="http://schemas.openxmlformats.org/officeDocument/2006/relationships/slide" Target="/ppt/slides/slide13.xml" Id="Rb5a20c9019ae431e" /><Relationship Type="http://schemas.openxmlformats.org/officeDocument/2006/relationships/slide" Target="/ppt/slides/slide14.xml" Id="R28352b8964af4146" /><Relationship Type="http://schemas.openxmlformats.org/officeDocument/2006/relationships/slide" Target="/ppt/slides/slide15.xml" Id="Rfed56a1c048a46b8" /><Relationship Type="http://schemas.openxmlformats.org/officeDocument/2006/relationships/slide" Target="/ppt/slides/slide16.xml" Id="Ra0b30525017e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d4b58c8e81047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016b3e43e44c9" /><Relationship Type="http://schemas.openxmlformats.org/officeDocument/2006/relationships/notesMaster" Target="/ppt/notesMasters/notesMaster1.xml" Id="R6403c40218a94f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3278a3449e41f3" /><Relationship Type="http://schemas.openxmlformats.org/officeDocument/2006/relationships/notesMaster" Target="/ppt/notesMasters/notesMaster1.xml" Id="R6b1d36bae8db47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a32ab74ba4dc5" /><Relationship Type="http://schemas.openxmlformats.org/officeDocument/2006/relationships/notesMaster" Target="/ppt/notesMasters/notesMaster1.xml" Id="Redbb94dc2322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abbe98fdd84504" /><Relationship Type="http://schemas.openxmlformats.org/officeDocument/2006/relationships/notesMaster" Target="/ppt/notesMasters/notesMaster1.xml" Id="R5394b0d7e3a046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743c1b7af846cc" /><Relationship Type="http://schemas.openxmlformats.org/officeDocument/2006/relationships/notesMaster" Target="/ppt/notesMasters/notesMaster1.xml" Id="Raeccf7ce87564d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06a11e6fc0499e" /><Relationship Type="http://schemas.openxmlformats.org/officeDocument/2006/relationships/notesMaster" Target="/ppt/notesMasters/notesMaster1.xml" Id="R92e9eec00710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ff6fa623540b6" /><Relationship Type="http://schemas.openxmlformats.org/officeDocument/2006/relationships/notesMaster" Target="/ppt/notesMasters/notesMaster1.xml" Id="Rfe9aa4f9bf0f42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7e19b33904631" /><Relationship Type="http://schemas.openxmlformats.org/officeDocument/2006/relationships/notesMaster" Target="/ppt/notesMasters/notesMaster1.xml" Id="R0c895dcd0d4b4a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7125708485477f" /><Relationship Type="http://schemas.openxmlformats.org/officeDocument/2006/relationships/notesMaster" Target="/ppt/notesMasters/notesMaster1.xml" Id="R2e00bcf77e5c47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65b84203574936" /><Relationship Type="http://schemas.openxmlformats.org/officeDocument/2006/relationships/notesMaster" Target="/ppt/notesMasters/notesMaster1.xml" Id="Rd670445b26134a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28739b2f3d46d1" /><Relationship Type="http://schemas.openxmlformats.org/officeDocument/2006/relationships/notesMaster" Target="/ppt/notesMasters/notesMaster1.xml" Id="Rca7844451c5d4b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2d600c84b849ec" /><Relationship Type="http://schemas.openxmlformats.org/officeDocument/2006/relationships/notesMaster" Target="/ppt/notesMasters/notesMaster1.xml" Id="R9d64957ded194d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09ed5a388644c4" /><Relationship Type="http://schemas.openxmlformats.org/officeDocument/2006/relationships/notesMaster" Target="/ppt/notesMasters/notesMaster1.xml" Id="R45e91a14e1d541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56eff0a9c6429d" /><Relationship Type="http://schemas.openxmlformats.org/officeDocument/2006/relationships/notesMaster" Target="/ppt/notesMasters/notesMaster1.xml" Id="Ra8a22649934341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5a9663c91f4819" /><Relationship Type="http://schemas.openxmlformats.org/officeDocument/2006/relationships/notesMaster" Target="/ppt/notesMasters/notesMaster1.xml" Id="R33b77bab2cad41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6de290746a4b90" /><Relationship Type="http://schemas.openxmlformats.org/officeDocument/2006/relationships/notesMaster" Target="/ppt/notesMasters/notesMaster1.xml" Id="R2c1702585f6846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开场：企业制度问答的难点不是让模型“会说”，而是让答案在具体情景下可办理、可追溯、不过期。指导教师姓名未在项目材料中出现，未写入未核实信息。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结构借鉴参考答辩稿的四章组织，但内容、证据和视觉均基于本项目与现有重庆大学模板。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第一章回答三个问题：为何建设、交付了什么、如何证明成果成立。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系统提供员工问答端与 HR 管理端两个入口，数据洞察属于 HR 控制台模块。最终交付已增加员工演示账号登录；系统仍不接入真实员工身份、档案、薪资或考勤审批。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项目文件：04_源代码/需求PRD.md</a:t>
            </a:r>
          </a:p>
          <a:p xmlns:a="http://schemas.openxmlformats.org/drawingml/2006/main">
            <a:r>
              <a:t>- 项目文件：04_源代码/docs/development-handoff.md</a:t>
            </a:r>
          </a:p>
          <a:p xmlns:a="http://schemas.openxmlformats.org/drawingml/2006/main">
            <a:r>
              <a:t>- 项目文件：04_源代码/docs/user-manual.md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六类能力形成“问答—证据—治理—复测”的业务闭环。认证口径以最终交付为准：员工与 HR 均有演示账号，但系统不连接真实员工身份库。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项目文件：04_源代码/docs/requirements-traceability.md</a:t>
            </a:r>
          </a:p>
          <a:p xmlns:a="http://schemas.openxmlformats.org/drawingml/2006/main">
            <a:r>
              <a:t>- 项目文件：04_源代码/docs/development-handoff.md</a:t>
            </a:r>
          </a:p>
          <a:p xmlns:a="http://schemas.openxmlformats.org/drawingml/2006/main">
            <a:r>
              <a:t>- 项目文件：04_源代码/docs/user-manual.md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BGE 与 BM25 提供候选证据，RRF 融合 Top 5；DeepSeek 只负责基于证据组织结构化回答。服务端校验证据 ID、启用版本、数字与相关性。证据不足直接拒答；DeepSeek 未配置、超时或返回非法结构时，仅展示本地制度证据。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项目文件：04_源代码/docs/development-handoff.md</a:t>
            </a:r>
          </a:p>
          <a:p xmlns:a="http://schemas.openxmlformats.org/drawingml/2006/main">
            <a:r>
              <a:t>- 项目文件：04_源代码/docs/user-manual.md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Recall@3 为自建 25 题检索评测集上的 25/25，不等同真实企业问题 100% 准确。后续需要教师问题、同学盲测和对抗性问题降低自测偏差。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项目文件：04_源代码/docs/test-report.md</a:t>
            </a:r>
          </a:p>
          <a:p xmlns:a="http://schemas.openxmlformats.org/drawingml/2006/main"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第二章关注的不是 AI 使用量，而是能否发现偏差、验证事实并明确能力边界。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纠错不是否定 AI，而是用需求、里程碑和运行证据约束 AI 的推断。冷启动案例最终完成清端口、独立启动及前后端健康检查。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六类证据互相约束。边界包括：SQLite 面向课程演示和轻量数据；DeepSeek 依赖配置与网络，但异常时系统降级为本地证据；检索评测集仍需扩展。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项目文件：04_源代码/docs/test-report.md</a:t>
            </a:r>
          </a:p>
          <a:p xmlns:a="http://schemas.openxmlformats.org/drawingml/2006/main">
            <a:r>
              <a:t>- 项目文件：04_源代码/docs/development-handoff.md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第三章分别说明有效迭代轮次，以及人在判断、AI在执行、双方共同定标准的职责结构。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开发阶段支持 5000/5173 前后端分离；最终本地交付由 Waitress 在 127.0.0.1:5000 托管完整网站。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项目文件：04_源代码/docs/development-handoff.md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本页的 Codex 是开发过程协作工具；第 6、15 页的 DeepSeek 是产品运行时模型。前者参与方案、编码与验证，后者只在本地证据约束下组织回答。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项目文件：03_人机交互对话/人机交互对话.md</a:t>
            </a:r>
          </a:p>
          <a:p xmlns:a="http://schemas.openxmlformats.org/drawingml/2006/main">
            <a:r>
              <a:t>- 项目文件：04_源代码/docs/development-handoff.md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第四章只陈述已经实现并有代码或测试证据支撑的创新，不将设想写成成果。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三项创新分别解决三个问题：情景决策沙盘回答“是否适用、下一步怎么办”；DeepSeek 可信协同回答“如何说清且不乱说”；知识共创闭环回答“系统如何随真实问题持续改进”。下排均为本地真实运行截图。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项目文件：04_源代码/docs/development-handoff.md</a:t>
            </a:r>
          </a:p>
          <a:p xmlns:a="http://schemas.openxmlformats.org/drawingml/2006/main">
            <a:r>
              <a:t>- 项目文件：04_源代码/docs/requirements-traceability.md</a:t>
            </a:r>
          </a:p>
          <a:p xmlns:a="http://schemas.openxmlformats.org/drawingml/2006/main">
            <a:r>
              <a:t>- 本地运行截图：员工端主动澄清与情景沙盘，2026-08-29</a:t>
            </a:r>
          </a:p>
          <a:p xmlns:a="http://schemas.openxmlformats.org/drawingml/2006/main">
            <a:r>
              <a:t>- 本地运行截图：HR 制度版本与原子索引，2026-08-29</a:t>
            </a:r>
          </a:p>
          <a:p xmlns:a="http://schemas.openxmlformats.org/drawingml/2006/main">
            <a:r>
              <a:t>- 本地运行截图：HR 反馈处理与原问题复测，2026-08-29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验收结论：F01–F18 全覆盖；测试与正式场景通过；制度证据可追溯；Codex 协作过程可复盘；情景决策、DeepSeek 可信协同和知识共创创新链已实现。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项目文件：04_源代码/docs/test-report.md</a:t>
            </a:r>
          </a:p>
          <a:p xmlns:a="http://schemas.openxmlformats.org/drawingml/2006/main">
            <a:r>
              <a:t>- 项目文件：04_源代码/docs/requirements-traceability.md</a:t>
            </a:r>
          </a:p>
          <a:p xmlns:a="http://schemas.openxmlformats.org/drawingml/2006/main"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e91d3eb31c4a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7f7b628074c01" /><Relationship Type="http://schemas.openxmlformats.org/officeDocument/2006/relationships/image" Target="/ppt/media/image.png" Id="Recaf8714562c4f89" /><Relationship Type="http://schemas.openxmlformats.org/officeDocument/2006/relationships/image" Target="/ppt/media/image.jpeg" Id="R36991b0d5ac449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29ab1b49a4d20" /><Relationship Type="http://schemas.openxmlformats.org/officeDocument/2006/relationships/image" Target="/ppt/media/image2.jpeg" Id="R48867dd9de8244d6" /><Relationship Type="http://schemas.openxmlformats.org/officeDocument/2006/relationships/image" Target="/ppt/media/image2.png" Id="R0dccba697c7b4b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5245f329447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cd346abfc47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807077afa84f5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2e2c19fca4b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fa508a7b04e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c4bf27bd2485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a3616fa2b4f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42942b8d6417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d38208fcf3483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a60ab996c0440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c5ff63939d3458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e0d3c3687c47b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c16d41060c48e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2ccbf5a537454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ef3ff32f814493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c06fdaa681453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d0036fcfff493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b8374f35334b0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57206ef7284c6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C273BE-6D43-4353-84B0-9F2BB4036CD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6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E85C29C-4705-4EF3-9F1F-CC7AD67AF7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8E516B-DDEB-4551-A4B3-AAEE2DDD8C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1510A9C-9956-4C70-8523-EEC25B80F2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504333-D5FC-43FF-9651-CFF260F62E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节标题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3A97FDF-1F4E-4AD1-BD7C-CB1EB9BF66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87DB66-02BA-4B46-A659-87A0939D31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BBBA0F-C163-4671-AF32-C404958568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  <p:pic>
        <p:nvPicPr>
          <p:cNvPr id="18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f8714562c4f8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05224" y="328951"/>
            <a:ext cx="2982819" cy="941321"/>
          </a:xfrm>
          <a:prstGeom xmlns:a="http://schemas.openxmlformats.org/drawingml/2006/main" prst="rect">
            <a:avLst/>
          </a:prstGeom>
        </p:spPr>
      </p:pic>
      <p:pic>
        <p:nvPicPr>
          <p:cNvPr id="1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91b0d5ac4495b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4636" y="1196752"/>
            <a:ext cx="6948570" cy="6872569"/>
          </a:xfrm>
          <a:prstGeom xmlns:a="http://schemas.openxmlformats.org/drawingml/2006/main" prst="rect">
            <a:avLst/>
          </a:prstGeom>
        </p:spPr>
      </p:pic>
      <p:pic>
        <p:nvPicPr>
          <p:cNvPr id="2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91b0d5ac4495b">
            <a:alphaModFix amt="1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221338" y="-1395536"/>
            <a:ext cx="4076978" cy="4032385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FEEBCC9-9204-B3E3-88D5-5F53271F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0860"/>
            <a:ext cx="9192344" cy="266429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46000">
                <a:schemeClr val="accent1"/>
              </a:gs>
              <a:gs pos="19000">
                <a:schemeClr val="accent1"/>
              </a:gs>
              <a:gs pos="82000">
                <a:schemeClr val="accent1"/>
              </a:gs>
            </a:gsLst>
            <a:lin ang="108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bg>
      <p:bgPr>
        <a:blipFill xmlns:a="http://schemas.openxmlformats.org/drawingml/2006/main" rotWithShape="1">
          <a:blip xmlns:r="http://schemas.openxmlformats.org/officeDocument/2006/relationships" r:embed="R48867dd9de8244d6">
            <a:alphaModFix amt="70000"/>
            <a:lum/>
          </a:blip>
          <a:srcRect l="0" t="0" r="0" b="0"/>
          <a:stretch>
            <a:fillRect l="0" t="-5000" r="0" b="-5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4AA7A0D-DA0D-DDC3-88DF-15002B95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35A0A70-D929-4820-87A8-E9A66D3604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627C9BC-E63E-4966-B2DE-4DE8033842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71105E-C66C-4E2A-BCE4-F96D0E7290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6B86697-8706-4AE0-9749-5C21B811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440" y="899328"/>
            <a:ext cx="5616624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1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cba697c7b4b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4686" y="216085"/>
            <a:ext cx="2062282" cy="650817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4745F164-6471-7FC0-C029-C9095097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6344844"/>
            <a:ext cx="435648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 i="0">
                <a:solidFill>
                  <a:schemeClr val="bg1">
                    <a:lumMod val="65000"/>
                  </a:schemeClr>
                </a:solidFill>
                <a:latin typeface="方正舒体"/>
                <a:ea typeface="方正舒体"/>
                <a:cs typeface="方正舒体"/>
              </a:rPr>
              <a:t>耐劳苦 尚俭朴</a:t>
            </a:r>
            <a:r>
              <a:rPr b="1">
                <a:solidFill>
                  <a:schemeClr val="bg1">
                    <a:lumMod val="65000"/>
                  </a:schemeClr>
                </a:solidFill>
                <a:latin typeface="方正舒体"/>
                <a:ea typeface="方正舒体"/>
                <a:cs typeface="方正舒体"/>
              </a:rPr>
              <a:t> </a:t>
            </a:r>
            <a:r>
              <a:rPr b="1" i="0">
                <a:solidFill>
                  <a:schemeClr val="bg1">
                    <a:lumMod val="65000"/>
                  </a:schemeClr>
                </a:solidFill>
                <a:latin typeface="方正舒体"/>
                <a:ea typeface="方正舒体"/>
                <a:cs typeface="方正舒体"/>
              </a:rPr>
              <a:t>勤学业 爱国家</a:t>
            </a:r>
            <a:endParaRPr>
              <a:solidFill>
                <a:schemeClr val="bg1">
                  <a:lumMod val="65000"/>
                </a:schemeClr>
              </a:solidFill>
              <a:latin typeface="方正舒体"/>
              <a:ea typeface="方正舒体"/>
              <a:cs typeface="方正舒体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68A2443-11DC-4517-9D24-C7A140D9C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5CEE85D-B570-485A-847A-0636FB61A4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8B375B8-E6EA-4040-852B-B2A30606A1D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4218129-16F0-47D6-8ACA-4B3F396C35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5DF29AB-3884-4A21-A4C7-0705D46959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169965A-8636-4AF9-B4AF-358C41381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3A30DE2-41B6-4A11-8E64-7C4E113709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972304-3F4A-42E8-9804-FE5C953AD0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68EBC2B-C6CF-4263-AB38-A8F9CBF527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BC8E6CB-836F-4E9E-8982-25F3065296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A63F191-BB04-4B7D-ACEA-E9549BB25AB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7DEA6AB-01FC-4E4F-B660-5B76280260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C15D7D6-77D8-48F8-8857-B384045EA2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2A2E50B-125B-4790-9BA6-FF8014043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8A2B168-8723-4BB2-8C0D-988A96987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CC14128-770C-4677-951F-B3BDC78C48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E8E844B-915C-466B-B7F5-E02DA5D165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57A38B9-B0D2-4A28-A632-D1479D1C9A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F9BE025-6F53-4D0A-87DA-7999F18D52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64A1D01-FC6A-4711-9255-11FE2709D6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05D5D4D-63AD-4001-B713-BC3BF8C493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BBD2EC-DA20-4A2F-B7B4-E846822A74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AC34A56-06FE-4740-B580-E102BC706A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285A89F-6BCE-4EDF-8E52-AAF8E6EA6A4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9C4A8A3-A575-4F36-A7C1-6C7624227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06EEB72-64D2-4D6A-8E8A-3A87B1F572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73CAD27-DC7A-4EB4-BB2A-467D7C9037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4E1F40D-CC1A-4B31-A6A4-1C7AE802C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A92B10E-1935-4A18-9E8A-055DC1DE73E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D92E7B4-6364-4E96-B231-7B65246A96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36F61E8-C93A-43F4-9A45-FF62486F35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1584BDB-44B1-40F8-9A50-BC1B1C884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38CEA77-0DB4-493D-A1DA-C79003E677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B00D14-C11D-406A-BC8F-F987155D5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8BCFA12-91DF-461E-B000-574CA5B26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5CF79F-F44F-450B-8433-1D156E2511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66D099-86CF-40F0-B60E-240CA52522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DE0A8B2-8EDC-4E36-818E-3C6C9E734E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A05A444-6DC2-40A9-9A45-3A16735A1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9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A99F986-1C92-4387-88DA-7225DCB514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9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FD261D4-14E0-4768-BF85-261B59BBE7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38E2F5F-ACD9-4372-B798-5EA07A2148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E8E43C-7B66-48FE-895E-16B67785E7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0C81D9-0CEB-4A5C-B947-AA90A31839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6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073B33-88F3-4495-8E4F-E490759D99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89B75F-FAC9-4E43-A445-7917C322F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993CA96-3C4C-49C4-AE71-51E4123FF9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48FCFF-72F6-4F64-B450-E0E674F94E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017CA2C-3013-4C73-9CF2-F93738CF63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789A46F-B5C3-4FD3-96DC-0C04C9B7891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6F2D05-E0D7-43AA-BD46-8EF894CFA6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8708916-E495-4ED1-A6C0-0571959FA4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E33339D-CB59-480C-AC0F-D9E82B65EF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8BD733C-3EA7-4A00-BE5F-CA9FD9C2E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E6516FF-9FCB-44B2-B3AD-7D7A3E6E9D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82D0E4-7276-4C11-8146-442FA18E19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55370A9-8CAE-40EB-BC87-6792A08A45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42A5F0F-FC02-4634-8292-E06232DA30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C0664FC-328E-46EF-A43C-1BDE21441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8A25C14-7095-4225-86FF-A50F6EEA81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FD03CC2-2DB7-4101-8C75-A812C640A0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1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9B56DB-2D03-4099-BF66-A04AEDC652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51B4951-51EF-42B7-8C86-AF9A4E67B5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2CD7FC-61D0-4186-BBA6-8E2FC72939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E48B8-4AD8-4E6D-9332-56DB989F6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5AC42F7-2682-444F-BD68-A59C8D771C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951A676-B370-4F74-AABB-28F4EED071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503D4A-BE43-4C99-ACD1-A57AB4EAA7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72279F9-0911-4ED4-9429-AF010F258C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AA58233-87E0-45E6-8C63-43708548CF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AAF3009-A675-49A9-BB81-0CD1F8568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9819F48-3525-4077-B5F6-A12EF3E96E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3042521-448C-4578-8D3E-39AB1D4A2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5BC1C53-219F-48FA-A526-AB03307E8A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747425C-9792-43D2-8BEE-44CCA51270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4EC3C0A-BE01-4218-B4C0-60E837B6F2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7D36F46-1B7C-402C-984D-97744D60C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E9B8E4E-AA67-4B54-81A3-3D92CF5912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7F25DA2-C50F-411D-B083-412DD0DD34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9C389B-486B-4A6D-AA1A-3FB99F1921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60D6F07-7552-4414-A1E8-0685DCDB3E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FCEE6AE-1FF6-4FF1-AA8C-9ADFBFB697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B7F4D0-9E11-4F30-9C04-169B86FB34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34EBE0A-811E-4E0F-8D40-AC1922D19B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DDDCBF5-41DD-430F-B690-2936833E6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CF1A8A-B111-46B5-8DD5-9C0D91BC2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4FB2EF1-4891-4573-BA43-7CA93B42B16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AACA5A-B726-416D-95CE-7991FD3BD7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5F36DD6-3B3B-4303-A1D1-6D8B3F8F2F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C2D0990-FEFF-4E8F-B3A6-73D557F2F1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D4929B2-A0B7-45EA-B23F-BE8F40033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CED4E2F-37E5-4068-AA6D-8B7B2B2305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BDBCCF8-45B8-40AA-87DE-DAB07D9123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29CCA23-E536-4BA9-AC32-6DA1D83261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DF30331-F2B8-4AF7-90EC-8A22626C9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E02B559-3276-4DAA-B493-6BBC7A281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2A561EA-671F-4F09-82D6-C2CA57F1A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39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CB7075D-BC1E-4CF7-A326-1CF1C1C504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39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EB50CFC-F549-49E4-BA19-4FB8861866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4140E07-5EE1-4DEB-B472-67FA859DC1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2F81DC-A9E9-40E8-8201-4FD41B1F86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28fc3493a747de" /><Relationship Type="http://schemas.openxmlformats.org/officeDocument/2006/relationships/slideLayout" Target="/ppt/slideLayouts/slideLayout1.xml" Id="Rdbbf5b2dfe274826" /><Relationship Type="http://schemas.openxmlformats.org/officeDocument/2006/relationships/slideLayout" Target="/ppt/slideLayouts/slideLayout2.xml" Id="R970bdd85a171468a" /><Relationship Type="http://schemas.openxmlformats.org/officeDocument/2006/relationships/slideLayout" Target="/ppt/slideLayouts/slideLayout3.xml" Id="R87bcacac737f426b" /><Relationship Type="http://schemas.openxmlformats.org/officeDocument/2006/relationships/slideLayout" Target="/ppt/slideLayouts/slideLayout4.xml" Id="Re89d658271a04be1" /><Relationship Type="http://schemas.openxmlformats.org/officeDocument/2006/relationships/slideLayout" Target="/ppt/slideLayouts/slideLayout5.xml" Id="R349affe572244cfd" /><Relationship Type="http://schemas.openxmlformats.org/officeDocument/2006/relationships/slideLayout" Target="/ppt/slideLayouts/slideLayout6.xml" Id="Rf7ee9825022546e6" /><Relationship Type="http://schemas.openxmlformats.org/officeDocument/2006/relationships/slideLayout" Target="/ppt/slideLayouts/slideLayout7.xml" Id="R7cf6419eca4c403a" /><Relationship Type="http://schemas.openxmlformats.org/officeDocument/2006/relationships/slideLayout" Target="/ppt/slideLayouts/slideLayout8.xml" Id="Rbf9278b94d084cce" /><Relationship Type="http://schemas.openxmlformats.org/officeDocument/2006/relationships/slideLayout" Target="/ppt/slideLayouts/slideLayout9.xml" Id="Re588af94367d4226" /><Relationship Type="http://schemas.openxmlformats.org/officeDocument/2006/relationships/slideLayout" Target="/ppt/slideLayouts/slideLayout10.xml" Id="R3697be01c4b34b9b" /><Relationship Type="http://schemas.openxmlformats.org/officeDocument/2006/relationships/slideLayout" Target="/ppt/slideLayouts/slideLayout11.xml" Id="R48d8f216c25e4b8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a74b94d472d4a1d" /><Relationship Type="http://schemas.openxmlformats.org/officeDocument/2006/relationships/slideLayout" Target="/ppt/slideLayouts/slideLayout12.xml" Id="R249e9da021ae4a0b" /><Relationship Type="http://schemas.openxmlformats.org/officeDocument/2006/relationships/slideLayout" Target="/ppt/slideLayouts/slideLayout13.xml" Id="Redfce1447229489e" /><Relationship Type="http://schemas.openxmlformats.org/officeDocument/2006/relationships/slideLayout" Target="/ppt/slideLayouts/slideLayout14.xml" Id="Rb5a0d446ff1942a7" /><Relationship Type="http://schemas.openxmlformats.org/officeDocument/2006/relationships/slideLayout" Target="/ppt/slideLayouts/slideLayout15.xml" Id="R3d221438d7ac4614" /><Relationship Type="http://schemas.openxmlformats.org/officeDocument/2006/relationships/slideLayout" Target="/ppt/slideLayouts/slideLayout16.xml" Id="Rdeb25038d3634ff5" /><Relationship Type="http://schemas.openxmlformats.org/officeDocument/2006/relationships/slideLayout" Target="/ppt/slideLayouts/slideLayout17.xml" Id="Rda79c34c835a484d" /><Relationship Type="http://schemas.openxmlformats.org/officeDocument/2006/relationships/slideLayout" Target="/ppt/slideLayouts/slideLayout18.xml" Id="R5000f8148dfa479f" /><Relationship Type="http://schemas.openxmlformats.org/officeDocument/2006/relationships/slideLayout" Target="/ppt/slideLayouts/slideLayout19.xml" Id="R9b41b5ef09bb4f83" /><Relationship Type="http://schemas.openxmlformats.org/officeDocument/2006/relationships/slideLayout" Target="/ppt/slideLayouts/slideLayout20.xml" Id="Ra9488259fb6949c8" /><Relationship Type="http://schemas.openxmlformats.org/officeDocument/2006/relationships/slideLayout" Target="/ppt/slideLayouts/slideLayout21.xml" Id="Rf8b799b4458d4092" /><Relationship Type="http://schemas.openxmlformats.org/officeDocument/2006/relationships/slideLayout" Target="/ppt/slideLayouts/slideLayout22.xml" Id="R456e1e60530f40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D809E16-3E3F-4A02-9812-06B48EF2D3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D006E75-098E-4BFB-AE8B-3D9A4F8DB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C0CF76-99CA-45AE-BE11-F1257849606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12499E-0FC9-4EBE-B558-C3C4AE4EF00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3B3DB08-5CCD-4A52-A294-7E43CB0BD6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bf5b2dfe274826"/>
    <p:sldLayoutId xmlns:r="http://schemas.openxmlformats.org/officeDocument/2006/relationships" id="2147483650" r:id="R970bdd85a171468a"/>
    <p:sldLayoutId xmlns:r="http://schemas.openxmlformats.org/officeDocument/2006/relationships" id="2147483651" r:id="R87bcacac737f426b"/>
    <p:sldLayoutId xmlns:r="http://schemas.openxmlformats.org/officeDocument/2006/relationships" id="2147483652" r:id="Re89d658271a04be1"/>
    <p:sldLayoutId xmlns:r="http://schemas.openxmlformats.org/officeDocument/2006/relationships" id="2147483653" r:id="R349affe572244cfd"/>
    <p:sldLayoutId xmlns:r="http://schemas.openxmlformats.org/officeDocument/2006/relationships" id="2147483654" r:id="Rf7ee9825022546e6"/>
    <p:sldLayoutId xmlns:r="http://schemas.openxmlformats.org/officeDocument/2006/relationships" id="2147483655" r:id="R7cf6419eca4c403a"/>
    <p:sldLayoutId xmlns:r="http://schemas.openxmlformats.org/officeDocument/2006/relationships" id="2147483656" r:id="Rbf9278b94d084cce"/>
    <p:sldLayoutId xmlns:r="http://schemas.openxmlformats.org/officeDocument/2006/relationships" id="2147483657" r:id="Re588af94367d4226"/>
    <p:sldLayoutId xmlns:r="http://schemas.openxmlformats.org/officeDocument/2006/relationships" id="2147483658" r:id="R3697be01c4b34b9b"/>
    <p:sldLayoutId xmlns:r="http://schemas.openxmlformats.org/officeDocument/2006/relationships" id="2147483659" r:id="R48d8f216c25e4b85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6BB5BAE-10E5-4690-AB4B-AC297124D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D49A3A-7548-495D-A96E-C9FC7B1BF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A9EB1D-AF2E-4CF9-B1E1-3E0C89E7C73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E0898F0-ED1A-40E3-9BCA-3F3E07ABCA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956054-3503-44AD-A461-C089E0A7F21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C913308-F349-4B6D-A68A-DD1791B4A57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49e9da021ae4a0b"/>
    <p:sldLayoutId xmlns:r="http://schemas.openxmlformats.org/officeDocument/2006/relationships" id="2147483662" r:id="Redfce1447229489e"/>
    <p:sldLayoutId xmlns:r="http://schemas.openxmlformats.org/officeDocument/2006/relationships" id="2147483663" r:id="Rb5a0d446ff1942a7"/>
    <p:sldLayoutId xmlns:r="http://schemas.openxmlformats.org/officeDocument/2006/relationships" id="2147483664" r:id="R3d221438d7ac4614"/>
    <p:sldLayoutId xmlns:r="http://schemas.openxmlformats.org/officeDocument/2006/relationships" id="2147483665" r:id="Rdeb25038d3634ff5"/>
    <p:sldLayoutId xmlns:r="http://schemas.openxmlformats.org/officeDocument/2006/relationships" id="2147483666" r:id="Rda79c34c835a484d"/>
    <p:sldLayoutId xmlns:r="http://schemas.openxmlformats.org/officeDocument/2006/relationships" id="2147483667" r:id="R5000f8148dfa479f"/>
    <p:sldLayoutId xmlns:r="http://schemas.openxmlformats.org/officeDocument/2006/relationships" id="2147483668" r:id="R9b41b5ef09bb4f83"/>
    <p:sldLayoutId xmlns:r="http://schemas.openxmlformats.org/officeDocument/2006/relationships" id="2147483669" r:id="Ra9488259fb6949c8"/>
    <p:sldLayoutId xmlns:r="http://schemas.openxmlformats.org/officeDocument/2006/relationships" id="2147483670" r:id="Rf8b799b4458d4092"/>
    <p:sldLayoutId xmlns:r="http://schemas.openxmlformats.org/officeDocument/2006/relationships" id="2147483671" r:id="R456e1e60530f40a4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13f02e6c14ceb" /><Relationship Type="http://schemas.openxmlformats.org/officeDocument/2006/relationships/image" Target="/ppt/media/image3.jpeg" Id="Rb6cf8e267383470e" /><Relationship Type="http://schemas.openxmlformats.org/officeDocument/2006/relationships/image" Target="/ppt/media/image3.png" Id="R69e96ac49cee422f" /><Relationship Type="http://schemas.openxmlformats.org/officeDocument/2006/relationships/notesSlide" Target="/ppt/notesSlides/notesSlide1.xml" Id="R67ba7246b89746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21851a47804bfa" /><Relationship Type="http://schemas.openxmlformats.org/officeDocument/2006/relationships/notesSlide" Target="/ppt/notesSlides/notesSlide2.xml" Id="R219b8e598c464a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9427448a6c4fbc" /><Relationship Type="http://schemas.openxmlformats.org/officeDocument/2006/relationships/notesSlide" Target="/ppt/notesSlides/notesSlide3.xml" Id="R8af4b6b9430843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6fd4ff72094b41" /><Relationship Type="http://schemas.openxmlformats.org/officeDocument/2006/relationships/notesSlide" Target="/ppt/notesSlides/notesSlide4.xml" Id="R3e144b7091ee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6055e8fa724a47" /><Relationship Type="http://schemas.openxmlformats.org/officeDocument/2006/relationships/notesSlide" Target="/ppt/notesSlides/notesSlide5.xml" Id="R556680bbe73544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8b8bbd82c04e07" /><Relationship Type="http://schemas.openxmlformats.org/officeDocument/2006/relationships/notesSlide" Target="/ppt/notesSlides/notesSlide6.xml" Id="R4c764c891a9145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7600173fd0452b" /><Relationship Type="http://schemas.openxmlformats.org/officeDocument/2006/relationships/notesSlide" Target="/ppt/notesSlides/notesSlide7.xml" Id="Rfad1f573880c41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d984e73dd4398" /><Relationship Type="http://schemas.openxmlformats.org/officeDocument/2006/relationships/notesSlide" Target="/ppt/notesSlides/notesSlide8.xml" Id="Rbb1d87a97cc743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70f21e57264fbf" /><Relationship Type="http://schemas.openxmlformats.org/officeDocument/2006/relationships/notesSlide" Target="/ppt/notesSlides/notesSlide9.xml" Id="Raa6bf022b94c4e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45ed1d5fc84755" /><Relationship Type="http://schemas.openxmlformats.org/officeDocument/2006/relationships/notesSlide" Target="/ppt/notesSlides/notesSlide10.xml" Id="Rc91fe8e3ce4843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9d8f2cba594176" /><Relationship Type="http://schemas.openxmlformats.org/officeDocument/2006/relationships/notesSlide" Target="/ppt/notesSlides/notesSlide11.xml" Id="R6d0708166c014d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14e9be3219408a" /><Relationship Type="http://schemas.openxmlformats.org/officeDocument/2006/relationships/notesSlide" Target="/ppt/notesSlides/notesSlide12.xml" Id="R5d0d54c1284341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1a083fac064c1a" /><Relationship Type="http://schemas.openxmlformats.org/officeDocument/2006/relationships/notesSlide" Target="/ppt/notesSlides/notesSlide13.xml" Id="R83661e82bf8045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be3354975e44dc" /><Relationship Type="http://schemas.openxmlformats.org/officeDocument/2006/relationships/notesSlide" Target="/ppt/notesSlides/notesSlide14.xml" Id="Rcd8bfd8b0ac142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e2601c1c6c4c91" /><Relationship Type="http://schemas.openxmlformats.org/officeDocument/2006/relationships/image" Target="/ppt/media/image4.jpeg" Id="Rb7399539d9f64355" /><Relationship Type="http://schemas.openxmlformats.org/officeDocument/2006/relationships/image" Target="/ppt/media/image5.jpeg" Id="R5298ce635ca844cd" /><Relationship Type="http://schemas.openxmlformats.org/officeDocument/2006/relationships/image" Target="/ppt/media/image6.jpeg" Id="R46af81eedcfa4404" /><Relationship Type="http://schemas.openxmlformats.org/officeDocument/2006/relationships/notesSlide" Target="/ppt/notesSlides/notesSlide15.xml" Id="R1213b9702ad547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42b401784a48e0" /><Relationship Type="http://schemas.openxmlformats.org/officeDocument/2006/relationships/notesSlide" Target="/ppt/notesSlides/notesSlide16.xml" Id="Rf77acefe68f648a6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cf8e267383470e">
            <a:lum/>
          </a:blip>
          <a:srcRect l="0" t="0" r="0" b="0"/>
          <a:stretch>
            <a:fillRect l="0" t="-17000" r="0" b="-17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5F8A904-2A81-4B2B-B90E-13AFBC0A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79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66C939A-3E4F-4F10-A917-924A929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85" y="2672178"/>
            <a:ext cx="9879628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公司 HR 制度智能问答</a:t>
            </a:r>
          </a:p>
          <a:p xmlns:a="http://schemas.openxmlformats.org/drawingml/2006/main">
            <a:pPr algn="ctr">
              <a:buNone/>
            </a:pPr>
            <a:r>
              <a:rPr sz="54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项目验收答辩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3389407-CDC1-4A4D-9F40-AA85DD99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995" y="4818522"/>
            <a:ext cx="2492991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答辩人：肖欣芮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学号：20244125</a:t>
            </a:r>
            <a:endParaRPr b="1">
              <a:solidFill>
                <a:prstClr val="white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E85C6DD6-0519-4C9F-B75D-07FC52BF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58" y="4653136"/>
            <a:ext cx="96210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ysClr val="window" lastClr="FFFFFF"/>
            </a:solidFill>
            <a:prstDash val="solid"/>
          </a:ln>
        </p:spPr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7112F40-7AEF-4A3A-A0FC-4EBCA5AE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636" y="6372362"/>
            <a:ext cx="109998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</a:rPr>
              <a:t>2026.08.29</a:t>
            </a:r>
            <a:endParaRPr b="1" baseline="30000">
              <a:solidFill>
                <a:schemeClr val="bg1"/>
              </a:solidFill>
            </a:endParaRP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5013A532-E7E3-4254-8207-71FEE8D9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031" y="6557028"/>
            <a:ext cx="32346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D9FBD548-98BC-44F9-9D6D-A03E0F75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481" y="6537747"/>
            <a:ext cx="323469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2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96ac49cee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535" y="764704"/>
            <a:ext cx="5303912" cy="157961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536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CB3D05-11C7-47D1-AC02-FCF170AE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688B40-85F4-4889-B653-91925FF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E939BF92-B2C0-4251-A6F1-EDCF02D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答辩结构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箭头: 下 1">
            <a:extLst xmlns:a="http://schemas.openxmlformats.org/drawingml/2006/main">
              <a:ext uri="{FF2B5EF4-FFF2-40B4-BE49-F238E27FC236}">
                <a16:creationId xmlns:a16="http://schemas.microsoft.com/office/drawing/2014/main" id="{4EF2A33D-FC0B-4BBE-86E0-20430D4A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47709" y="2670631"/>
            <a:ext cx="9131359" cy="2340488"/>
          </a:xfrm>
          <a:custGeom xmlns:a="http://schemas.openxmlformats.org/drawingml/2006/main">
            <a:gdLst>
              <a:gd name="connsiteX0" fmla="*/ 0 w 4125547"/>
              <a:gd name="connsiteY0" fmla="*/ 1993527 h 2825934"/>
              <a:gd name="connsiteX1" fmla="*/ 675723 w 4125547"/>
              <a:gd name="connsiteY1" fmla="*/ 1993527 h 2825934"/>
              <a:gd name="connsiteX2" fmla="*/ 675723 w 4125547"/>
              <a:gd name="connsiteY2" fmla="*/ 0 h 2825934"/>
              <a:gd name="connsiteX3" fmla="*/ 3449824 w 4125547"/>
              <a:gd name="connsiteY3" fmla="*/ 0 h 2825934"/>
              <a:gd name="connsiteX4" fmla="*/ 3449824 w 4125547"/>
              <a:gd name="connsiteY4" fmla="*/ 1993527 h 2825934"/>
              <a:gd name="connsiteX5" fmla="*/ 4125547 w 4125547"/>
              <a:gd name="connsiteY5" fmla="*/ 1993527 h 2825934"/>
              <a:gd name="connsiteX6" fmla="*/ 2062774 w 4125547"/>
              <a:gd name="connsiteY6" fmla="*/ 2825934 h 2825934"/>
              <a:gd name="connsiteX7" fmla="*/ 0 w 4125547"/>
              <a:gd name="connsiteY7" fmla="*/ 1993527 h 2825934"/>
              <a:gd name="connsiteX0" fmla="*/ 2299706 w 6425253"/>
              <a:gd name="connsiteY0" fmla="*/ 2022556 h 2854963"/>
              <a:gd name="connsiteX1" fmla="*/ 2975429 w 6425253"/>
              <a:gd name="connsiteY1" fmla="*/ 2022556 h 2854963"/>
              <a:gd name="connsiteX2" fmla="*/ 0 w 6425253"/>
              <a:gd name="connsiteY2" fmla="*/ 0 h 2854963"/>
              <a:gd name="connsiteX3" fmla="*/ 5749530 w 6425253"/>
              <a:gd name="connsiteY3" fmla="*/ 29029 h 2854963"/>
              <a:gd name="connsiteX4" fmla="*/ 5749530 w 6425253"/>
              <a:gd name="connsiteY4" fmla="*/ 2022556 h 2854963"/>
              <a:gd name="connsiteX5" fmla="*/ 6425253 w 6425253"/>
              <a:gd name="connsiteY5" fmla="*/ 2022556 h 2854963"/>
              <a:gd name="connsiteX6" fmla="*/ 4362480 w 6425253"/>
              <a:gd name="connsiteY6" fmla="*/ 2854963 h 2854963"/>
              <a:gd name="connsiteX7" fmla="*/ 2299706 w 6425253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</a:gdLst>
            <a:rect l="l" t="t" r="r" b="b"/>
            <a:pathLst>
              <a:path w="9131359" h="2854963">
                <a:moveTo>
                  <a:pt x="2299706" y="2022556"/>
                </a:moveTo>
                <a:lnTo>
                  <a:pt x="2975429" y="2022556"/>
                </a:lnTo>
                <a:cubicBezTo>
                  <a:pt x="2433561" y="1072600"/>
                  <a:pt x="1383696" y="514528"/>
                  <a:pt x="0" y="0"/>
                </a:cubicBezTo>
                <a:lnTo>
                  <a:pt x="9131359" y="58057"/>
                </a:lnTo>
                <a:cubicBezTo>
                  <a:pt x="7191283" y="408090"/>
                  <a:pt x="6513949" y="1091952"/>
                  <a:pt x="5749530" y="2022556"/>
                </a:cubicBezTo>
                <a:lnTo>
                  <a:pt x="6425253" y="2022556"/>
                </a:lnTo>
                <a:lnTo>
                  <a:pt x="4362480" y="2854963"/>
                </a:lnTo>
                <a:lnTo>
                  <a:pt x="2299706" y="2022556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A18CAA58-16E7-41CC-9C76-21CD5BE2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97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A6FB1AC-7097-4BFA-B6C7-E5AF4C78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92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01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项目成果</a:t>
            </a:r>
            <a:endParaRPr sz="2100" b="1" spc="3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1A764BAF-3C31-4FAC-8B79-E9E50A9F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593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848F37F5-FEDC-40D8-ADF1-C5111C96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885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8242FAAD-BB1D-47B2-89C0-EDF99B6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185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EE995535-B0AA-4261-B20C-A5A4EA1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482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713F3B8-E7D3-4ECF-B1B8-9C67889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999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9A20F77-923B-48F9-8192-630C721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703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6F64240B-616D-4FDC-8C46-EEB477E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720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A414929-2B97-418B-B0F9-DF240AB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998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2E4D7ED-1D7C-408D-90A6-2BD528A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972" y="1577796"/>
            <a:ext cx="1723549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6000" b="1">
                <a:solidFill>
                  <a:schemeClr val="accent1"/>
                </a:solidFill>
                <a:effectLst>
                  <a:outerShdw blurRad="520700" algn="ctr" rotWithShape="0">
                    <a:srgbClr val="FFFFFF">
                      <a:lumMod val="95000"/>
                      <a:alpha val="44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目录</a:t>
            </a:r>
            <a:endParaRPr sz="6000" b="1">
              <a:solidFill>
                <a:schemeClr val="accent1"/>
              </a:solidFill>
              <a:effectLst>
                <a:outerShdw blurRad="520700" algn="ctr" rotWithShape="0">
                  <a:srgbClr val="FFFFFF">
                    <a:lumMod val="95000"/>
                    <a:alpha val="44000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6594DD7-3399-48E1-B842-FAA86947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758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02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批判思维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817B289-1395-4CF7-BFA5-3B604DE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425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03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协作过程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440FE19-DDD6-4F92-9664-F0E43F12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320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04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02E350D-B535-4859-8FD5-273BDDB9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151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验收判断</a:t>
            </a:r>
          </a:p>
        </p:txBody>
      </p:sp>
    </p:spTree>
    <p:extLst>
      <p:ext uri="{BB962C8B-B14F-4D97-AF65-F5344CB8AC3E}">
        <p14:creationId xmlns:p14="http://schemas.microsoft.com/office/powerpoint/2010/main" val="30728559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0" y="2100860"/>
            <a:ext cx="2664295" cy="266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764" y="2936718"/>
            <a:ext cx="3168994" cy="9925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01</a:t>
            </a:r>
          </a:p>
        </p:txBody>
      </p:sp>
      <p:sp>
        <p:nvSpPr>
          <p:cNvPr id="13" name="TextBox 4">
            <a:extLst xmlns:a="http://schemas.openxmlformats.org/drawingml/2006/main"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3029051"/>
            <a:ext cx="498598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项目概述与</a:t>
            </a:r>
          </a:p>
          <a:p xmlns:a="http://schemas.openxmlformats.org/drawingml/2006/main"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核心成果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CCDBB6-F4B1-4C9A-AA47-F84B9EC0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7628D0-77EF-4B5F-8281-1A7F9657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1063F41-09B2-4E54-9D77-182D140F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项目定位：可信、可管、可验收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D5DB199-7935-4553-A7CF-68F9DE75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8" y="1784630"/>
            <a:ext cx="5545137" cy="36605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82C8A9-6A5E-4128-B6E4-B1274C0B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725" y="1784630"/>
            <a:ext cx="5545138" cy="36605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22D9E0C-8671-42A3-BA43-ABA227B4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1772816"/>
            <a:ext cx="338137" cy="3381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F67920-0B44-4966-B251-C8FA3109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838" y="5108674"/>
            <a:ext cx="338137" cy="336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8EE72BE-FF8D-448B-BDDE-DA682EDF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99" y="1841181"/>
            <a:ext cx="5021189" cy="341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业务问题</a:t>
            </a: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制度分散，员工检索成本高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语义相近，关键词难以区分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生成内容可能缺乏依据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HR 需要版本与反馈治理</a:t>
            </a:r>
          </a:p>
        </p:txBody>
      </p:sp>
      <p:sp>
        <p:nvSpPr>
          <p:cNvPr id="19" name="矩形 14">
            <a:extLst xmlns:a="http://schemas.openxmlformats.org/drawingml/2006/main">
              <a:ext uri="{FF2B5EF4-FFF2-40B4-BE49-F238E27FC236}">
                <a16:creationId xmlns:a16="http://schemas.microsoft.com/office/drawing/2014/main" id="{03C6AED4-4B26-43B3-9CB4-A7FB239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015" y="1851789"/>
            <a:ext cx="5021711" cy="341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交付目标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/>
            </a:r>
            <a:endParaRPr sz="1800" b="0" i="0" u="none" cap="none" spc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F01–F18 全部形成闭环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回答绑定证据，低证据拒答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员工问答端与 HR 管理端可运行</a:t>
            </a:r>
          </a:p>
          <a:p xmlns:a="http://schemas.openxmlformats.org/drawingml/2006/main"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HR 端内置数据洞察与反馈治理</a:t>
            </a:r>
          </a:p>
        </p:txBody>
      </p:sp>
    </p:spTree>
    <p:extLst>
      <p:ext uri="{BB962C8B-B14F-4D97-AF65-F5344CB8AC3E}">
        <p14:creationId xmlns:p14="http://schemas.microsoft.com/office/powerpoint/2010/main" val="42609485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8C4A795-F87D-413A-964D-1D1ED24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006718-0854-4A4D-9F91-EC0B8F1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2CC7F29-419C-4A0B-A805-668912CF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核心成果：业务闭环而非单一问答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A-圆角矩形 25">
            <a:extLst xmlns:a="http://schemas.openxmlformats.org/drawingml/2006/main">
              <a:ext uri="{FF2B5EF4-FFF2-40B4-BE49-F238E27FC236}">
                <a16:creationId xmlns:a16="http://schemas.microsoft.com/office/drawing/2014/main" id="{20E8EEA2-42BB-4158-B756-35FCA7E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4" name="PA-椭圆 31">
            <a:extLst xmlns:a="http://schemas.openxmlformats.org/drawingml/2006/main">
              <a:ext uri="{FF2B5EF4-FFF2-40B4-BE49-F238E27FC236}">
                <a16:creationId xmlns:a16="http://schemas.microsoft.com/office/drawing/2014/main" id="{65A3BB24-F05E-4479-95CB-80FE1CD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61" y="1846460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0749C8A3-395B-48E2-87F7-047F5A3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7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双入口认证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F56ECDA-7A63-469E-B02B-D452E62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" y="2799904"/>
            <a:ext cx="3136551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员工 / HR 登录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入口与会话隔离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39C48116-ECC4-4094-A4FD-B25D9D35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31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38" name="PA-圆角矩形 26">
            <a:extLst xmlns:a="http://schemas.openxmlformats.org/drawingml/2006/main">
              <a:ext uri="{FF2B5EF4-FFF2-40B4-BE49-F238E27FC236}">
                <a16:creationId xmlns:a16="http://schemas.microsoft.com/office/drawing/2014/main" id="{54DEAB3F-43AD-473B-B659-C0D1833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91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9" name="PA-椭圆 40">
            <a:extLst xmlns:a="http://schemas.openxmlformats.org/drawingml/2006/main">
              <a:ext uri="{FF2B5EF4-FFF2-40B4-BE49-F238E27FC236}">
                <a16:creationId xmlns:a16="http://schemas.microsoft.com/office/drawing/2014/main" id="{0995008D-6F92-4C18-96FE-2345CFB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12" y="1845922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7C5FDEE-4E6B-4BBE-B026-6978710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638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知识治理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2D89BE0B-ED55-4F32-80BD-DA1DF8B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240" y="2799904"/>
            <a:ext cx="32139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过期检测、原子重建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失败保留旧索引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F1DF53B-F64E-45C2-8795-216787B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82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02</a:t>
            </a:r>
          </a:p>
        </p:txBody>
      </p:sp>
      <p:sp>
        <p:nvSpPr>
          <p:cNvPr id="43" name="PA-圆角矩形 27">
            <a:extLst xmlns:a="http://schemas.openxmlformats.org/drawingml/2006/main">
              <a:ext uri="{FF2B5EF4-FFF2-40B4-BE49-F238E27FC236}">
                <a16:creationId xmlns:a16="http://schemas.microsoft.com/office/drawing/2014/main" id="{893ABC73-6FB4-4020-8A9B-F07E01D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042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4" name="PA-椭圆 51">
            <a:extLst xmlns:a="http://schemas.openxmlformats.org/drawingml/2006/main">
              <a:ext uri="{FF2B5EF4-FFF2-40B4-BE49-F238E27FC236}">
                <a16:creationId xmlns:a16="http://schemas.microsoft.com/office/drawing/2014/main" id="{2DB25371-F64A-44FC-9A91-CF57337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63" y="1846460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C33179A-D975-4DB9-9740-9550A639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989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61A91FC0-F614-49FD-9036-D1B38E8C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151" y="2799904"/>
            <a:ext cx="3138877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BGE + BM25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RRF 融合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12CE4E99-F410-4FC6-B8FF-F2289FE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233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03</a:t>
            </a:r>
          </a:p>
        </p:txBody>
      </p:sp>
      <p:sp>
        <p:nvSpPr>
          <p:cNvPr id="48" name="PA-圆角矩形 28">
            <a:extLst xmlns:a="http://schemas.openxmlformats.org/drawingml/2006/main">
              <a:ext uri="{FF2B5EF4-FFF2-40B4-BE49-F238E27FC236}">
                <a16:creationId xmlns:a16="http://schemas.microsoft.com/office/drawing/2014/main" id="{677963CF-58B2-4185-958C-C7E5397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9" name="PA-椭圆 56">
            <a:extLst xmlns:a="http://schemas.openxmlformats.org/drawingml/2006/main">
              <a:ext uri="{FF2B5EF4-FFF2-40B4-BE49-F238E27FC236}">
                <a16:creationId xmlns:a16="http://schemas.microsoft.com/office/drawing/2014/main" id="{3C87EA06-0CDD-4E04-9A0F-521D148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61" y="4083834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A7C0F8D-28A6-4341-8A18-A6CD5DD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7" y="4588470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证据回答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A41DEC6D-D742-4FC9-A26C-FFDAC1F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8" y="5038095"/>
            <a:ext cx="316501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DeepSeek 生成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引用 ID 校验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FE4C747-340D-4B2C-B520-D606A6D4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31" y="4099032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04</a:t>
            </a:r>
          </a:p>
        </p:txBody>
      </p:sp>
      <p:sp>
        <p:nvSpPr>
          <p:cNvPr id="53" name="PA-圆角矩形 29">
            <a:extLst xmlns:a="http://schemas.openxmlformats.org/drawingml/2006/main">
              <a:ext uri="{FF2B5EF4-FFF2-40B4-BE49-F238E27FC236}">
                <a16:creationId xmlns:a16="http://schemas.microsoft.com/office/drawing/2014/main" id="{87184BC9-0CBA-4934-BBEE-C42C7C26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91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4" name="PA-椭圆 61">
            <a:extLst xmlns:a="http://schemas.openxmlformats.org/drawingml/2006/main">
              <a:ext uri="{FF2B5EF4-FFF2-40B4-BE49-F238E27FC236}">
                <a16:creationId xmlns:a16="http://schemas.microsoft.com/office/drawing/2014/main" id="{28E9D282-EE0B-4EDD-972C-C7970888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12" y="4083834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2860CA41-7939-4356-8172-FBFD2665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638" y="4585897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安全降级</a:t>
            </a: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036F5F1-CACF-486C-BF3A-280F9F58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924" y="5035522"/>
            <a:ext cx="3228629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低证据拒答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本地证据兜底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DBEAB99-A29E-44E1-AB9B-365D1081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82" y="4096459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05</a:t>
            </a:r>
          </a:p>
        </p:txBody>
      </p:sp>
      <p:sp>
        <p:nvSpPr>
          <p:cNvPr id="58" name="PA-圆角矩形 30">
            <a:extLst xmlns:a="http://schemas.openxmlformats.org/drawingml/2006/main">
              <a:ext uri="{FF2B5EF4-FFF2-40B4-BE49-F238E27FC236}">
                <a16:creationId xmlns:a16="http://schemas.microsoft.com/office/drawing/2014/main" id="{2ED17F29-4E17-4921-A6A4-13084C87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042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9" name="PA-椭圆 66">
            <a:extLst xmlns:a="http://schemas.openxmlformats.org/drawingml/2006/main">
              <a:ext uri="{FF2B5EF4-FFF2-40B4-BE49-F238E27FC236}">
                <a16:creationId xmlns:a16="http://schemas.microsoft.com/office/drawing/2014/main" id="{70DB4994-323F-4CBB-81CC-5405D93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63" y="4083834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ED39E093-2ECD-483D-AAAE-A4DFD69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989" y="4603124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意见治理</a:t>
            </a:r>
          </a:p>
        </p:txBody>
      </p:sp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F8993099-C0CE-4D78-9732-ED67240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151" y="5052749"/>
            <a:ext cx="3138877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意见处理闭环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未命中与原问题复测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A5E2199A-472E-46D0-B39D-11BAE31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233" y="4113686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191436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FD30C51-1BD0-41D2-A238-A94CCB93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4696CD8-8EC6-438B-8837-379AE0FF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ECDA534-36F5-4932-B8EA-2AF4BF75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可信回答：检索、生成、校验相互约束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723">
            <a:extLst xmlns:a="http://schemas.openxmlformats.org/drawingml/2006/main">
              <a:ext uri="{FF2B5EF4-FFF2-40B4-BE49-F238E27FC236}">
                <a16:creationId xmlns:a16="http://schemas.microsoft.com/office/drawing/2014/main" id="{D64F7C32-C424-4E8F-9062-7E24F90E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5379144" y="2943837"/>
            <a:ext cx="1414666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hape 1726">
            <a:extLst xmlns:a="http://schemas.openxmlformats.org/drawingml/2006/main">
              <a:ext uri="{FF2B5EF4-FFF2-40B4-BE49-F238E27FC236}">
                <a16:creationId xmlns:a16="http://schemas.microsoft.com/office/drawing/2014/main" id="{04F10E5A-A4EE-498B-B3C0-98B8339B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5379143" y="3148294"/>
            <a:ext cx="1414666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722">
            <a:extLst xmlns:a="http://schemas.openxmlformats.org/drawingml/2006/main">
              <a:ext uri="{FF2B5EF4-FFF2-40B4-BE49-F238E27FC236}">
                <a16:creationId xmlns:a16="http://schemas.microsoft.com/office/drawing/2014/main" id="{095D6A02-E945-4A15-A826-67B1EF26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563871" y="3356638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hape 1729">
            <a:extLst xmlns:a="http://schemas.openxmlformats.org/drawingml/2006/main">
              <a:ext uri="{FF2B5EF4-FFF2-40B4-BE49-F238E27FC236}">
                <a16:creationId xmlns:a16="http://schemas.microsoft.com/office/drawing/2014/main" id="{297C59D9-2AC8-47C1-9726-351354C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563871" y="3152180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hape 1721">
            <a:extLst xmlns:a="http://schemas.openxmlformats.org/drawingml/2006/main">
              <a:ext uri="{FF2B5EF4-FFF2-40B4-BE49-F238E27FC236}">
                <a16:creationId xmlns:a16="http://schemas.microsoft.com/office/drawing/2014/main" id="{53298BD2-4EC7-4C95-835A-EEF7C84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1743076" y="2943837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1732">
            <a:extLst xmlns:a="http://schemas.openxmlformats.org/drawingml/2006/main">
              <a:ext uri="{FF2B5EF4-FFF2-40B4-BE49-F238E27FC236}">
                <a16:creationId xmlns:a16="http://schemas.microsoft.com/office/drawing/2014/main" id="{A3537DFA-F71C-4ED8-8305-04F02B9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1743076" y="3148294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hape 1724">
            <a:extLst xmlns:a="http://schemas.openxmlformats.org/drawingml/2006/main">
              <a:ext uri="{FF2B5EF4-FFF2-40B4-BE49-F238E27FC236}">
                <a16:creationId xmlns:a16="http://schemas.microsoft.com/office/drawing/2014/main" id="{E2B8677B-DCEF-4DDA-BD5A-0F97327F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138090" y="3441282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hape 1735">
            <a:extLst xmlns:a="http://schemas.openxmlformats.org/drawingml/2006/main">
              <a:ext uri="{FF2B5EF4-FFF2-40B4-BE49-F238E27FC236}">
                <a16:creationId xmlns:a16="http://schemas.microsoft.com/office/drawing/2014/main" id="{21A0931B-4DF4-4FDE-9FB3-A376156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138090" y="3236823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hape 1725">
            <a:extLst xmlns:a="http://schemas.openxmlformats.org/drawingml/2006/main">
              <a:ext uri="{FF2B5EF4-FFF2-40B4-BE49-F238E27FC236}">
                <a16:creationId xmlns:a16="http://schemas.microsoft.com/office/drawing/2014/main" id="{748B130B-F0D8-450B-B18F-D4C5380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015209" y="2943837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hape 1738">
            <a:extLst xmlns:a="http://schemas.openxmlformats.org/drawingml/2006/main">
              <a:ext uri="{FF2B5EF4-FFF2-40B4-BE49-F238E27FC236}">
                <a16:creationId xmlns:a16="http://schemas.microsoft.com/office/drawing/2014/main" id="{B03C0D49-067A-47BD-A862-464FFD8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015209" y="3148294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8EDAE8-208F-4254-8CFB-B0D34A7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000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理解问题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913590E-8902-4E41-BAB9-C120ED0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032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混合检索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2E4E12D-DCA0-4110-A35F-D26F0E6E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53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证据编排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87620BF-128B-42C0-A291-0A34458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385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DeepSeek 生成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F457139-9DF3-40ED-B1CE-17928C8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133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服务端校验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21">
            <a:extLst xmlns:a="http://schemas.openxmlformats.org/drawingml/2006/main">
              <a:ext uri="{FF2B5EF4-FFF2-40B4-BE49-F238E27FC236}">
                <a16:creationId xmlns:a16="http://schemas.microsoft.com/office/drawing/2014/main" id="{A94426B9-3C26-4234-A09A-3471227A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573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结合最近对话；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条件不足先澄清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22">
            <a:extLst xmlns:a="http://schemas.openxmlformats.org/drawingml/2006/main">
              <a:ext uri="{FF2B5EF4-FFF2-40B4-BE49-F238E27FC236}">
                <a16:creationId xmlns:a16="http://schemas.microsoft.com/office/drawing/2014/main" id="{8074948C-1CC8-431B-A31A-DC15787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573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BGE + BM25；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RRF 融合 Top 5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98BAC8-389F-4EDB-AC11-2E11582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573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保留版本、条款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与证据 ID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BA8EA4-CD26-4853-A0F8-0571FF7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573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只基于证据输出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结构化 JSON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25">
            <a:extLst xmlns:a="http://schemas.openxmlformats.org/drawingml/2006/main">
              <a:ext uri="{FF2B5EF4-FFF2-40B4-BE49-F238E27FC236}">
                <a16:creationId xmlns:a16="http://schemas.microsoft.com/office/drawing/2014/main" id="{92DD16EC-2E12-4115-AA39-67332EC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65735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白名单、版本与数字校验；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不足拒答，异常降级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1542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D3BD346-E7EB-47C4-A1BC-94EC5B78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C7CD914-5F28-49D3-9E3A-56D80A84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D194D352-F59B-4EA9-AF39-46C23C6F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核心成果：功能、质量与验收一致通过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3A93F44E-C0A4-48EB-969E-1DD8884A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8" y="1323173"/>
            <a:ext cx="10749575" cy="8576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36 项 Pytest、6 项 Vitest、4 项 Edge E2E 与 12 个场景均通过；Recall@3 25/25 仅对应自建评测集。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Down Arrow 15">
            <a:extLst xmlns:a="http://schemas.openxmlformats.org/drawingml/2006/main">
              <a:ext uri="{FF2B5EF4-FFF2-40B4-BE49-F238E27FC236}">
                <a16:creationId xmlns:a16="http://schemas.microsoft.com/office/drawing/2014/main" id="{51070622-324E-431A-8794-9F3AF5E4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09" y="2358265"/>
            <a:ext cx="1668241" cy="3638075"/>
          </a:xfrm>
          <a:prstGeom xmlns:a="http://schemas.openxmlformats.org/drawingml/2006/main" prst="downArrow">
            <a:avLst>
              <a:gd name="adj1" fmla="val 100000"/>
              <a:gd name="adj2" fmla="val 52223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9525" cmpd="sng">
            <a:solidFill>
              <a:schemeClr val="accent1"/>
            </a:solidFill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ctangle 87">
            <a:extLst xmlns:a="http://schemas.openxmlformats.org/drawingml/2006/main">
              <a:ext uri="{FF2B5EF4-FFF2-40B4-BE49-F238E27FC236}">
                <a16:creationId xmlns:a16="http://schemas.microsoft.com/office/drawing/2014/main" id="{092113E1-1B82-420B-9031-B239723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09" y="2357246"/>
            <a:ext cx="1668241" cy="10482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5000"/>
            </a:schemeClr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2E3D0D2-6AB1-4452-AF4F-ACE36DF6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67" y="2633889"/>
            <a:ext cx="1323604" cy="556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18/18</a:t>
            </a:r>
          </a:p>
        </p:txBody>
      </p:sp>
      <p:sp>
        <p:nvSpPr>
          <p:cNvPr id="1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12DF4BF-5AA9-4E10-8DBF-E10C459C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81" y="3543624"/>
            <a:ext cx="1262584" cy="322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功能覆盖</a:t>
            </a:r>
            <a:endParaRPr sz="1467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DE3C777E-BD11-4DBB-BF00-B51F325E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07" y="3873713"/>
            <a:ext cx="1510109" cy="83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F01–F18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全部完成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Down Arrow 91">
            <a:extLst xmlns:a="http://schemas.openxmlformats.org/drawingml/2006/main">
              <a:ext uri="{FF2B5EF4-FFF2-40B4-BE49-F238E27FC236}">
                <a16:creationId xmlns:a16="http://schemas.microsoft.com/office/drawing/2014/main" id="{96A582F7-F9EC-4B8D-B0C9-97309A0C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684" y="2358265"/>
            <a:ext cx="1668241" cy="3638075"/>
          </a:xfrm>
          <a:prstGeom xmlns:a="http://schemas.openxmlformats.org/drawingml/2006/main" prst="downArrow">
            <a:avLst>
              <a:gd name="adj1" fmla="val 100000"/>
              <a:gd name="adj2" fmla="val 52223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FA175197-51CD-4B50-867D-92D751A1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684" y="2357246"/>
            <a:ext cx="1668241" cy="1048295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Text" lastClr="000000">
              <a:alpha val="15000"/>
            </a:sysClr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DAC5B0-8753-4BA1-A63A-4F16797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43" y="2633889"/>
            <a:ext cx="1323604" cy="556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2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1D890A9-D355-4E40-8403-F2442AC2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856" y="3543624"/>
            <a:ext cx="1262584" cy="322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后端测试</a:t>
            </a:r>
            <a:endParaRPr sz="1467" b="1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E04E5154-D15C-4EF8-9FD7-AA03C22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82" y="3873713"/>
            <a:ext cx="1510109" cy="83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pytest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后端全通过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Down Arrow 96">
            <a:extLst xmlns:a="http://schemas.openxmlformats.org/drawingml/2006/main">
              <a:ext uri="{FF2B5EF4-FFF2-40B4-BE49-F238E27FC236}">
                <a16:creationId xmlns:a16="http://schemas.microsoft.com/office/drawing/2014/main" id="{BE2182F4-7D59-4B4C-8718-9EE072A2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692" y="2358265"/>
            <a:ext cx="1668241" cy="3638075"/>
          </a:xfrm>
          <a:prstGeom xmlns:a="http://schemas.openxmlformats.org/drawingml/2006/main" prst="downArrow">
            <a:avLst>
              <a:gd name="adj1" fmla="val 100000"/>
              <a:gd name="adj2" fmla="val 52223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14153E01-35A6-4436-90F1-BE2436D0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8692" y="2357246"/>
            <a:ext cx="1668241" cy="10482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5000"/>
            </a:schemeClr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1AD6A9A-10A8-4083-8C30-9939E64C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150" y="2633889"/>
            <a:ext cx="1323604" cy="556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3D65520-376D-432F-A795-C8CB5DF9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5864" y="3543624"/>
            <a:ext cx="1262584" cy="322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前端测试</a:t>
            </a:r>
            <a:endParaRPr sz="1467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5B19420-8826-45C9-B527-6963E74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088" y="3873713"/>
            <a:ext cx="1510109" cy="83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Vitest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 文件全通过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Down Arrow 101">
            <a:extLst xmlns:a="http://schemas.openxmlformats.org/drawingml/2006/main">
              <a:ext uri="{FF2B5EF4-FFF2-40B4-BE49-F238E27FC236}">
                <a16:creationId xmlns:a16="http://schemas.microsoft.com/office/drawing/2014/main" id="{68E5C29E-1B95-4ADF-9DEC-B47480FB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833" y="2358265"/>
            <a:ext cx="1668241" cy="3638075"/>
          </a:xfrm>
          <a:prstGeom xmlns:a="http://schemas.openxmlformats.org/drawingml/2006/main" prst="downArrow">
            <a:avLst>
              <a:gd name="adj1" fmla="val 100000"/>
              <a:gd name="adj2" fmla="val 52223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Rectangle 102">
            <a:extLst xmlns:a="http://schemas.openxmlformats.org/drawingml/2006/main">
              <a:ext uri="{FF2B5EF4-FFF2-40B4-BE49-F238E27FC236}">
                <a16:creationId xmlns:a16="http://schemas.microsoft.com/office/drawing/2014/main" id="{98631E9E-C13C-4BD9-99DA-64C34EE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833" y="2357246"/>
            <a:ext cx="1668241" cy="1048295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Text" lastClr="000000">
              <a:alpha val="15000"/>
            </a:sysClr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3570E9A-D9CD-4FDC-A65F-247BFB63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0293" y="2633889"/>
            <a:ext cx="1323604" cy="556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3A4BDFD-7FF2-4483-9F56-89B9569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005" y="3543624"/>
            <a:ext cx="1262584" cy="322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浏览器用例</a:t>
            </a:r>
            <a:endParaRPr sz="1467" b="1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37B0FCED-4576-4032-8B2B-0B78E5E2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3231" y="3873713"/>
            <a:ext cx="1510109" cy="83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Edge E2E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桌面/移动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Down Arrow 106">
            <a:extLst xmlns:a="http://schemas.openxmlformats.org/drawingml/2006/main">
              <a:ext uri="{FF2B5EF4-FFF2-40B4-BE49-F238E27FC236}">
                <a16:creationId xmlns:a16="http://schemas.microsoft.com/office/drawing/2014/main" id="{FF903E01-BB8F-43FE-B82A-F3BFFB4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976" y="2358265"/>
            <a:ext cx="1668241" cy="3638075"/>
          </a:xfrm>
          <a:prstGeom xmlns:a="http://schemas.openxmlformats.org/drawingml/2006/main" prst="downArrow">
            <a:avLst>
              <a:gd name="adj1" fmla="val 100000"/>
              <a:gd name="adj2" fmla="val 52223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Rectangle 107">
            <a:extLst xmlns:a="http://schemas.openxmlformats.org/drawingml/2006/main">
              <a:ext uri="{FF2B5EF4-FFF2-40B4-BE49-F238E27FC236}">
                <a16:creationId xmlns:a16="http://schemas.microsoft.com/office/drawing/2014/main" id="{4A655F2C-EE89-4F1E-B4A0-0F5D80F9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976" y="2357246"/>
            <a:ext cx="1668241" cy="10482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alpha val="15000"/>
            </a:schemeClr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D949112-A801-4070-884D-6C126FF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9435" y="2633889"/>
            <a:ext cx="1323604" cy="556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25/25</a:t>
            </a:r>
          </a:p>
        </p:txBody>
      </p:sp>
      <p:sp>
        <p:nvSpPr>
          <p:cNvPr id="41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F08FC54-095B-4520-9E96-1423540F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47" y="3543624"/>
            <a:ext cx="1262584" cy="322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检索题集</a:t>
            </a:r>
            <a:endParaRPr sz="1467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E7484000-8397-43DC-8F79-D551E241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372" y="3873713"/>
            <a:ext cx="1510109" cy="83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Recall@3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检索 100%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Down Arrow 111">
            <a:extLst xmlns:a="http://schemas.openxmlformats.org/drawingml/2006/main">
              <a:ext uri="{FF2B5EF4-FFF2-40B4-BE49-F238E27FC236}">
                <a16:creationId xmlns:a16="http://schemas.microsoft.com/office/drawing/2014/main" id="{A8E572BF-73E1-4D68-8D1C-6C7D8186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685" y="2358265"/>
            <a:ext cx="1668241" cy="3638075"/>
          </a:xfrm>
          <a:prstGeom xmlns:a="http://schemas.openxmlformats.org/drawingml/2006/main" prst="downArrow">
            <a:avLst>
              <a:gd name="adj1" fmla="val 100000"/>
              <a:gd name="adj2" fmla="val 52223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Rectangle 112">
            <a:extLst xmlns:a="http://schemas.openxmlformats.org/drawingml/2006/main">
              <a:ext uri="{FF2B5EF4-FFF2-40B4-BE49-F238E27FC236}">
                <a16:creationId xmlns:a16="http://schemas.microsoft.com/office/drawing/2014/main" id="{2DFEC48E-AA77-453F-A4E0-B01840C9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685" y="2357246"/>
            <a:ext cx="1668241" cy="1048295"/>
          </a:xfrm>
          <a:prstGeom xmlns:a="http://schemas.openxmlformats.org/drawingml/2006/main" prst="rect">
            <a:avLst/>
          </a:prstGeom>
          <a:solidFill xmlns:a="http://schemas.openxmlformats.org/drawingml/2006/main">
            <a:sysClr val="windowText" lastClr="000000">
              <a:alpha val="15000"/>
            </a:sysClr>
          </a:solidFill>
          <a:ln xmlns:a="http://schemas.openxmlformats.org/drawingml/2006/main" w="9525" cmpd="sng">
            <a:noFill/>
            <a:prstDash val="solid"/>
          </a:ln>
        </p:spPr>
        <p:txBody>
          <a:bodyPr xmlns:a="http://schemas.openxmlformats.org/drawingml/2006/main" lIns="45708" tIns="22853" rIns="45708" bIns="22853" anchor="ctr"/>
          <a:lstStyle xmlns:a="http://schemas.openxmlformats.org/drawingml/2006/main"/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0059A83-AF4C-4FCE-B3A4-58A4D7FA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143" y="2633889"/>
            <a:ext cx="1323604" cy="5569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34CC0F6-7FAF-42BC-84A7-CDDDA8B5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857" y="3543624"/>
            <a:ext cx="1262584" cy="322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场景验收</a:t>
            </a:r>
            <a:endParaRPr sz="1467" b="1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DCD8006A-489F-4D85-9A54-B411D6F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082" y="3873713"/>
            <a:ext cx="1510109" cy="831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5708" tIns="22853" rIns="45708" bIns="22853"/>
          <a:lstStyle xmlns:a="http://schemas.openxmlformats.org/drawingml/2006/main"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正式场景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全部通过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230842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0" y="2100860"/>
            <a:ext cx="2664295" cy="266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764" y="2936718"/>
            <a:ext cx="3168994" cy="9925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02</a:t>
            </a:r>
          </a:p>
        </p:txBody>
      </p:sp>
      <p:sp>
        <p:nvSpPr>
          <p:cNvPr id="13" name="TextBox 4">
            <a:extLst xmlns:a="http://schemas.openxmlformats.org/drawingml/2006/main"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3029051"/>
            <a:ext cx="498598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批判性思维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B351835-B7ED-4E78-86CF-D1F787B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646CA0-4C8C-4FE6-9138-F5B50647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814B0E16-47CE-4A0A-9275-2E0E6D6D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纠错案例：结论必须服从证据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BF99B09-E687-41D9-B12E-E7FB94CC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783" y="1758589"/>
            <a:ext cx="202038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技术选型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7E2C00B-68A9-43D5-871C-2DF8525D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948" y="2281302"/>
            <a:ext cx="315050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AI 建议 Jinja</a:t>
            </a:r>
          </a:p>
          <a:p xmlns:a="http://schemas.openxmlformats.org/drawingml/2006/main"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约束要求 Vue3 + TS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9EF0458D-75F2-4F63-A2B0-FEA6D769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853" y="4681593"/>
            <a:ext cx="2020383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启动证据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61836ED4-CFD3-4011-BAF0-6CEACC63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853" y="5143258"/>
            <a:ext cx="3150505" cy="996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端口可达 ≠ 冷启动成功</a:t>
            </a:r>
          </a:p>
          <a:p xmlns:a="http://schemas.openxmlformats.org/drawingml/2006/main"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清端口后完成独立冷启动与双端健康检查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0C37D29F-F082-4355-B304-9B48201E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30" y="1758589"/>
            <a:ext cx="202038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范围假设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300466C-553A-4142-AE39-0BB1F3B0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408" y="2220075"/>
            <a:ext cx="3159575" cy="996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AI 一度将 F18 置为 P2 / 本期不做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人依据验收表恢复为必交范围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980708E-D7B5-4DB6-BF2C-973A028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030" y="4681593"/>
            <a:ext cx="202038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排期事实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43A6F77-1890-4BF2-818F-FB2B9AF3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79" y="5146495"/>
            <a:ext cx="3150504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AI 写成 9/4</a:t>
            </a:r>
          </a:p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里程碑记录为 9/3</a:t>
            </a:r>
          </a:p>
        </p:txBody>
      </p:sp>
      <p:sp>
        <p:nvSpPr>
          <p:cNvPr id="26" name="任意多边形: 形状 25">
            <a:extLst xmlns:a="http://schemas.openxmlformats.org/drawingml/2006/main">
              <a:ext uri="{FF2B5EF4-FFF2-40B4-BE49-F238E27FC236}">
                <a16:creationId xmlns:a16="http://schemas.microsoft.com/office/drawing/2014/main" id="{DFD2E46A-06E0-45C5-B4F7-40FCA6F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34" y="1914132"/>
            <a:ext cx="1589590" cy="1600200"/>
          </a:xfrm>
          <a:custGeom xmlns:a="http://schemas.openxmlformats.org/drawingml/2006/main"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B726ABBB-1DF2-4CBD-B66A-32147A00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437" y="1537954"/>
            <a:ext cx="1047510" cy="1047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8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DE0F347-5A9B-4005-989F-4FADB960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434253" y="1902754"/>
            <a:ext cx="1589590" cy="1600200"/>
          </a:xfrm>
          <a:custGeom xmlns:a="http://schemas.openxmlformats.org/drawingml/2006/main"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F7E8D6CA-CDBF-41AB-BCA1-EB24B70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52770" y="1554637"/>
            <a:ext cx="1047510" cy="1047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3" name="任意多边形: 形状 32">
            <a:extLst xmlns:a="http://schemas.openxmlformats.org/drawingml/2006/main">
              <a:ext uri="{FF2B5EF4-FFF2-40B4-BE49-F238E27FC236}">
                <a16:creationId xmlns:a16="http://schemas.microsoft.com/office/drawing/2014/main" id="{ABD10D8F-EFE9-4578-A8E5-FD1BB326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54934" y="3597689"/>
            <a:ext cx="1589590" cy="1600200"/>
          </a:xfrm>
          <a:custGeom xmlns:a="http://schemas.openxmlformats.org/drawingml/2006/main"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4" name="椭圆 33">
            <a:extLst xmlns:a="http://schemas.openxmlformats.org/drawingml/2006/main">
              <a:ext uri="{FF2B5EF4-FFF2-40B4-BE49-F238E27FC236}">
                <a16:creationId xmlns:a16="http://schemas.microsoft.com/office/drawing/2014/main" id="{FE76E2FE-C0D2-4862-AF48-F231C950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0437" y="4526557"/>
            <a:ext cx="1047510" cy="1047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5" name="任意多边形: 形状 34">
            <a:extLst xmlns:a="http://schemas.openxmlformats.org/drawingml/2006/main">
              <a:ext uri="{FF2B5EF4-FFF2-40B4-BE49-F238E27FC236}">
                <a16:creationId xmlns:a16="http://schemas.microsoft.com/office/drawing/2014/main" id="{78660860-7227-474D-A51A-06693922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V="1">
            <a:off x="4434253" y="3609067"/>
            <a:ext cx="1589590" cy="1600200"/>
          </a:xfrm>
          <a:custGeom xmlns:a="http://schemas.openxmlformats.org/drawingml/2006/main"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62F77558-72BA-463C-BFB8-E409092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V="1">
            <a:off x="4052770" y="4509875"/>
            <a:ext cx="1047510" cy="104751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7768E09B-4709-4692-9C45-B6CEABC5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296" y="2467244"/>
            <a:ext cx="1047510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疑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9C45A82-3F62-41F2-BA67-7C30B6A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340" y="2467244"/>
            <a:ext cx="1047510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核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372E3B40-9665-4930-8F53-13DB2977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296" y="3535932"/>
            <a:ext cx="1047510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证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EA0667E8-21A8-43E9-A391-C788ED06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340" y="3535932"/>
            <a:ext cx="1047510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改</a:t>
            </a:r>
          </a:p>
        </p:txBody>
      </p:sp>
      <p:sp>
        <p:nvSpPr>
          <p:cNvPr id="41" name="test-tube-and-flask_73666">
            <a:extLst xmlns:a="http://schemas.openxmlformats.org/drawingml/2006/main">
              <a:ext uri="{FF2B5EF4-FFF2-40B4-BE49-F238E27FC236}">
                <a16:creationId xmlns:a16="http://schemas.microsoft.com/office/drawing/2014/main" id="{BA1A9A6A-3248-40F0-819F-62FCD03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683" y="4760362"/>
            <a:ext cx="609685" cy="546536"/>
          </a:xfrm>
          <a:custGeom xmlns:a="http://schemas.openxmlformats.org/drawingml/2006/main">
            <a:gdLst>
              <a:gd name="T0" fmla="*/ 2762 w 2806"/>
              <a:gd name="T1" fmla="*/ 2207 h 2519"/>
              <a:gd name="T2" fmla="*/ 2166 w 2806"/>
              <a:gd name="T3" fmla="*/ 1299 h 2519"/>
              <a:gd name="T4" fmla="*/ 2166 w 2806"/>
              <a:gd name="T5" fmla="*/ 934 h 2519"/>
              <a:gd name="T6" fmla="*/ 2166 w 2806"/>
              <a:gd name="T7" fmla="*/ 510 h 2519"/>
              <a:gd name="T8" fmla="*/ 2188 w 2806"/>
              <a:gd name="T9" fmla="*/ 510 h 2519"/>
              <a:gd name="T10" fmla="*/ 2255 w 2806"/>
              <a:gd name="T11" fmla="*/ 443 h 2519"/>
              <a:gd name="T12" fmla="*/ 2188 w 2806"/>
              <a:gd name="T13" fmla="*/ 376 h 2519"/>
              <a:gd name="T14" fmla="*/ 2166 w 2806"/>
              <a:gd name="T15" fmla="*/ 376 h 2519"/>
              <a:gd name="T16" fmla="*/ 2166 w 2806"/>
              <a:gd name="T17" fmla="*/ 66 h 2519"/>
              <a:gd name="T18" fmla="*/ 2100 w 2806"/>
              <a:gd name="T19" fmla="*/ 0 h 2519"/>
              <a:gd name="T20" fmla="*/ 1580 w 2806"/>
              <a:gd name="T21" fmla="*/ 0 h 2519"/>
              <a:gd name="T22" fmla="*/ 1514 w 2806"/>
              <a:gd name="T23" fmla="*/ 66 h 2519"/>
              <a:gd name="T24" fmla="*/ 1514 w 2806"/>
              <a:gd name="T25" fmla="*/ 376 h 2519"/>
              <a:gd name="T26" fmla="*/ 1492 w 2806"/>
              <a:gd name="T27" fmla="*/ 376 h 2519"/>
              <a:gd name="T28" fmla="*/ 1425 w 2806"/>
              <a:gd name="T29" fmla="*/ 443 h 2519"/>
              <a:gd name="T30" fmla="*/ 1492 w 2806"/>
              <a:gd name="T31" fmla="*/ 510 h 2519"/>
              <a:gd name="T32" fmla="*/ 1514 w 2806"/>
              <a:gd name="T33" fmla="*/ 510 h 2519"/>
              <a:gd name="T34" fmla="*/ 1514 w 2806"/>
              <a:gd name="T35" fmla="*/ 934 h 2519"/>
              <a:gd name="T36" fmla="*/ 1514 w 2806"/>
              <a:gd name="T37" fmla="*/ 1299 h 2519"/>
              <a:gd name="T38" fmla="*/ 918 w 2806"/>
              <a:gd name="T39" fmla="*/ 2207 h 2519"/>
              <a:gd name="T40" fmla="*/ 909 w 2806"/>
              <a:gd name="T41" fmla="*/ 2413 h 2519"/>
              <a:gd name="T42" fmla="*/ 1087 w 2806"/>
              <a:gd name="T43" fmla="*/ 2519 h 2519"/>
              <a:gd name="T44" fmla="*/ 2593 w 2806"/>
              <a:gd name="T45" fmla="*/ 2519 h 2519"/>
              <a:gd name="T46" fmla="*/ 2771 w 2806"/>
              <a:gd name="T47" fmla="*/ 2413 h 2519"/>
              <a:gd name="T48" fmla="*/ 2762 w 2806"/>
              <a:gd name="T49" fmla="*/ 2207 h 2519"/>
              <a:gd name="T50" fmla="*/ 2033 w 2806"/>
              <a:gd name="T51" fmla="*/ 510 h 2519"/>
              <a:gd name="T52" fmla="*/ 2033 w 2806"/>
              <a:gd name="T53" fmla="*/ 867 h 2519"/>
              <a:gd name="T54" fmla="*/ 1647 w 2806"/>
              <a:gd name="T55" fmla="*/ 867 h 2519"/>
              <a:gd name="T56" fmla="*/ 1647 w 2806"/>
              <a:gd name="T57" fmla="*/ 510 h 2519"/>
              <a:gd name="T58" fmla="*/ 2033 w 2806"/>
              <a:gd name="T59" fmla="*/ 510 h 2519"/>
              <a:gd name="T60" fmla="*/ 705 w 2806"/>
              <a:gd name="T61" fmla="*/ 971 h 2519"/>
              <a:gd name="T62" fmla="*/ 678 w 2806"/>
              <a:gd name="T63" fmla="*/ 971 h 2519"/>
              <a:gd name="T64" fmla="*/ 678 w 2806"/>
              <a:gd name="T65" fmla="*/ 723 h 2519"/>
              <a:gd name="T66" fmla="*/ 611 w 2806"/>
              <a:gd name="T67" fmla="*/ 656 h 2519"/>
              <a:gd name="T68" fmla="*/ 160 w 2806"/>
              <a:gd name="T69" fmla="*/ 656 h 2519"/>
              <a:gd name="T70" fmla="*/ 94 w 2806"/>
              <a:gd name="T71" fmla="*/ 723 h 2519"/>
              <a:gd name="T72" fmla="*/ 94 w 2806"/>
              <a:gd name="T73" fmla="*/ 971 h 2519"/>
              <a:gd name="T74" fmla="*/ 67 w 2806"/>
              <a:gd name="T75" fmla="*/ 971 h 2519"/>
              <a:gd name="T76" fmla="*/ 0 w 2806"/>
              <a:gd name="T77" fmla="*/ 1037 h 2519"/>
              <a:gd name="T78" fmla="*/ 67 w 2806"/>
              <a:gd name="T79" fmla="*/ 1104 h 2519"/>
              <a:gd name="T80" fmla="*/ 91 w 2806"/>
              <a:gd name="T81" fmla="*/ 1104 h 2519"/>
              <a:gd name="T82" fmla="*/ 91 w 2806"/>
              <a:gd name="T83" fmla="*/ 1503 h 2519"/>
              <a:gd name="T84" fmla="*/ 91 w 2806"/>
              <a:gd name="T85" fmla="*/ 2253 h 2519"/>
              <a:gd name="T86" fmla="*/ 357 w 2806"/>
              <a:gd name="T87" fmla="*/ 2519 h 2519"/>
              <a:gd name="T88" fmla="*/ 414 w 2806"/>
              <a:gd name="T89" fmla="*/ 2519 h 2519"/>
              <a:gd name="T90" fmla="*/ 681 w 2806"/>
              <a:gd name="T91" fmla="*/ 2253 h 2519"/>
              <a:gd name="T92" fmla="*/ 681 w 2806"/>
              <a:gd name="T93" fmla="*/ 1503 h 2519"/>
              <a:gd name="T94" fmla="*/ 681 w 2806"/>
              <a:gd name="T95" fmla="*/ 1104 h 2519"/>
              <a:gd name="T96" fmla="*/ 705 w 2806"/>
              <a:gd name="T97" fmla="*/ 1104 h 2519"/>
              <a:gd name="T98" fmla="*/ 771 w 2806"/>
              <a:gd name="T99" fmla="*/ 1037 h 2519"/>
              <a:gd name="T100" fmla="*/ 705 w 2806"/>
              <a:gd name="T101" fmla="*/ 971 h 2519"/>
              <a:gd name="T102" fmla="*/ 547 w 2806"/>
              <a:gd name="T103" fmla="*/ 1436 h 2519"/>
              <a:gd name="T104" fmla="*/ 224 w 2806"/>
              <a:gd name="T105" fmla="*/ 1436 h 2519"/>
              <a:gd name="T106" fmla="*/ 224 w 2806"/>
              <a:gd name="T107" fmla="*/ 1104 h 2519"/>
              <a:gd name="T108" fmla="*/ 547 w 2806"/>
              <a:gd name="T109" fmla="*/ 1104 h 2519"/>
              <a:gd name="T110" fmla="*/ 547 w 2806"/>
              <a:gd name="T111" fmla="*/ 1436 h 2519"/>
            </a:gdLst>
            <a:rect l="0" t="0" r="r" b="b"/>
            <a:pathLst>
              <a:path w="2806" h="2519">
                <a:moveTo>
                  <a:pt x="2762" y="2207"/>
                </a:moveTo>
                <a:lnTo>
                  <a:pt x="2166" y="1299"/>
                </a:lnTo>
                <a:lnTo>
                  <a:pt x="2166" y="934"/>
                </a:lnTo>
                <a:lnTo>
                  <a:pt x="2166" y="510"/>
                </a:lnTo>
                <a:lnTo>
                  <a:pt x="2188" y="510"/>
                </a:lnTo>
                <a:cubicBezTo>
                  <a:pt x="2225" y="510"/>
                  <a:pt x="2255" y="480"/>
                  <a:pt x="2255" y="443"/>
                </a:cubicBezTo>
                <a:cubicBezTo>
                  <a:pt x="2255" y="406"/>
                  <a:pt x="2225" y="376"/>
                  <a:pt x="2188" y="376"/>
                </a:cubicBezTo>
                <a:lnTo>
                  <a:pt x="2166" y="376"/>
                </a:lnTo>
                <a:lnTo>
                  <a:pt x="2166" y="66"/>
                </a:lnTo>
                <a:cubicBezTo>
                  <a:pt x="2166" y="30"/>
                  <a:pt x="2137" y="0"/>
                  <a:pt x="2100" y="0"/>
                </a:cubicBezTo>
                <a:lnTo>
                  <a:pt x="1580" y="0"/>
                </a:lnTo>
                <a:cubicBezTo>
                  <a:pt x="1543" y="0"/>
                  <a:pt x="1514" y="30"/>
                  <a:pt x="1514" y="66"/>
                </a:cubicBezTo>
                <a:lnTo>
                  <a:pt x="1514" y="376"/>
                </a:lnTo>
                <a:lnTo>
                  <a:pt x="1492" y="376"/>
                </a:lnTo>
                <a:cubicBezTo>
                  <a:pt x="1455" y="376"/>
                  <a:pt x="1425" y="406"/>
                  <a:pt x="1425" y="443"/>
                </a:cubicBezTo>
                <a:cubicBezTo>
                  <a:pt x="1425" y="480"/>
                  <a:pt x="1455" y="510"/>
                  <a:pt x="1492" y="510"/>
                </a:cubicBezTo>
                <a:lnTo>
                  <a:pt x="1514" y="510"/>
                </a:lnTo>
                <a:lnTo>
                  <a:pt x="1514" y="934"/>
                </a:lnTo>
                <a:lnTo>
                  <a:pt x="1514" y="1299"/>
                </a:lnTo>
                <a:lnTo>
                  <a:pt x="918" y="2207"/>
                </a:lnTo>
                <a:cubicBezTo>
                  <a:pt x="877" y="2269"/>
                  <a:pt x="874" y="2348"/>
                  <a:pt x="909" y="2413"/>
                </a:cubicBezTo>
                <a:cubicBezTo>
                  <a:pt x="944" y="2479"/>
                  <a:pt x="1012" y="2519"/>
                  <a:pt x="1087" y="2519"/>
                </a:cubicBezTo>
                <a:lnTo>
                  <a:pt x="2593" y="2519"/>
                </a:lnTo>
                <a:cubicBezTo>
                  <a:pt x="2668" y="2519"/>
                  <a:pt x="2735" y="2479"/>
                  <a:pt x="2771" y="2413"/>
                </a:cubicBezTo>
                <a:cubicBezTo>
                  <a:pt x="2806" y="2348"/>
                  <a:pt x="2803" y="2269"/>
                  <a:pt x="2762" y="2207"/>
                </a:cubicBezTo>
                <a:close/>
                <a:moveTo>
                  <a:pt x="2033" y="510"/>
                </a:moveTo>
                <a:lnTo>
                  <a:pt x="2033" y="867"/>
                </a:lnTo>
                <a:lnTo>
                  <a:pt x="1647" y="867"/>
                </a:lnTo>
                <a:lnTo>
                  <a:pt x="1647" y="510"/>
                </a:lnTo>
                <a:lnTo>
                  <a:pt x="2033" y="510"/>
                </a:lnTo>
                <a:close/>
                <a:moveTo>
                  <a:pt x="705" y="971"/>
                </a:moveTo>
                <a:lnTo>
                  <a:pt x="678" y="971"/>
                </a:lnTo>
                <a:lnTo>
                  <a:pt x="678" y="723"/>
                </a:lnTo>
                <a:cubicBezTo>
                  <a:pt x="678" y="686"/>
                  <a:pt x="648" y="656"/>
                  <a:pt x="611" y="656"/>
                </a:cubicBezTo>
                <a:lnTo>
                  <a:pt x="160" y="656"/>
                </a:lnTo>
                <a:cubicBezTo>
                  <a:pt x="123" y="656"/>
                  <a:pt x="94" y="686"/>
                  <a:pt x="94" y="723"/>
                </a:cubicBezTo>
                <a:lnTo>
                  <a:pt x="94" y="971"/>
                </a:lnTo>
                <a:lnTo>
                  <a:pt x="67" y="971"/>
                </a:lnTo>
                <a:cubicBezTo>
                  <a:pt x="30" y="971"/>
                  <a:pt x="0" y="1000"/>
                  <a:pt x="0" y="1037"/>
                </a:cubicBezTo>
                <a:cubicBezTo>
                  <a:pt x="0" y="1074"/>
                  <a:pt x="30" y="1104"/>
                  <a:pt x="67" y="1104"/>
                </a:cubicBezTo>
                <a:lnTo>
                  <a:pt x="91" y="1104"/>
                </a:lnTo>
                <a:lnTo>
                  <a:pt x="91" y="1503"/>
                </a:lnTo>
                <a:lnTo>
                  <a:pt x="91" y="2253"/>
                </a:lnTo>
                <a:cubicBezTo>
                  <a:pt x="91" y="2400"/>
                  <a:pt x="210" y="2519"/>
                  <a:pt x="357" y="2519"/>
                </a:cubicBezTo>
                <a:lnTo>
                  <a:pt x="414" y="2519"/>
                </a:lnTo>
                <a:cubicBezTo>
                  <a:pt x="561" y="2519"/>
                  <a:pt x="681" y="2400"/>
                  <a:pt x="681" y="2253"/>
                </a:cubicBezTo>
                <a:lnTo>
                  <a:pt x="681" y="1503"/>
                </a:lnTo>
                <a:lnTo>
                  <a:pt x="681" y="1104"/>
                </a:lnTo>
                <a:lnTo>
                  <a:pt x="705" y="1104"/>
                </a:lnTo>
                <a:cubicBezTo>
                  <a:pt x="741" y="1104"/>
                  <a:pt x="771" y="1074"/>
                  <a:pt x="771" y="1037"/>
                </a:cubicBezTo>
                <a:cubicBezTo>
                  <a:pt x="771" y="1000"/>
                  <a:pt x="741" y="971"/>
                  <a:pt x="705" y="971"/>
                </a:cubicBezTo>
                <a:close/>
                <a:moveTo>
                  <a:pt x="547" y="1436"/>
                </a:moveTo>
                <a:lnTo>
                  <a:pt x="224" y="1436"/>
                </a:lnTo>
                <a:lnTo>
                  <a:pt x="224" y="1104"/>
                </a:lnTo>
                <a:lnTo>
                  <a:pt x="547" y="1104"/>
                </a:lnTo>
                <a:lnTo>
                  <a:pt x="547" y="14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2" name="notepad_285542">
            <a:extLst xmlns:a="http://schemas.openxmlformats.org/drawingml/2006/main">
              <a:ext uri="{FF2B5EF4-FFF2-40B4-BE49-F238E27FC236}">
                <a16:creationId xmlns:a16="http://schemas.microsoft.com/office/drawing/2014/main" id="{894A0E89-381D-457C-BF96-1BCBDF32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231" y="1773550"/>
            <a:ext cx="456589" cy="609685"/>
          </a:xfrm>
          <a:custGeom xmlns:a="http://schemas.openxmlformats.org/drawingml/2006/main">
            <a:gdLst>
              <a:gd name="T0" fmla="*/ 4345 w 5105"/>
              <a:gd name="T1" fmla="*/ 438 h 6827"/>
              <a:gd name="T2" fmla="*/ 4345 w 5105"/>
              <a:gd name="T3" fmla="*/ 0 h 6827"/>
              <a:gd name="T4" fmla="*/ 3900 w 5105"/>
              <a:gd name="T5" fmla="*/ 0 h 6827"/>
              <a:gd name="T6" fmla="*/ 3900 w 5105"/>
              <a:gd name="T7" fmla="*/ 438 h 6827"/>
              <a:gd name="T8" fmla="*/ 3298 w 5105"/>
              <a:gd name="T9" fmla="*/ 438 h 6827"/>
              <a:gd name="T10" fmla="*/ 3298 w 5105"/>
              <a:gd name="T11" fmla="*/ 0 h 6827"/>
              <a:gd name="T12" fmla="*/ 2853 w 5105"/>
              <a:gd name="T13" fmla="*/ 0 h 6827"/>
              <a:gd name="T14" fmla="*/ 2853 w 5105"/>
              <a:gd name="T15" fmla="*/ 438 h 6827"/>
              <a:gd name="T16" fmla="*/ 2252 w 5105"/>
              <a:gd name="T17" fmla="*/ 438 h 6827"/>
              <a:gd name="T18" fmla="*/ 2252 w 5105"/>
              <a:gd name="T19" fmla="*/ 0 h 6827"/>
              <a:gd name="T20" fmla="*/ 1806 w 5105"/>
              <a:gd name="T21" fmla="*/ 0 h 6827"/>
              <a:gd name="T22" fmla="*/ 1806 w 5105"/>
              <a:gd name="T23" fmla="*/ 438 h 6827"/>
              <a:gd name="T24" fmla="*/ 1205 w 5105"/>
              <a:gd name="T25" fmla="*/ 438 h 6827"/>
              <a:gd name="T26" fmla="*/ 1205 w 5105"/>
              <a:gd name="T27" fmla="*/ 0 h 6827"/>
              <a:gd name="T28" fmla="*/ 760 w 5105"/>
              <a:gd name="T29" fmla="*/ 0 h 6827"/>
              <a:gd name="T30" fmla="*/ 760 w 5105"/>
              <a:gd name="T31" fmla="*/ 438 h 6827"/>
              <a:gd name="T32" fmla="*/ 0 w 5105"/>
              <a:gd name="T33" fmla="*/ 438 h 6827"/>
              <a:gd name="T34" fmla="*/ 0 w 5105"/>
              <a:gd name="T35" fmla="*/ 6827 h 6827"/>
              <a:gd name="T36" fmla="*/ 5105 w 5105"/>
              <a:gd name="T37" fmla="*/ 6827 h 6827"/>
              <a:gd name="T38" fmla="*/ 5105 w 5105"/>
              <a:gd name="T39" fmla="*/ 438 h 6827"/>
              <a:gd name="T40" fmla="*/ 4345 w 5105"/>
              <a:gd name="T41" fmla="*/ 438 h 6827"/>
              <a:gd name="T42" fmla="*/ 4122 w 5105"/>
              <a:gd name="T43" fmla="*/ 5771 h 6827"/>
              <a:gd name="T44" fmla="*/ 982 w 5105"/>
              <a:gd name="T45" fmla="*/ 5771 h 6827"/>
              <a:gd name="T46" fmla="*/ 982 w 5105"/>
              <a:gd name="T47" fmla="*/ 5326 h 6827"/>
              <a:gd name="T48" fmla="*/ 4122 w 5105"/>
              <a:gd name="T49" fmla="*/ 5326 h 6827"/>
              <a:gd name="T50" fmla="*/ 4122 w 5105"/>
              <a:gd name="T51" fmla="*/ 5771 h 6827"/>
              <a:gd name="T52" fmla="*/ 4122 w 5105"/>
              <a:gd name="T53" fmla="*/ 4494 h 6827"/>
              <a:gd name="T54" fmla="*/ 982 w 5105"/>
              <a:gd name="T55" fmla="*/ 4494 h 6827"/>
              <a:gd name="T56" fmla="*/ 982 w 5105"/>
              <a:gd name="T57" fmla="*/ 4048 h 6827"/>
              <a:gd name="T58" fmla="*/ 4122 w 5105"/>
              <a:gd name="T59" fmla="*/ 4048 h 6827"/>
              <a:gd name="T60" fmla="*/ 4122 w 5105"/>
              <a:gd name="T61" fmla="*/ 4494 h 6827"/>
              <a:gd name="T62" fmla="*/ 4122 w 5105"/>
              <a:gd name="T63" fmla="*/ 3216 h 6827"/>
              <a:gd name="T64" fmla="*/ 982 w 5105"/>
              <a:gd name="T65" fmla="*/ 3216 h 6827"/>
              <a:gd name="T66" fmla="*/ 982 w 5105"/>
              <a:gd name="T67" fmla="*/ 2771 h 6827"/>
              <a:gd name="T68" fmla="*/ 4122 w 5105"/>
              <a:gd name="T69" fmla="*/ 2771 h 6827"/>
              <a:gd name="T70" fmla="*/ 4122 w 5105"/>
              <a:gd name="T71" fmla="*/ 3216 h 6827"/>
              <a:gd name="T72" fmla="*/ 4122 w 5105"/>
              <a:gd name="T73" fmla="*/ 1938 h 6827"/>
              <a:gd name="T74" fmla="*/ 982 w 5105"/>
              <a:gd name="T75" fmla="*/ 1938 h 6827"/>
              <a:gd name="T76" fmla="*/ 982 w 5105"/>
              <a:gd name="T77" fmla="*/ 1493 h 6827"/>
              <a:gd name="T78" fmla="*/ 4122 w 5105"/>
              <a:gd name="T79" fmla="*/ 1493 h 6827"/>
              <a:gd name="T80" fmla="*/ 4122 w 5105"/>
              <a:gd name="T81" fmla="*/ 1938 h 6827"/>
            </a:gdLst>
            <a:rect l="0" t="0" r="r" b="b"/>
            <a:pathLst>
              <a:path w="5105" h="6827">
                <a:moveTo>
                  <a:pt x="4345" y="438"/>
                </a:moveTo>
                <a:lnTo>
                  <a:pt x="4345" y="0"/>
                </a:lnTo>
                <a:lnTo>
                  <a:pt x="3900" y="0"/>
                </a:lnTo>
                <a:lnTo>
                  <a:pt x="3900" y="438"/>
                </a:lnTo>
                <a:lnTo>
                  <a:pt x="3298" y="438"/>
                </a:lnTo>
                <a:lnTo>
                  <a:pt x="3298" y="0"/>
                </a:lnTo>
                <a:lnTo>
                  <a:pt x="2853" y="0"/>
                </a:lnTo>
                <a:lnTo>
                  <a:pt x="2853" y="438"/>
                </a:lnTo>
                <a:lnTo>
                  <a:pt x="2252" y="438"/>
                </a:lnTo>
                <a:lnTo>
                  <a:pt x="2252" y="0"/>
                </a:lnTo>
                <a:lnTo>
                  <a:pt x="1806" y="0"/>
                </a:lnTo>
                <a:lnTo>
                  <a:pt x="1806" y="438"/>
                </a:lnTo>
                <a:lnTo>
                  <a:pt x="1205" y="438"/>
                </a:lnTo>
                <a:lnTo>
                  <a:pt x="1205" y="0"/>
                </a:lnTo>
                <a:lnTo>
                  <a:pt x="760" y="0"/>
                </a:lnTo>
                <a:lnTo>
                  <a:pt x="760" y="438"/>
                </a:lnTo>
                <a:lnTo>
                  <a:pt x="0" y="438"/>
                </a:lnTo>
                <a:lnTo>
                  <a:pt x="0" y="6827"/>
                </a:lnTo>
                <a:lnTo>
                  <a:pt x="5105" y="6827"/>
                </a:lnTo>
                <a:lnTo>
                  <a:pt x="5105" y="438"/>
                </a:lnTo>
                <a:lnTo>
                  <a:pt x="4345" y="438"/>
                </a:lnTo>
                <a:close/>
                <a:moveTo>
                  <a:pt x="4122" y="5771"/>
                </a:moveTo>
                <a:lnTo>
                  <a:pt x="982" y="5771"/>
                </a:lnTo>
                <a:lnTo>
                  <a:pt x="982" y="5326"/>
                </a:lnTo>
                <a:lnTo>
                  <a:pt x="4122" y="5326"/>
                </a:lnTo>
                <a:lnTo>
                  <a:pt x="4122" y="5771"/>
                </a:lnTo>
                <a:close/>
                <a:moveTo>
                  <a:pt x="4122" y="4494"/>
                </a:moveTo>
                <a:lnTo>
                  <a:pt x="982" y="4494"/>
                </a:lnTo>
                <a:lnTo>
                  <a:pt x="982" y="4048"/>
                </a:lnTo>
                <a:lnTo>
                  <a:pt x="4122" y="4048"/>
                </a:lnTo>
                <a:lnTo>
                  <a:pt x="4122" y="4494"/>
                </a:lnTo>
                <a:close/>
                <a:moveTo>
                  <a:pt x="4122" y="3216"/>
                </a:moveTo>
                <a:lnTo>
                  <a:pt x="982" y="3216"/>
                </a:lnTo>
                <a:lnTo>
                  <a:pt x="982" y="2771"/>
                </a:lnTo>
                <a:lnTo>
                  <a:pt x="4122" y="2771"/>
                </a:lnTo>
                <a:lnTo>
                  <a:pt x="4122" y="3216"/>
                </a:lnTo>
                <a:close/>
                <a:moveTo>
                  <a:pt x="4122" y="1938"/>
                </a:moveTo>
                <a:lnTo>
                  <a:pt x="982" y="1938"/>
                </a:lnTo>
                <a:lnTo>
                  <a:pt x="982" y="1493"/>
                </a:lnTo>
                <a:lnTo>
                  <a:pt x="4122" y="1493"/>
                </a:lnTo>
                <a:lnTo>
                  <a:pt x="4122" y="19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3" name="chain-links_68872">
            <a:extLst xmlns:a="http://schemas.openxmlformats.org/drawingml/2006/main">
              <a:ext uri="{FF2B5EF4-FFF2-40B4-BE49-F238E27FC236}">
                <a16:creationId xmlns:a16="http://schemas.microsoft.com/office/drawing/2014/main" id="{FBD07AE7-0583-4735-BB3E-9D0E6A5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3" y="4745470"/>
            <a:ext cx="429079" cy="609685"/>
          </a:xfrm>
          <a:custGeom xmlns:a="http://schemas.openxmlformats.org/drawingml/2006/main">
            <a:gdLst>
              <a:gd name="connsiteX0" fmla="*/ 148905 w 426314"/>
              <a:gd name="connsiteY0" fmla="*/ 296101 h 605756"/>
              <a:gd name="connsiteX1" fmla="*/ 157077 w 426314"/>
              <a:gd name="connsiteY1" fmla="*/ 305336 h 605756"/>
              <a:gd name="connsiteX2" fmla="*/ 137830 w 426314"/>
              <a:gd name="connsiteY2" fmla="*/ 344102 h 605756"/>
              <a:gd name="connsiteX3" fmla="*/ 118690 w 426314"/>
              <a:gd name="connsiteY3" fmla="*/ 359028 h 605756"/>
              <a:gd name="connsiteX4" fmla="*/ 100626 w 426314"/>
              <a:gd name="connsiteY4" fmla="*/ 376102 h 605756"/>
              <a:gd name="connsiteX5" fmla="*/ 57293 w 426314"/>
              <a:gd name="connsiteY5" fmla="*/ 463298 h 605756"/>
              <a:gd name="connsiteX6" fmla="*/ 92669 w 426314"/>
              <a:gd name="connsiteY6" fmla="*/ 544910 h 605756"/>
              <a:gd name="connsiteX7" fmla="*/ 93744 w 426314"/>
              <a:gd name="connsiteY7" fmla="*/ 545340 h 605756"/>
              <a:gd name="connsiteX8" fmla="*/ 94712 w 426314"/>
              <a:gd name="connsiteY8" fmla="*/ 545877 h 605756"/>
              <a:gd name="connsiteX9" fmla="*/ 181055 w 426314"/>
              <a:gd name="connsiteY9" fmla="*/ 524078 h 605756"/>
              <a:gd name="connsiteX10" fmla="*/ 223743 w 426314"/>
              <a:gd name="connsiteY10" fmla="*/ 436559 h 605756"/>
              <a:gd name="connsiteX11" fmla="*/ 226324 w 426314"/>
              <a:gd name="connsiteY11" fmla="*/ 411861 h 605756"/>
              <a:gd name="connsiteX12" fmla="*/ 226431 w 426314"/>
              <a:gd name="connsiteY12" fmla="*/ 387700 h 605756"/>
              <a:gd name="connsiteX13" fmla="*/ 245463 w 426314"/>
              <a:gd name="connsiteY13" fmla="*/ 348719 h 605756"/>
              <a:gd name="connsiteX14" fmla="*/ 257721 w 426314"/>
              <a:gd name="connsiteY14" fmla="*/ 349578 h 605756"/>
              <a:gd name="connsiteX15" fmla="*/ 271592 w 426314"/>
              <a:gd name="connsiteY15" fmla="*/ 459862 h 605756"/>
              <a:gd name="connsiteX16" fmla="*/ 228905 w 426314"/>
              <a:gd name="connsiteY16" fmla="*/ 547380 h 605756"/>
              <a:gd name="connsiteX17" fmla="*/ 71379 w 426314"/>
              <a:gd name="connsiteY17" fmla="*/ 593663 h 605756"/>
              <a:gd name="connsiteX18" fmla="*/ 70196 w 426314"/>
              <a:gd name="connsiteY18" fmla="*/ 593126 h 605756"/>
              <a:gd name="connsiteX19" fmla="*/ 69014 w 426314"/>
              <a:gd name="connsiteY19" fmla="*/ 592481 h 605756"/>
              <a:gd name="connsiteX20" fmla="*/ 9552 w 426314"/>
              <a:gd name="connsiteY20" fmla="*/ 439674 h 605756"/>
              <a:gd name="connsiteX21" fmla="*/ 52992 w 426314"/>
              <a:gd name="connsiteY21" fmla="*/ 352478 h 605756"/>
              <a:gd name="connsiteX22" fmla="*/ 148905 w 426314"/>
              <a:gd name="connsiteY22" fmla="*/ 296101 h 605756"/>
              <a:gd name="connsiteX23" fmla="*/ 267867 w 426314"/>
              <a:gd name="connsiteY23" fmla="*/ 165141 h 605756"/>
              <a:gd name="connsiteX24" fmla="*/ 287980 w 426314"/>
              <a:gd name="connsiteY24" fmla="*/ 174806 h 605756"/>
              <a:gd name="connsiteX25" fmla="*/ 294218 w 426314"/>
              <a:gd name="connsiteY25" fmla="*/ 192956 h 605756"/>
              <a:gd name="connsiteX26" fmla="*/ 176550 w 426314"/>
              <a:gd name="connsiteY26" fmla="*/ 434374 h 605756"/>
              <a:gd name="connsiteX27" fmla="*/ 158372 w 426314"/>
              <a:gd name="connsiteY27" fmla="*/ 440603 h 605756"/>
              <a:gd name="connsiteX28" fmla="*/ 138367 w 426314"/>
              <a:gd name="connsiteY28" fmla="*/ 430830 h 605756"/>
              <a:gd name="connsiteX29" fmla="*/ 132128 w 426314"/>
              <a:gd name="connsiteY29" fmla="*/ 412788 h 605756"/>
              <a:gd name="connsiteX30" fmla="*/ 249797 w 426314"/>
              <a:gd name="connsiteY30" fmla="*/ 171370 h 605756"/>
              <a:gd name="connsiteX31" fmla="*/ 267867 w 426314"/>
              <a:gd name="connsiteY31" fmla="*/ 165141 h 605756"/>
              <a:gd name="connsiteX32" fmla="*/ 309732 w 426314"/>
              <a:gd name="connsiteY32" fmla="*/ 280 h 605756"/>
              <a:gd name="connsiteX33" fmla="*/ 354874 w 426314"/>
              <a:gd name="connsiteY33" fmla="*/ 12045 h 605756"/>
              <a:gd name="connsiteX34" fmla="*/ 356057 w 426314"/>
              <a:gd name="connsiteY34" fmla="*/ 12689 h 605756"/>
              <a:gd name="connsiteX35" fmla="*/ 357240 w 426314"/>
              <a:gd name="connsiteY35" fmla="*/ 13226 h 605756"/>
              <a:gd name="connsiteX36" fmla="*/ 416716 w 426314"/>
              <a:gd name="connsiteY36" fmla="*/ 166141 h 605756"/>
              <a:gd name="connsiteX37" fmla="*/ 373373 w 426314"/>
              <a:gd name="connsiteY37" fmla="*/ 253230 h 605756"/>
              <a:gd name="connsiteX38" fmla="*/ 277330 w 426314"/>
              <a:gd name="connsiteY38" fmla="*/ 309607 h 605756"/>
              <a:gd name="connsiteX39" fmla="*/ 269157 w 426314"/>
              <a:gd name="connsiteY39" fmla="*/ 300479 h 605756"/>
              <a:gd name="connsiteX40" fmla="*/ 288516 w 426314"/>
              <a:gd name="connsiteY40" fmla="*/ 261606 h 605756"/>
              <a:gd name="connsiteX41" fmla="*/ 307660 w 426314"/>
              <a:gd name="connsiteY41" fmla="*/ 246787 h 605756"/>
              <a:gd name="connsiteX42" fmla="*/ 325728 w 426314"/>
              <a:gd name="connsiteY42" fmla="*/ 229606 h 605756"/>
              <a:gd name="connsiteX43" fmla="*/ 369071 w 426314"/>
              <a:gd name="connsiteY43" fmla="*/ 142410 h 605756"/>
              <a:gd name="connsiteX44" fmla="*/ 333579 w 426314"/>
              <a:gd name="connsiteY44" fmla="*/ 60905 h 605756"/>
              <a:gd name="connsiteX45" fmla="*/ 332611 w 426314"/>
              <a:gd name="connsiteY45" fmla="*/ 60368 h 605756"/>
              <a:gd name="connsiteX46" fmla="*/ 331536 w 426314"/>
              <a:gd name="connsiteY46" fmla="*/ 59938 h 605756"/>
              <a:gd name="connsiteX47" fmla="*/ 245173 w 426314"/>
              <a:gd name="connsiteY47" fmla="*/ 81630 h 605756"/>
              <a:gd name="connsiteX48" fmla="*/ 202583 w 426314"/>
              <a:gd name="connsiteY48" fmla="*/ 169148 h 605756"/>
              <a:gd name="connsiteX49" fmla="*/ 200002 w 426314"/>
              <a:gd name="connsiteY49" fmla="*/ 193954 h 605756"/>
              <a:gd name="connsiteX50" fmla="*/ 199894 w 426314"/>
              <a:gd name="connsiteY50" fmla="*/ 218115 h 605756"/>
              <a:gd name="connsiteX51" fmla="*/ 180858 w 426314"/>
              <a:gd name="connsiteY51" fmla="*/ 257096 h 605756"/>
              <a:gd name="connsiteX52" fmla="*/ 168597 w 426314"/>
              <a:gd name="connsiteY52" fmla="*/ 256237 h 605756"/>
              <a:gd name="connsiteX53" fmla="*/ 154615 w 426314"/>
              <a:gd name="connsiteY53" fmla="*/ 145953 h 605756"/>
              <a:gd name="connsiteX54" fmla="*/ 197313 w 426314"/>
              <a:gd name="connsiteY54" fmla="*/ 58328 h 605756"/>
              <a:gd name="connsiteX55" fmla="*/ 309732 w 426314"/>
              <a:gd name="connsiteY55" fmla="*/ 280 h 605756"/>
            </a:gdLst>
            <a:rect l="l" t="t" r="r" b="b"/>
            <a:pathLst>
              <a:path w="426314" h="605756">
                <a:moveTo>
                  <a:pt x="148905" y="296101"/>
                </a:moveTo>
                <a:cubicBezTo>
                  <a:pt x="153314" y="295886"/>
                  <a:pt x="159873" y="299645"/>
                  <a:pt x="157077" y="305336"/>
                </a:cubicBezTo>
                <a:cubicBezTo>
                  <a:pt x="151378" y="316933"/>
                  <a:pt x="141809" y="335940"/>
                  <a:pt x="137830" y="344102"/>
                </a:cubicBezTo>
                <a:cubicBezTo>
                  <a:pt x="134174" y="351404"/>
                  <a:pt x="123207" y="356558"/>
                  <a:pt x="118690" y="359028"/>
                </a:cubicBezTo>
                <a:cubicBezTo>
                  <a:pt x="110841" y="363109"/>
                  <a:pt x="104282" y="368800"/>
                  <a:pt x="100626" y="376102"/>
                </a:cubicBezTo>
                <a:lnTo>
                  <a:pt x="57293" y="463298"/>
                </a:lnTo>
                <a:cubicBezTo>
                  <a:pt x="43100" y="491755"/>
                  <a:pt x="65035" y="531165"/>
                  <a:pt x="92669" y="544910"/>
                </a:cubicBezTo>
                <a:cubicBezTo>
                  <a:pt x="92992" y="545017"/>
                  <a:pt x="93422" y="545232"/>
                  <a:pt x="93744" y="545340"/>
                </a:cubicBezTo>
                <a:cubicBezTo>
                  <a:pt x="94067" y="545554"/>
                  <a:pt x="94390" y="545769"/>
                  <a:pt x="94712" y="545877"/>
                </a:cubicBezTo>
                <a:cubicBezTo>
                  <a:pt x="122454" y="559407"/>
                  <a:pt x="167185" y="552642"/>
                  <a:pt x="181055" y="524078"/>
                </a:cubicBezTo>
                <a:lnTo>
                  <a:pt x="223743" y="436559"/>
                </a:lnTo>
                <a:cubicBezTo>
                  <a:pt x="227292" y="429150"/>
                  <a:pt x="227829" y="420559"/>
                  <a:pt x="226324" y="411861"/>
                </a:cubicBezTo>
                <a:cubicBezTo>
                  <a:pt x="225464" y="406814"/>
                  <a:pt x="222776" y="395002"/>
                  <a:pt x="226431" y="387700"/>
                </a:cubicBezTo>
                <a:cubicBezTo>
                  <a:pt x="230410" y="379538"/>
                  <a:pt x="239765" y="360317"/>
                  <a:pt x="245463" y="348719"/>
                </a:cubicBezTo>
                <a:cubicBezTo>
                  <a:pt x="248152" y="343028"/>
                  <a:pt x="255248" y="345927"/>
                  <a:pt x="257721" y="349578"/>
                </a:cubicBezTo>
                <a:cubicBezTo>
                  <a:pt x="278797" y="381257"/>
                  <a:pt x="289119" y="423995"/>
                  <a:pt x="271592" y="459862"/>
                </a:cubicBezTo>
                <a:lnTo>
                  <a:pt x="228905" y="547380"/>
                </a:lnTo>
                <a:cubicBezTo>
                  <a:pt x="203636" y="599354"/>
                  <a:pt x="128583" y="621475"/>
                  <a:pt x="71379" y="593663"/>
                </a:cubicBezTo>
                <a:cubicBezTo>
                  <a:pt x="71057" y="593448"/>
                  <a:pt x="70626" y="593233"/>
                  <a:pt x="70196" y="593126"/>
                </a:cubicBezTo>
                <a:cubicBezTo>
                  <a:pt x="69874" y="592911"/>
                  <a:pt x="69444" y="592696"/>
                  <a:pt x="69014" y="592481"/>
                </a:cubicBezTo>
                <a:cubicBezTo>
                  <a:pt x="12132" y="564239"/>
                  <a:pt x="-16147" y="491433"/>
                  <a:pt x="9552" y="439674"/>
                </a:cubicBezTo>
                <a:lnTo>
                  <a:pt x="52992" y="352478"/>
                </a:lnTo>
                <a:cubicBezTo>
                  <a:pt x="70734" y="316719"/>
                  <a:pt x="110949" y="298785"/>
                  <a:pt x="148905" y="296101"/>
                </a:cubicBezTo>
                <a:close/>
                <a:moveTo>
                  <a:pt x="267867" y="165141"/>
                </a:moveTo>
                <a:lnTo>
                  <a:pt x="287980" y="174806"/>
                </a:lnTo>
                <a:cubicBezTo>
                  <a:pt x="294648" y="178136"/>
                  <a:pt x="297445" y="186190"/>
                  <a:pt x="294218" y="192956"/>
                </a:cubicBezTo>
                <a:lnTo>
                  <a:pt x="176550" y="434374"/>
                </a:lnTo>
                <a:cubicBezTo>
                  <a:pt x="173323" y="441032"/>
                  <a:pt x="165149" y="443932"/>
                  <a:pt x="158372" y="440603"/>
                </a:cubicBezTo>
                <a:lnTo>
                  <a:pt x="138367" y="430830"/>
                </a:lnTo>
                <a:cubicBezTo>
                  <a:pt x="131591" y="427608"/>
                  <a:pt x="128794" y="419447"/>
                  <a:pt x="132128" y="412788"/>
                </a:cubicBezTo>
                <a:lnTo>
                  <a:pt x="249797" y="171370"/>
                </a:lnTo>
                <a:cubicBezTo>
                  <a:pt x="253024" y="164604"/>
                  <a:pt x="261198" y="161812"/>
                  <a:pt x="267867" y="165141"/>
                </a:cubicBezTo>
                <a:close/>
                <a:moveTo>
                  <a:pt x="309732" y="280"/>
                </a:moveTo>
                <a:cubicBezTo>
                  <a:pt x="325197" y="1300"/>
                  <a:pt x="340597" y="5119"/>
                  <a:pt x="354874" y="12045"/>
                </a:cubicBezTo>
                <a:cubicBezTo>
                  <a:pt x="355305" y="12260"/>
                  <a:pt x="355627" y="12475"/>
                  <a:pt x="356057" y="12689"/>
                </a:cubicBezTo>
                <a:cubicBezTo>
                  <a:pt x="356488" y="12904"/>
                  <a:pt x="356918" y="13119"/>
                  <a:pt x="357240" y="13226"/>
                </a:cubicBezTo>
                <a:cubicBezTo>
                  <a:pt x="414135" y="41468"/>
                  <a:pt x="442528" y="114382"/>
                  <a:pt x="416716" y="166141"/>
                </a:cubicBezTo>
                <a:lnTo>
                  <a:pt x="373373" y="253230"/>
                </a:lnTo>
                <a:cubicBezTo>
                  <a:pt x="355520" y="288989"/>
                  <a:pt x="315403" y="307030"/>
                  <a:pt x="277330" y="309607"/>
                </a:cubicBezTo>
                <a:cubicBezTo>
                  <a:pt x="273028" y="309929"/>
                  <a:pt x="266360" y="306063"/>
                  <a:pt x="269157" y="300479"/>
                </a:cubicBezTo>
                <a:cubicBezTo>
                  <a:pt x="274964" y="288882"/>
                  <a:pt x="284536" y="269767"/>
                  <a:pt x="288516" y="261606"/>
                </a:cubicBezTo>
                <a:cubicBezTo>
                  <a:pt x="292065" y="254304"/>
                  <a:pt x="303143" y="249149"/>
                  <a:pt x="307660" y="246787"/>
                </a:cubicBezTo>
                <a:cubicBezTo>
                  <a:pt x="315511" y="242599"/>
                  <a:pt x="321964" y="237015"/>
                  <a:pt x="325728" y="229606"/>
                </a:cubicBezTo>
                <a:lnTo>
                  <a:pt x="369071" y="142410"/>
                </a:lnTo>
                <a:cubicBezTo>
                  <a:pt x="383268" y="114060"/>
                  <a:pt x="361220" y="74543"/>
                  <a:pt x="333579" y="60905"/>
                </a:cubicBezTo>
                <a:cubicBezTo>
                  <a:pt x="333257" y="60690"/>
                  <a:pt x="332934" y="60583"/>
                  <a:pt x="332611" y="60368"/>
                </a:cubicBezTo>
                <a:cubicBezTo>
                  <a:pt x="332289" y="60261"/>
                  <a:pt x="331966" y="60046"/>
                  <a:pt x="331536" y="59938"/>
                </a:cubicBezTo>
                <a:cubicBezTo>
                  <a:pt x="303788" y="46408"/>
                  <a:pt x="259154" y="53066"/>
                  <a:pt x="245173" y="81630"/>
                </a:cubicBezTo>
                <a:lnTo>
                  <a:pt x="202583" y="169148"/>
                </a:lnTo>
                <a:cubicBezTo>
                  <a:pt x="198926" y="176558"/>
                  <a:pt x="198496" y="185148"/>
                  <a:pt x="200002" y="193954"/>
                </a:cubicBezTo>
                <a:cubicBezTo>
                  <a:pt x="200862" y="199001"/>
                  <a:pt x="203443" y="210813"/>
                  <a:pt x="199894" y="218115"/>
                </a:cubicBezTo>
                <a:cubicBezTo>
                  <a:pt x="195807" y="226277"/>
                  <a:pt x="186558" y="245498"/>
                  <a:pt x="180858" y="257096"/>
                </a:cubicBezTo>
                <a:cubicBezTo>
                  <a:pt x="178061" y="262680"/>
                  <a:pt x="170963" y="259780"/>
                  <a:pt x="168597" y="256237"/>
                </a:cubicBezTo>
                <a:cubicBezTo>
                  <a:pt x="147409" y="224558"/>
                  <a:pt x="137192" y="181820"/>
                  <a:pt x="154615" y="145953"/>
                </a:cubicBezTo>
                <a:lnTo>
                  <a:pt x="197313" y="58328"/>
                </a:lnTo>
                <a:cubicBezTo>
                  <a:pt x="216350" y="19347"/>
                  <a:pt x="263336" y="-2781"/>
                  <a:pt x="309732" y="28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44" name="user_125734">
            <a:extLst xmlns:a="http://schemas.openxmlformats.org/drawingml/2006/main">
              <a:ext uri="{FF2B5EF4-FFF2-40B4-BE49-F238E27FC236}">
                <a16:creationId xmlns:a16="http://schemas.microsoft.com/office/drawing/2014/main" id="{A78583BF-009E-42BB-8806-DA552E1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350" y="1838787"/>
            <a:ext cx="609685" cy="445844"/>
          </a:xfrm>
          <a:custGeom xmlns:a="http://schemas.openxmlformats.org/drawingml/2006/main">
            <a:gdLst>
              <a:gd name="connsiteX0" fmla="*/ 423919 w 606580"/>
              <a:gd name="connsiteY0" fmla="*/ 66190 h 443574"/>
              <a:gd name="connsiteX1" fmla="*/ 431550 w 606580"/>
              <a:gd name="connsiteY1" fmla="*/ 66190 h 443574"/>
              <a:gd name="connsiteX2" fmla="*/ 439369 w 606580"/>
              <a:gd name="connsiteY2" fmla="*/ 66190 h 443574"/>
              <a:gd name="connsiteX3" fmla="*/ 504181 w 606580"/>
              <a:gd name="connsiteY3" fmla="*/ 130906 h 443574"/>
              <a:gd name="connsiteX4" fmla="*/ 504181 w 606580"/>
              <a:gd name="connsiteY4" fmla="*/ 202771 h 443574"/>
              <a:gd name="connsiteX5" fmla="*/ 489768 w 606580"/>
              <a:gd name="connsiteY5" fmla="*/ 229767 h 443574"/>
              <a:gd name="connsiteX6" fmla="*/ 489768 w 606580"/>
              <a:gd name="connsiteY6" fmla="*/ 298998 h 443574"/>
              <a:gd name="connsiteX7" fmla="*/ 491463 w 606580"/>
              <a:gd name="connsiteY7" fmla="*/ 301914 h 443574"/>
              <a:gd name="connsiteX8" fmla="*/ 593863 w 606580"/>
              <a:gd name="connsiteY8" fmla="*/ 367477 h 443574"/>
              <a:gd name="connsiteX9" fmla="*/ 606580 w 606580"/>
              <a:gd name="connsiteY9" fmla="*/ 394285 h 443574"/>
              <a:gd name="connsiteX10" fmla="*/ 606580 w 606580"/>
              <a:gd name="connsiteY10" fmla="*/ 443574 h 443574"/>
              <a:gd name="connsiteX11" fmla="*/ 440782 w 606580"/>
              <a:gd name="connsiteY11" fmla="*/ 443574 h 443574"/>
              <a:gd name="connsiteX12" fmla="*/ 440782 w 606580"/>
              <a:gd name="connsiteY12" fmla="*/ 385819 h 443574"/>
              <a:gd name="connsiteX13" fmla="*/ 415158 w 606580"/>
              <a:gd name="connsiteY13" fmla="*/ 331450 h 443574"/>
              <a:gd name="connsiteX14" fmla="*/ 373332 w 606580"/>
              <a:gd name="connsiteY14" fmla="*/ 300221 h 443574"/>
              <a:gd name="connsiteX15" fmla="*/ 373520 w 606580"/>
              <a:gd name="connsiteY15" fmla="*/ 298998 h 443574"/>
              <a:gd name="connsiteX16" fmla="*/ 373520 w 606580"/>
              <a:gd name="connsiteY16" fmla="*/ 229767 h 443574"/>
              <a:gd name="connsiteX17" fmla="*/ 359107 w 606580"/>
              <a:gd name="connsiteY17" fmla="*/ 202771 h 443574"/>
              <a:gd name="connsiteX18" fmla="*/ 359107 w 606580"/>
              <a:gd name="connsiteY18" fmla="*/ 130906 h 443574"/>
              <a:gd name="connsiteX19" fmla="*/ 423919 w 606580"/>
              <a:gd name="connsiteY19" fmla="*/ 66190 h 443574"/>
              <a:gd name="connsiteX20" fmla="*/ 196607 w 606580"/>
              <a:gd name="connsiteY20" fmla="*/ 0 h 443574"/>
              <a:gd name="connsiteX21" fmla="*/ 205745 w 606580"/>
              <a:gd name="connsiteY21" fmla="*/ 0 h 443574"/>
              <a:gd name="connsiteX22" fmla="*/ 214789 w 606580"/>
              <a:gd name="connsiteY22" fmla="*/ 0 h 443574"/>
              <a:gd name="connsiteX23" fmla="*/ 291001 w 606580"/>
              <a:gd name="connsiteY23" fmla="*/ 76187 h 443574"/>
              <a:gd name="connsiteX24" fmla="*/ 291001 w 606580"/>
              <a:gd name="connsiteY24" fmla="*/ 160556 h 443574"/>
              <a:gd name="connsiteX25" fmla="*/ 273950 w 606580"/>
              <a:gd name="connsiteY25" fmla="*/ 192253 h 443574"/>
              <a:gd name="connsiteX26" fmla="*/ 273950 w 606580"/>
              <a:gd name="connsiteY26" fmla="*/ 273707 h 443574"/>
              <a:gd name="connsiteX27" fmla="*/ 276117 w 606580"/>
              <a:gd name="connsiteY27" fmla="*/ 277093 h 443574"/>
              <a:gd name="connsiteX28" fmla="*/ 396418 w 606580"/>
              <a:gd name="connsiteY28" fmla="*/ 354220 h 443574"/>
              <a:gd name="connsiteX29" fmla="*/ 411396 w 606580"/>
              <a:gd name="connsiteY29" fmla="*/ 385823 h 443574"/>
              <a:gd name="connsiteX30" fmla="*/ 411396 w 606580"/>
              <a:gd name="connsiteY30" fmla="*/ 443574 h 443574"/>
              <a:gd name="connsiteX31" fmla="*/ 205651 w 606580"/>
              <a:gd name="connsiteY31" fmla="*/ 443574 h 443574"/>
              <a:gd name="connsiteX32" fmla="*/ 0 w 606580"/>
              <a:gd name="connsiteY32" fmla="*/ 443574 h 443574"/>
              <a:gd name="connsiteX33" fmla="*/ 0 w 606580"/>
              <a:gd name="connsiteY33" fmla="*/ 385823 h 443574"/>
              <a:gd name="connsiteX34" fmla="*/ 14979 w 606580"/>
              <a:gd name="connsiteY34" fmla="*/ 354220 h 443574"/>
              <a:gd name="connsiteX35" fmla="*/ 135280 w 606580"/>
              <a:gd name="connsiteY35" fmla="*/ 277093 h 443574"/>
              <a:gd name="connsiteX36" fmla="*/ 137446 w 606580"/>
              <a:gd name="connsiteY36" fmla="*/ 273707 h 443574"/>
              <a:gd name="connsiteX37" fmla="*/ 137446 w 606580"/>
              <a:gd name="connsiteY37" fmla="*/ 192253 h 443574"/>
              <a:gd name="connsiteX38" fmla="*/ 120301 w 606580"/>
              <a:gd name="connsiteY38" fmla="*/ 160556 h 443574"/>
              <a:gd name="connsiteX39" fmla="*/ 120301 w 606580"/>
              <a:gd name="connsiteY39" fmla="*/ 76187 h 443574"/>
              <a:gd name="connsiteX40" fmla="*/ 196607 w 606580"/>
              <a:gd name="connsiteY40" fmla="*/ 0 h 443574"/>
            </a:gdLst>
            <a:rect l="l" t="t" r="r" b="b"/>
            <a:pathLst>
              <a:path w="606580" h="443574">
                <a:moveTo>
                  <a:pt x="423919" y="66190"/>
                </a:moveTo>
                <a:lnTo>
                  <a:pt x="431550" y="66190"/>
                </a:lnTo>
                <a:lnTo>
                  <a:pt x="439369" y="66190"/>
                </a:lnTo>
                <a:cubicBezTo>
                  <a:pt x="475166" y="66190"/>
                  <a:pt x="504181" y="95162"/>
                  <a:pt x="504181" y="130906"/>
                </a:cubicBezTo>
                <a:lnTo>
                  <a:pt x="504181" y="202771"/>
                </a:lnTo>
                <a:cubicBezTo>
                  <a:pt x="504181" y="214059"/>
                  <a:pt x="498434" y="224029"/>
                  <a:pt x="489768" y="229767"/>
                </a:cubicBezTo>
                <a:lnTo>
                  <a:pt x="489768" y="298998"/>
                </a:lnTo>
                <a:cubicBezTo>
                  <a:pt x="489768" y="300221"/>
                  <a:pt x="490333" y="301350"/>
                  <a:pt x="491463" y="301914"/>
                </a:cubicBezTo>
                <a:cubicBezTo>
                  <a:pt x="501261" y="306617"/>
                  <a:pt x="549304" y="330886"/>
                  <a:pt x="593863" y="367477"/>
                </a:cubicBezTo>
                <a:cubicBezTo>
                  <a:pt x="601870" y="374155"/>
                  <a:pt x="606580" y="384032"/>
                  <a:pt x="606580" y="394285"/>
                </a:cubicBezTo>
                <a:lnTo>
                  <a:pt x="606580" y="443574"/>
                </a:lnTo>
                <a:lnTo>
                  <a:pt x="440782" y="443574"/>
                </a:lnTo>
                <a:lnTo>
                  <a:pt x="440782" y="385819"/>
                </a:lnTo>
                <a:cubicBezTo>
                  <a:pt x="440782" y="364749"/>
                  <a:pt x="431456" y="344901"/>
                  <a:pt x="415158" y="331450"/>
                </a:cubicBezTo>
                <a:cubicBezTo>
                  <a:pt x="401216" y="320068"/>
                  <a:pt x="386992" y="309627"/>
                  <a:pt x="373332" y="300221"/>
                </a:cubicBezTo>
                <a:cubicBezTo>
                  <a:pt x="373426" y="299845"/>
                  <a:pt x="373520" y="299374"/>
                  <a:pt x="373520" y="298998"/>
                </a:cubicBezTo>
                <a:lnTo>
                  <a:pt x="373520" y="229767"/>
                </a:lnTo>
                <a:cubicBezTo>
                  <a:pt x="364854" y="224029"/>
                  <a:pt x="359107" y="214059"/>
                  <a:pt x="359107" y="202771"/>
                </a:cubicBezTo>
                <a:lnTo>
                  <a:pt x="359107" y="130906"/>
                </a:lnTo>
                <a:cubicBezTo>
                  <a:pt x="359107" y="95162"/>
                  <a:pt x="388122" y="66190"/>
                  <a:pt x="423919" y="66190"/>
                </a:cubicBezTo>
                <a:close/>
                <a:moveTo>
                  <a:pt x="196607" y="0"/>
                </a:moveTo>
                <a:lnTo>
                  <a:pt x="205745" y="0"/>
                </a:lnTo>
                <a:lnTo>
                  <a:pt x="214789" y="0"/>
                </a:lnTo>
                <a:cubicBezTo>
                  <a:pt x="256899" y="0"/>
                  <a:pt x="291001" y="34143"/>
                  <a:pt x="291001" y="76187"/>
                </a:cubicBezTo>
                <a:lnTo>
                  <a:pt x="291001" y="160556"/>
                </a:lnTo>
                <a:cubicBezTo>
                  <a:pt x="291001" y="173818"/>
                  <a:pt x="284219" y="185481"/>
                  <a:pt x="273950" y="192253"/>
                </a:cubicBezTo>
                <a:lnTo>
                  <a:pt x="273950" y="273707"/>
                </a:lnTo>
                <a:cubicBezTo>
                  <a:pt x="273950" y="275024"/>
                  <a:pt x="274798" y="276434"/>
                  <a:pt x="276117" y="277093"/>
                </a:cubicBezTo>
                <a:cubicBezTo>
                  <a:pt x="287516" y="282736"/>
                  <a:pt x="344039" y="311142"/>
                  <a:pt x="396418" y="354220"/>
                </a:cubicBezTo>
                <a:cubicBezTo>
                  <a:pt x="405932" y="361933"/>
                  <a:pt x="411396" y="373596"/>
                  <a:pt x="411396" y="385823"/>
                </a:cubicBezTo>
                <a:lnTo>
                  <a:pt x="411396" y="443574"/>
                </a:lnTo>
                <a:lnTo>
                  <a:pt x="205651" y="443574"/>
                </a:lnTo>
                <a:lnTo>
                  <a:pt x="0" y="443574"/>
                </a:lnTo>
                <a:lnTo>
                  <a:pt x="0" y="385823"/>
                </a:lnTo>
                <a:cubicBezTo>
                  <a:pt x="0" y="373596"/>
                  <a:pt x="5558" y="361933"/>
                  <a:pt x="14979" y="354220"/>
                </a:cubicBezTo>
                <a:cubicBezTo>
                  <a:pt x="67357" y="311142"/>
                  <a:pt x="123692" y="282736"/>
                  <a:pt x="135280" y="277093"/>
                </a:cubicBezTo>
                <a:cubicBezTo>
                  <a:pt x="136504" y="276434"/>
                  <a:pt x="137446" y="275024"/>
                  <a:pt x="137446" y="273707"/>
                </a:cubicBezTo>
                <a:lnTo>
                  <a:pt x="137446" y="192253"/>
                </a:lnTo>
                <a:cubicBezTo>
                  <a:pt x="127084" y="185387"/>
                  <a:pt x="120301" y="173724"/>
                  <a:pt x="120301" y="160556"/>
                </a:cubicBezTo>
                <a:lnTo>
                  <a:pt x="120301" y="76187"/>
                </a:lnTo>
                <a:cubicBezTo>
                  <a:pt x="120301" y="34143"/>
                  <a:pt x="154497" y="0"/>
                  <a:pt x="19660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</p:spTree>
    <p:extLst>
      <p:ext uri="{BB962C8B-B14F-4D97-AF65-F5344CB8AC3E}">
        <p14:creationId xmlns:p14="http://schemas.microsoft.com/office/powerpoint/2010/main" val="25479145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8C4A795-F87D-413A-964D-1D1ED24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006718-0854-4A4D-9F91-EC0B8F1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2CC7F29-419C-4A0B-A805-668912CF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验证框架：六类证据互相约束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A-圆角矩形 25">
            <a:extLst xmlns:a="http://schemas.openxmlformats.org/drawingml/2006/main">
              <a:ext uri="{FF2B5EF4-FFF2-40B4-BE49-F238E27FC236}">
                <a16:creationId xmlns:a16="http://schemas.microsoft.com/office/drawing/2014/main" id="{20E8EEA2-42BB-4158-B756-35FCA7E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4" name="PA-椭圆 31">
            <a:extLst xmlns:a="http://schemas.openxmlformats.org/drawingml/2006/main">
              <a:ext uri="{FF2B5EF4-FFF2-40B4-BE49-F238E27FC236}">
                <a16:creationId xmlns:a16="http://schemas.microsoft.com/office/drawing/2014/main" id="{65A3BB24-F05E-4479-95CB-80FE1CD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61" y="1846460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0749C8A3-395B-48E2-87F7-047F5A3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7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需求追踪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F56ECDA-7A63-469E-B02B-D452E62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" y="2799904"/>
            <a:ext cx="3136551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F01–F18 逐项映射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状态与证据可查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39C48116-ECC4-4094-A4FD-B25D9D35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31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38" name="PA-圆角矩形 26">
            <a:extLst xmlns:a="http://schemas.openxmlformats.org/drawingml/2006/main">
              <a:ext uri="{FF2B5EF4-FFF2-40B4-BE49-F238E27FC236}">
                <a16:creationId xmlns:a16="http://schemas.microsoft.com/office/drawing/2014/main" id="{54DEAB3F-43AD-473B-B659-C0D1833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91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9" name="PA-椭圆 40">
            <a:extLst xmlns:a="http://schemas.openxmlformats.org/drawingml/2006/main">
              <a:ext uri="{FF2B5EF4-FFF2-40B4-BE49-F238E27FC236}">
                <a16:creationId xmlns:a16="http://schemas.microsoft.com/office/drawing/2014/main" id="{0995008D-6F92-4C18-96FE-2345CFB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12" y="1845922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7C5FDEE-4E6B-4BBE-B026-6978710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638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后端单测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2D89BE0B-ED55-4F32-80BD-DA1DF8B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240" y="2799904"/>
            <a:ext cx="32139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pytest 36 项通过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迁移、依赖、契约另检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F1DF53B-F64E-45C2-8795-216787B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82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02</a:t>
            </a:r>
          </a:p>
        </p:txBody>
      </p:sp>
      <p:sp>
        <p:nvSpPr>
          <p:cNvPr id="43" name="PA-圆角矩形 27">
            <a:extLst xmlns:a="http://schemas.openxmlformats.org/drawingml/2006/main">
              <a:ext uri="{FF2B5EF4-FFF2-40B4-BE49-F238E27FC236}">
                <a16:creationId xmlns:a16="http://schemas.microsoft.com/office/drawing/2014/main" id="{893ABC73-6FB4-4020-8A9B-F07E01D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042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4" name="PA-椭圆 51">
            <a:extLst xmlns:a="http://schemas.openxmlformats.org/drawingml/2006/main">
              <a:ext uri="{FF2B5EF4-FFF2-40B4-BE49-F238E27FC236}">
                <a16:creationId xmlns:a16="http://schemas.microsoft.com/office/drawing/2014/main" id="{2DB25371-F64A-44FC-9A91-CF57337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63" y="1846460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C33179A-D975-4DB9-9740-9550A639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989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前端单测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61A91FC0-F614-49FD-9036-D1B38E8C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151" y="2799904"/>
            <a:ext cx="3138877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Vitest 6 项通过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严格类型检查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12CE4E99-F410-4FC6-B8FF-F2289FE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233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03</a:t>
            </a:r>
          </a:p>
        </p:txBody>
      </p:sp>
      <p:sp>
        <p:nvSpPr>
          <p:cNvPr id="48" name="PA-圆角矩形 28">
            <a:extLst xmlns:a="http://schemas.openxmlformats.org/drawingml/2006/main">
              <a:ext uri="{FF2B5EF4-FFF2-40B4-BE49-F238E27FC236}">
                <a16:creationId xmlns:a16="http://schemas.microsoft.com/office/drawing/2014/main" id="{677963CF-58B2-4185-958C-C7E5397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9" name="PA-椭圆 56">
            <a:extLst xmlns:a="http://schemas.openxmlformats.org/drawingml/2006/main">
              <a:ext uri="{FF2B5EF4-FFF2-40B4-BE49-F238E27FC236}">
                <a16:creationId xmlns:a16="http://schemas.microsoft.com/office/drawing/2014/main" id="{3C87EA06-0CDD-4E04-9A0F-521D148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61" y="4083834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0A7C0F8D-28A6-4341-8A18-A6CD5DD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7" y="4588470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端到端流程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A41DEC6D-D742-4FC9-A26C-FFDAC1F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8" y="5038095"/>
            <a:ext cx="316501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Edge 4 项通过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桌面 + 移动端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0FE4C747-340D-4B2C-B520-D606A6D4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31" y="4099032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04</a:t>
            </a:r>
          </a:p>
        </p:txBody>
      </p:sp>
      <p:sp>
        <p:nvSpPr>
          <p:cNvPr id="53" name="PA-圆角矩形 29">
            <a:extLst xmlns:a="http://schemas.openxmlformats.org/drawingml/2006/main">
              <a:ext uri="{FF2B5EF4-FFF2-40B4-BE49-F238E27FC236}">
                <a16:creationId xmlns:a16="http://schemas.microsoft.com/office/drawing/2014/main" id="{87184BC9-0CBA-4934-BBEE-C42C7C26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91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4" name="PA-椭圆 61">
            <a:extLst xmlns:a="http://schemas.openxmlformats.org/drawingml/2006/main">
              <a:ext uri="{FF2B5EF4-FFF2-40B4-BE49-F238E27FC236}">
                <a16:creationId xmlns:a16="http://schemas.microsoft.com/office/drawing/2014/main" id="{28E9D282-EE0B-4EDD-972C-C7970888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12" y="4083834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2860CA41-7939-4356-8172-FBFD2665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638" y="4585897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异常与安全</a:t>
            </a: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9036F5F1-CACF-486C-BF3A-280F9F58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924" y="5035522"/>
            <a:ext cx="3228629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伪造证据、超时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并发重建均覆盖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DBEAB99-A29E-44E1-AB9B-365D1081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82" y="4096459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05</a:t>
            </a:r>
          </a:p>
        </p:txBody>
      </p:sp>
      <p:sp>
        <p:nvSpPr>
          <p:cNvPr id="58" name="PA-圆角矩形 30">
            <a:extLst xmlns:a="http://schemas.openxmlformats.org/drawingml/2006/main">
              <a:ext uri="{FF2B5EF4-FFF2-40B4-BE49-F238E27FC236}">
                <a16:creationId xmlns:a16="http://schemas.microsoft.com/office/drawing/2014/main" id="{2ED17F29-4E17-4921-A6A4-13084C87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042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9" name="PA-椭圆 66">
            <a:extLst xmlns:a="http://schemas.openxmlformats.org/drawingml/2006/main">
              <a:ext uri="{FF2B5EF4-FFF2-40B4-BE49-F238E27FC236}">
                <a16:creationId xmlns:a16="http://schemas.microsoft.com/office/drawing/2014/main" id="{70DB4994-323F-4CBB-81CC-5405D93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63" y="4083834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ED39E093-2ECD-483D-AAAE-A4DFD695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989" y="4603124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边界声明</a:t>
            </a:r>
          </a:p>
        </p:txBody>
      </p:sp>
      <p:sp>
        <p:nvSpPr>
          <p:cNvPr id="61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F8993099-C0CE-4D78-9732-ED67240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151" y="5052749"/>
            <a:ext cx="3138877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SQLite 适合课程演示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模型异常时本地证据降级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A5E2199A-472E-46D0-B39D-11BAE31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233" y="4113686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191436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0" y="2100860"/>
            <a:ext cx="2664295" cy="266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764" y="2936718"/>
            <a:ext cx="3168994" cy="9925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03</a:t>
            </a:r>
          </a:p>
        </p:txBody>
      </p:sp>
      <p:sp>
        <p:nvSpPr>
          <p:cNvPr id="13" name="TextBox 4">
            <a:extLst xmlns:a="http://schemas.openxmlformats.org/drawingml/2006/main"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3029051"/>
            <a:ext cx="498598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协作过程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35FF4EC-2FC0-4005-A6B3-57148802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C355C7-6723-493E-A9A2-DA395792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51BD2EED-9A22-4908-A110-FE3D2E4A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10 轮协作：6 个关键转折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Freeform 5">
            <a:extLst xmlns:a="http://schemas.openxmlformats.org/drawingml/2006/main">
              <a:ext uri="{FF2B5EF4-FFF2-40B4-BE49-F238E27FC236}">
                <a16:creationId xmlns:a16="http://schemas.microsoft.com/office/drawing/2014/main" id="{19755C0D-31D9-4C25-8A0F-C593D2FF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2598" y="3110683"/>
            <a:ext cx="499685" cy="1039972"/>
          </a:xfrm>
          <a:custGeom xmlns:a="http://schemas.openxmlformats.org/drawingml/2006/main">
            <a:gdLst>
              <a:gd name="T0" fmla="*/ 280 w 280"/>
              <a:gd name="T1" fmla="*/ 278 h 862"/>
              <a:gd name="T2" fmla="*/ 280 w 280"/>
              <a:gd name="T3" fmla="*/ 862 h 862"/>
              <a:gd name="T4" fmla="*/ 0 w 280"/>
              <a:gd name="T5" fmla="*/ 582 h 862"/>
              <a:gd name="T6" fmla="*/ 0 w 280"/>
              <a:gd name="T7" fmla="*/ 0 h 862"/>
              <a:gd name="T8" fmla="*/ 3 w 280"/>
              <a:gd name="T9" fmla="*/ 0 h 862"/>
              <a:gd name="T10" fmla="*/ 280 w 280"/>
              <a:gd name="T11" fmla="*/ 278 h 862"/>
            </a:gdLst>
            <a:rect l="0" t="0" r="r" b="b"/>
            <a:pathLst>
              <a:path w="280" h="862">
                <a:moveTo>
                  <a:pt x="280" y="278"/>
                </a:moveTo>
                <a:lnTo>
                  <a:pt x="280" y="862"/>
                </a:lnTo>
                <a:lnTo>
                  <a:pt x="0" y="582"/>
                </a:lnTo>
                <a:lnTo>
                  <a:pt x="0" y="0"/>
                </a:lnTo>
                <a:lnTo>
                  <a:pt x="3" y="0"/>
                </a:lnTo>
                <a:lnTo>
                  <a:pt x="280" y="278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5" name="Freeform 8">
            <a:extLst xmlns:a="http://schemas.openxmlformats.org/drawingml/2006/main">
              <a:ext uri="{FF2B5EF4-FFF2-40B4-BE49-F238E27FC236}">
                <a16:creationId xmlns:a16="http://schemas.microsoft.com/office/drawing/2014/main" id="{7FEAC26E-6F3A-4931-931B-F380831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418" y="3110683"/>
            <a:ext cx="501471" cy="1354859"/>
          </a:xfrm>
          <a:custGeom xmlns:a="http://schemas.openxmlformats.org/drawingml/2006/main"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9 w 281"/>
              <a:gd name="T9" fmla="*/ 278 h 1123"/>
              <a:gd name="T10" fmla="*/ 281 w 281"/>
              <a:gd name="T11" fmla="*/ 278 h 1123"/>
            </a:gd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9" y="278"/>
                </a:lnTo>
                <a:lnTo>
                  <a:pt x="281" y="278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1F8C609-779C-4265-9DF8-49CFA471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022" y="3110683"/>
            <a:ext cx="501471" cy="1354859"/>
          </a:xfrm>
          <a:custGeom xmlns:a="http://schemas.openxmlformats.org/drawingml/2006/main"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8 w 281"/>
              <a:gd name="T9" fmla="*/ 278 h 1123"/>
              <a:gd name="T10" fmla="*/ 281 w 281"/>
              <a:gd name="T11" fmla="*/ 278 h 1123"/>
            </a:gd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1" y="278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7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9C28449-175F-4F43-9EEF-A6FDB97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626" y="3110683"/>
            <a:ext cx="499685" cy="1354859"/>
          </a:xfrm>
          <a:custGeom xmlns:a="http://schemas.openxmlformats.org/drawingml/2006/main"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8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AF534D0-6F5F-4328-A74B-125482AF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30" y="3110683"/>
            <a:ext cx="499685" cy="1354859"/>
          </a:xfrm>
          <a:custGeom xmlns:a="http://schemas.openxmlformats.org/drawingml/2006/main"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9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A0AC5C4-0BD3-4D15-B4A3-E3BCA2D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834" y="3110683"/>
            <a:ext cx="499685" cy="1354859"/>
          </a:xfrm>
          <a:custGeom xmlns:a="http://schemas.openxmlformats.org/drawingml/2006/main"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 xmlns:a="http://schemas.openxmlformats.org/drawingml/2006/main">
            <a:sysClr val="window" lastClr="FFFFFF">
              <a:lumMod val="85000"/>
            </a:sys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0" name="Freeform 17">
            <a:extLst xmlns:a="http://schemas.openxmlformats.org/drawingml/2006/main">
              <a:ext uri="{FF2B5EF4-FFF2-40B4-BE49-F238E27FC236}">
                <a16:creationId xmlns:a16="http://schemas.microsoft.com/office/drawing/2014/main" id="{2486FC2B-ECDC-4F0A-99E4-32E67FD5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2284" y="3285620"/>
            <a:ext cx="1101093" cy="1024288"/>
          </a:xfrm>
          <a:custGeom xmlns:a="http://schemas.openxmlformats.org/drawingml/2006/main">
            <a:gdLst>
              <a:gd name="T0" fmla="*/ 210 w 617"/>
              <a:gd name="T1" fmla="*/ 849 h 849"/>
              <a:gd name="T2" fmla="*/ 210 w 617"/>
              <a:gd name="T3" fmla="*/ 717 h 849"/>
              <a:gd name="T4" fmla="*/ 0 w 617"/>
              <a:gd name="T5" fmla="*/ 717 h 849"/>
              <a:gd name="T6" fmla="*/ 0 w 617"/>
              <a:gd name="T7" fmla="*/ 133 h 849"/>
              <a:gd name="T8" fmla="*/ 210 w 617"/>
              <a:gd name="T9" fmla="*/ 133 h 849"/>
              <a:gd name="T10" fmla="*/ 210 w 617"/>
              <a:gd name="T11" fmla="*/ 0 h 849"/>
              <a:gd name="T12" fmla="*/ 617 w 617"/>
              <a:gd name="T13" fmla="*/ 424 h 849"/>
              <a:gd name="T14" fmla="*/ 210 w 617"/>
              <a:gd name="T15" fmla="*/ 849 h 849"/>
            </a:gdLst>
            <a:rect l="0" t="0" r="r" b="b"/>
            <a:pathLst>
              <a:path w="617" h="849">
                <a:moveTo>
                  <a:pt x="210" y="849"/>
                </a:moveTo>
                <a:lnTo>
                  <a:pt x="210" y="717"/>
                </a:lnTo>
                <a:lnTo>
                  <a:pt x="0" y="717"/>
                </a:lnTo>
                <a:lnTo>
                  <a:pt x="0" y="133"/>
                </a:lnTo>
                <a:lnTo>
                  <a:pt x="210" y="133"/>
                </a:lnTo>
                <a:lnTo>
                  <a:pt x="210" y="0"/>
                </a:lnTo>
                <a:lnTo>
                  <a:pt x="617" y="424"/>
                </a:lnTo>
                <a:lnTo>
                  <a:pt x="210" y="849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53AEF42-645D-4136-8CCC-B24D9119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5" y="3110684"/>
            <a:ext cx="1029709" cy="1350033"/>
          </a:xfrm>
          <a:custGeom xmlns:a="http://schemas.openxmlformats.org/drawingml/2006/main">
            <a:gdLst>
              <a:gd name="T0" fmla="*/ 577 w 577"/>
              <a:gd name="T1" fmla="*/ 0 h 1119"/>
              <a:gd name="T2" fmla="*/ 577 w 577"/>
              <a:gd name="T3" fmla="*/ 1119 h 1119"/>
              <a:gd name="T4" fmla="*/ 288 w 577"/>
              <a:gd name="T5" fmla="*/ 840 h 1119"/>
              <a:gd name="T6" fmla="*/ 0 w 577"/>
              <a:gd name="T7" fmla="*/ 1118 h 1119"/>
              <a:gd name="T8" fmla="*/ 0 w 577"/>
              <a:gd name="T9" fmla="*/ 0 h 1119"/>
              <a:gd name="T10" fmla="*/ 577 w 577"/>
              <a:gd name="T11" fmla="*/ 0 h 1119"/>
            </a:gdLst>
            <a:rect l="0" t="0" r="r" b="b"/>
            <a:pathLst>
              <a:path w="577" h="1119">
                <a:moveTo>
                  <a:pt x="577" y="0"/>
                </a:moveTo>
                <a:lnTo>
                  <a:pt x="577" y="1119"/>
                </a:lnTo>
                <a:lnTo>
                  <a:pt x="288" y="840"/>
                </a:lnTo>
                <a:lnTo>
                  <a:pt x="0" y="1118"/>
                </a:lnTo>
                <a:lnTo>
                  <a:pt x="0" y="0"/>
                </a:lnTo>
                <a:lnTo>
                  <a:pt x="577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3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353E0186-FD76-4D74-98CF-DD3246BA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425" y="3272686"/>
            <a:ext cx="1279553" cy="903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I1</a:t>
            </a:r>
          </a:p>
        </p:txBody>
      </p:sp>
      <p:sp>
        <p:nvSpPr>
          <p:cNvPr id="2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D191A20-4B33-4750-925E-9D7237E3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521" y="3110683"/>
            <a:ext cx="1029709" cy="13548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6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9874098E-5F22-40E2-91F3-EE95E10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821" y="3272684"/>
            <a:ext cx="1279553" cy="903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I2</a:t>
            </a:r>
          </a:p>
        </p:txBody>
      </p:sp>
      <p:sp>
        <p:nvSpPr>
          <p:cNvPr id="28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F296DE7-0D67-4595-B0BE-48647034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917" y="3110683"/>
            <a:ext cx="1029709" cy="13548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9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57BEF405-08FB-4849-8EBC-A3F79324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217" y="3272684"/>
            <a:ext cx="1279553" cy="903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I3</a:t>
            </a:r>
          </a:p>
        </p:txBody>
      </p:sp>
      <p:sp>
        <p:nvSpPr>
          <p:cNvPr id="34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000F564-5F1F-4593-898D-A8285382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313" y="3110683"/>
            <a:ext cx="1029709" cy="13548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35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E8C14D49-4972-4282-A305-C52DC66E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9613" y="3272684"/>
            <a:ext cx="1279553" cy="903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accent5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I4</a:t>
            </a:r>
          </a:p>
        </p:txBody>
      </p:sp>
      <p:sp>
        <p:nvSpPr>
          <p:cNvPr id="37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886624F-8C84-4F45-A845-7696F10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492" y="3110683"/>
            <a:ext cx="1027925" cy="13548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38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292C0E21-75CC-49CF-BD2D-5D98633F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646" y="3272684"/>
            <a:ext cx="1279553" cy="903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I6</a:t>
            </a:r>
            <a:endParaRPr sz="2667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BCFBB9-B50D-44DC-8F74-ACC2EAF7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89" y="3110683"/>
            <a:ext cx="1029709" cy="135485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121920" tIns="60960" rIns="121920" bIns="60960" anchor="t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1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BCA52969-87AB-4C34-9B12-78B10C0B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189" y="3272684"/>
            <a:ext cx="1279553" cy="903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I10</a:t>
            </a:r>
          </a:p>
        </p:txBody>
      </p:sp>
      <p:sp>
        <p:nvSpPr>
          <p:cNvPr id="42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8FE2DF50-CEEA-469D-97F0-F6D7F891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520" y="4799952"/>
            <a:ext cx="2559105" cy="1248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排期修正</a:t>
            </a:r>
          </a:p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把 9/4 改为 9/3，重排里程碑。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3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F6155FDC-710F-431C-8268-789EA298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520" y="4458403"/>
            <a:ext cx="0" cy="146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44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CABCD097-3D84-4506-A9C0-6AB76D7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54" y="4799952"/>
            <a:ext cx="2559105" cy="1248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架构定型</a:t>
            </a:r>
          </a:p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开发双端分离；交付由 5000 托管完整网站。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5" name="Straight Connector 56">
            <a:extLst xmlns:a="http://schemas.openxmlformats.org/drawingml/2006/main">
              <a:ext uri="{FF2B5EF4-FFF2-40B4-BE49-F238E27FC236}">
                <a16:creationId xmlns:a16="http://schemas.microsoft.com/office/drawing/2014/main" id="{9F0D0D82-BEA1-4C7E-AB52-C820D7F0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555" y="4458403"/>
            <a:ext cx="0" cy="146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46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4818586E-41A7-4844-BA9D-77A38C18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88" y="4799952"/>
            <a:ext cx="2559105" cy="1248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验收闭环</a:t>
            </a:r>
          </a:p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统一功能、测试、文档与边界证据。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7" name="Straight Connector 58">
            <a:extLst xmlns:a="http://schemas.openxmlformats.org/drawingml/2006/main">
              <a:ext uri="{FF2B5EF4-FFF2-40B4-BE49-F238E27FC236}">
                <a16:creationId xmlns:a16="http://schemas.microsoft.com/office/drawing/2014/main" id="{8D68B3F0-5251-44C2-8A32-BBE32138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2888" y="4458403"/>
            <a:ext cx="0" cy="146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48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E9EB2531-829F-4A50-887B-97C78A6A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4" y="1556792"/>
            <a:ext cx="2559105" cy="1248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范围共识</a:t>
            </a:r>
          </a:p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保留轻量知识治理，不扩展为 HRIS。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9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BF67C02F-2786-4ACA-BF3D-8C06B5A2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158" y="1556792"/>
            <a:ext cx="2559105" cy="1248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技术栈锁定</a:t>
            </a:r>
          </a:p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从 Jinja 切换为 Vue3 + TypeScript。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50" name="Text Placeholder 59">
            <a:extLst xmlns:a="http://schemas.openxmlformats.org/drawingml/2006/main">
              <a:ext uri="{FF2B5EF4-FFF2-40B4-BE49-F238E27FC236}">
                <a16:creationId xmlns:a16="http://schemas.microsoft.com/office/drawing/2014/main" id="{8ADA4718-7B04-4D33-AC00-45EBDC15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492" y="1556792"/>
            <a:ext cx="2559105" cy="12481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证据纠偏</a:t>
            </a:r>
          </a:p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识别旧服务干扰，补做真实冷启动。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51" name="Straight Connector 62">
            <a:extLst xmlns:a="http://schemas.openxmlformats.org/drawingml/2006/main">
              <a:ext uri="{FF2B5EF4-FFF2-40B4-BE49-F238E27FC236}">
                <a16:creationId xmlns:a16="http://schemas.microsoft.com/office/drawing/2014/main" id="{319153B7-A681-4155-99CE-895D983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68" y="1652803"/>
            <a:ext cx="0" cy="146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52" name="Straight Connector 63">
            <a:extLst xmlns:a="http://schemas.openxmlformats.org/drawingml/2006/main">
              <a:ext uri="{FF2B5EF4-FFF2-40B4-BE49-F238E27FC236}">
                <a16:creationId xmlns:a16="http://schemas.microsoft.com/office/drawing/2014/main" id="{14FDB0E5-6C02-4F63-94B0-06D21E35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268" y="1652803"/>
            <a:ext cx="0" cy="146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53" name="Straight Connector 64">
            <a:extLst xmlns:a="http://schemas.openxmlformats.org/drawingml/2006/main">
              <a:ext uri="{FF2B5EF4-FFF2-40B4-BE49-F238E27FC236}">
                <a16:creationId xmlns:a16="http://schemas.microsoft.com/office/drawing/2014/main" id="{8044056F-C95C-4EDD-9A0C-B99AD1F9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7900" y="1652803"/>
            <a:ext cx="0" cy="14656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ysClr val="window" lastClr="FFFFFF">
                <a:lumMod val="65000"/>
              </a:sys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735210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FD30C51-1BD0-41D2-A238-A94CCB93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4696CD8-8EC6-438B-8837-379AE0FF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ECDA534-36F5-4932-B8EA-2AF4BF75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人机分工：判断权始终在人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723">
            <a:extLst xmlns:a="http://schemas.openxmlformats.org/drawingml/2006/main">
              <a:ext uri="{FF2B5EF4-FFF2-40B4-BE49-F238E27FC236}">
                <a16:creationId xmlns:a16="http://schemas.microsoft.com/office/drawing/2014/main" id="{D64F7C32-C424-4E8F-9062-7E24F90E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5379144" y="2943837"/>
            <a:ext cx="1414666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hape 1726">
            <a:extLst xmlns:a="http://schemas.openxmlformats.org/drawingml/2006/main">
              <a:ext uri="{FF2B5EF4-FFF2-40B4-BE49-F238E27FC236}">
                <a16:creationId xmlns:a16="http://schemas.microsoft.com/office/drawing/2014/main" id="{04F10E5A-A4EE-498B-B3C0-98B8339B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5379143" y="3148294"/>
            <a:ext cx="1414666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722">
            <a:extLst xmlns:a="http://schemas.openxmlformats.org/drawingml/2006/main">
              <a:ext uri="{FF2B5EF4-FFF2-40B4-BE49-F238E27FC236}">
                <a16:creationId xmlns:a16="http://schemas.microsoft.com/office/drawing/2014/main" id="{095D6A02-E945-4A15-A826-67B1EF26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563871" y="3356638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hape 1729">
            <a:extLst xmlns:a="http://schemas.openxmlformats.org/drawingml/2006/main">
              <a:ext uri="{FF2B5EF4-FFF2-40B4-BE49-F238E27FC236}">
                <a16:creationId xmlns:a16="http://schemas.microsoft.com/office/drawing/2014/main" id="{297C59D9-2AC8-47C1-9726-351354C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3563871" y="3152180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hape 1721">
            <a:extLst xmlns:a="http://schemas.openxmlformats.org/drawingml/2006/main">
              <a:ext uri="{FF2B5EF4-FFF2-40B4-BE49-F238E27FC236}">
                <a16:creationId xmlns:a16="http://schemas.microsoft.com/office/drawing/2014/main" id="{53298BD2-4EC7-4C95-835A-EEF7C84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1743076" y="2943837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1732">
            <a:extLst xmlns:a="http://schemas.openxmlformats.org/drawingml/2006/main">
              <a:ext uri="{FF2B5EF4-FFF2-40B4-BE49-F238E27FC236}">
                <a16:creationId xmlns:a16="http://schemas.microsoft.com/office/drawing/2014/main" id="{A3537DFA-F71C-4ED8-8305-04F02B9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1743076" y="3148294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hape 1724">
            <a:extLst xmlns:a="http://schemas.openxmlformats.org/drawingml/2006/main">
              <a:ext uri="{FF2B5EF4-FFF2-40B4-BE49-F238E27FC236}">
                <a16:creationId xmlns:a16="http://schemas.microsoft.com/office/drawing/2014/main" id="{E2B8677B-DCEF-4DDA-BD5A-0F97327F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138090" y="3441282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hape 1735">
            <a:extLst xmlns:a="http://schemas.openxmlformats.org/drawingml/2006/main">
              <a:ext uri="{FF2B5EF4-FFF2-40B4-BE49-F238E27FC236}">
                <a16:creationId xmlns:a16="http://schemas.microsoft.com/office/drawing/2014/main" id="{21A0931B-4DF4-4FDE-9FB3-A3761561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7138090" y="3236823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hape 1725">
            <a:extLst xmlns:a="http://schemas.openxmlformats.org/drawingml/2006/main">
              <a:ext uri="{FF2B5EF4-FFF2-40B4-BE49-F238E27FC236}">
                <a16:creationId xmlns:a16="http://schemas.microsoft.com/office/drawing/2014/main" id="{748B130B-F0D8-450B-B18F-D4C5380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015209" y="2943837"/>
            <a:ext cx="1414667" cy="1414666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/>
        </p:spPr>
        <p:txBody>
          <a:bodyPr xmlns:a="http://schemas.openxmlformats.org/drawingml/2006/main" lIns="67733" tIns="67733" rIns="67733" bIns="67733" anchor="ctr"/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hape 1738">
            <a:extLst xmlns:a="http://schemas.openxmlformats.org/drawingml/2006/main">
              <a:ext uri="{FF2B5EF4-FFF2-40B4-BE49-F238E27FC236}">
                <a16:creationId xmlns:a16="http://schemas.microsoft.com/office/drawing/2014/main" id="{B03C0D49-067A-47BD-A862-464FFD8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9015209" y="3148294"/>
            <a:ext cx="1414667" cy="1414667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C4C7CB"/>
          </a:solidFill>
          <a:ln xmlns:a="http://schemas.openxmlformats.org/drawingml/2006/main" w="12700">
            <a:noFill/>
          </a:ln>
        </p:spPr>
        <p:txBody>
          <a:bodyPr xmlns:a="http://schemas.openxmlformats.org/drawingml/2006/main" wrap="square" lIns="67733" tIns="67733" rIns="67733" bIns="67733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F8EDAE8-208F-4254-8CFB-B0D34A7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000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人·定方向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913590E-8902-4E41-BAB9-C120ED0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3032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Codex·扩方案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2E4E12D-DCA0-4110-A35F-D26F0E6E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53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共同·定标准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87620BF-128B-42C0-A291-0A34458B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385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Codex·做实现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F457139-9DF3-40ED-B1CE-17928C8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133" y="3721744"/>
            <a:ext cx="1210819" cy="267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人·作验收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21">
            <a:extLst xmlns:a="http://schemas.openxmlformats.org/drawingml/2006/main">
              <a:ext uri="{FF2B5EF4-FFF2-40B4-BE49-F238E27FC236}">
                <a16:creationId xmlns:a16="http://schemas.microsoft.com/office/drawing/2014/main" id="{A94426B9-3C26-4234-A09A-3471227A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68" y="1628800"/>
            <a:ext cx="2328369" cy="9638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人：定义目标、边界、技术栈和风险阈值。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22">
            <a:extLst xmlns:a="http://schemas.openxmlformats.org/drawingml/2006/main">
              <a:ext uri="{FF2B5EF4-FFF2-40B4-BE49-F238E27FC236}">
                <a16:creationId xmlns:a16="http://schemas.microsoft.com/office/drawing/2014/main" id="{8074948C-1CC8-431B-A31A-DC157871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670" y="5109963"/>
            <a:ext cx="2328369" cy="9638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Codex：拆解需求，提出备选方案与影响分析。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98BAC8-389F-4EDB-AC11-2E115820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088" y="1628800"/>
            <a:ext cx="2328369" cy="9638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共同：确定成功标准、接口合同与证据口径。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BA8EA4-CD26-4853-A0F8-0571FF7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874" y="5109963"/>
            <a:ext cx="2328369" cy="9638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Codex：编码、测试、回归、文档；暴露不确定性。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25">
            <a:extLst xmlns:a="http://schemas.openxmlformats.org/drawingml/2006/main">
              <a:ext uri="{FF2B5EF4-FFF2-40B4-BE49-F238E27FC236}">
                <a16:creationId xmlns:a16="http://schemas.microsoft.com/office/drawing/2014/main" id="{92DD16EC-2E12-4115-AA39-67332EC4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757" y="1628800"/>
            <a:ext cx="2328369" cy="9638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人：核验事实、处理取舍并对验收结论负责。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1542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0" y="2100860"/>
            <a:ext cx="2664295" cy="266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21">
            <a:extLst xmlns:a="http://schemas.openxmlformats.org/drawingml/2006/main"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764" y="2936718"/>
            <a:ext cx="3168994" cy="9925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04</a:t>
            </a:r>
          </a:p>
        </p:txBody>
      </p:sp>
      <p:sp>
        <p:nvSpPr>
          <p:cNvPr id="13" name="TextBox 4">
            <a:extLst xmlns:a="http://schemas.openxmlformats.org/drawingml/2006/main"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3029051"/>
            <a:ext cx="498598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创新点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8C4A795-F87D-413A-964D-1D1ED24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006718-0854-4A4D-9F91-EC0B8F19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72CC7F29-419C-4A0B-A805-668912CF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79" y="260604"/>
            <a:ext cx="3011043" cy="5616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核心创新：三链协同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A-圆角矩形 25">
            <a:extLst xmlns:a="http://schemas.openxmlformats.org/drawingml/2006/main">
              <a:ext uri="{FF2B5EF4-FFF2-40B4-BE49-F238E27FC236}">
                <a16:creationId xmlns:a16="http://schemas.microsoft.com/office/drawing/2014/main" id="{20E8EEA2-42BB-4158-B756-35FCA7E6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4" name="PA-椭圆 31">
            <a:extLst xmlns:a="http://schemas.openxmlformats.org/drawingml/2006/main">
              <a:ext uri="{FF2B5EF4-FFF2-40B4-BE49-F238E27FC236}">
                <a16:creationId xmlns:a16="http://schemas.microsoft.com/office/drawing/2014/main" id="{65A3BB24-F05E-4479-95CB-80FE1CD2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61" y="1846460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0749C8A3-395B-48E2-87F7-047F5A37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87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情景决策沙盘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AF56ECDA-7A63-469E-B02B-D452E629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" y="2799904"/>
            <a:ext cx="3136551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主动澄清｜情景重放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行动卡｜答案保鲜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39C48116-ECC4-4094-A4FD-B25D9D35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31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38" name="PA-圆角矩形 26">
            <a:extLst xmlns:a="http://schemas.openxmlformats.org/drawingml/2006/main">
              <a:ext uri="{FF2B5EF4-FFF2-40B4-BE49-F238E27FC236}">
                <a16:creationId xmlns:a16="http://schemas.microsoft.com/office/drawing/2014/main" id="{54DEAB3F-43AD-473B-B659-C0D18339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91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9" name="PA-椭圆 40">
            <a:extLst xmlns:a="http://schemas.openxmlformats.org/drawingml/2006/main">
              <a:ext uri="{FF2B5EF4-FFF2-40B4-BE49-F238E27FC236}">
                <a16:creationId xmlns:a16="http://schemas.microsoft.com/office/drawing/2014/main" id="{0995008D-6F92-4C18-96FE-2345CFBA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12" y="1845922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D7C5FDEE-4E6B-4BBE-B026-6978710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3638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DeepSeek 协同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2D89BE0B-ED55-4F32-80BD-DA1DF8B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240" y="2799904"/>
            <a:ext cx="3213996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证据先行｜模型表达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服务端校验｜异常降级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F1DF53B-F64E-45C2-8795-216787BF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82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02</a:t>
            </a:r>
          </a:p>
        </p:txBody>
      </p:sp>
      <p:sp>
        <p:nvSpPr>
          <p:cNvPr id="43" name="PA-圆角矩形 27">
            <a:extLst xmlns:a="http://schemas.openxmlformats.org/drawingml/2006/main">
              <a:ext uri="{FF2B5EF4-FFF2-40B4-BE49-F238E27FC236}">
                <a16:creationId xmlns:a16="http://schemas.microsoft.com/office/drawing/2014/main" id="{893ABC73-6FB4-4020-8A9B-F07E01D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042" y="1650085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4" name="PA-椭圆 51">
            <a:extLst xmlns:a="http://schemas.openxmlformats.org/drawingml/2006/main">
              <a:ext uri="{FF2B5EF4-FFF2-40B4-BE49-F238E27FC236}">
                <a16:creationId xmlns:a16="http://schemas.microsoft.com/office/drawing/2014/main" id="{2DB25371-F64A-44FC-9A91-CF57337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363" y="1846460"/>
            <a:ext cx="434452" cy="4344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C33179A-D975-4DB9-9740-9550A639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989" y="2350279"/>
            <a:ext cx="27432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知识共创闭环</a:t>
            </a: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61A91FC0-F614-49FD-9036-D1B38E8C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4151" y="2799904"/>
            <a:ext cx="3138877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意见携带证据快照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 xmlns:a="http://schemas.openxmlformats.org/drawingml/2006/main"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HR 复测｜回归用例沉淀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12CE4E99-F410-4FC6-B8FF-F2289FE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233" y="1860841"/>
            <a:ext cx="740717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03</a:t>
            </a:r>
          </a:p>
        </p:txBody>
      </p:sp>
      <p:sp>
        <p:nvSpPr>
          <p:cNvPr id="48" name="PA-圆角矩形 28">
            <a:extLst xmlns:a="http://schemas.openxmlformats.org/drawingml/2006/main">
              <a:ext uri="{FF2B5EF4-FFF2-40B4-BE49-F238E27FC236}">
                <a16:creationId xmlns:a16="http://schemas.microsoft.com/office/drawing/2014/main" id="{677963CF-58B2-4185-958C-C7E5397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3" name="PA-圆角矩形 29">
            <a:extLst xmlns:a="http://schemas.openxmlformats.org/drawingml/2006/main">
              <a:ext uri="{FF2B5EF4-FFF2-40B4-BE49-F238E27FC236}">
                <a16:creationId xmlns:a16="http://schemas.microsoft.com/office/drawing/2014/main" id="{87184BC9-0CBA-4934-BBEE-C42C7C26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691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8" name="PA-圆角矩形 30">
            <a:extLst xmlns:a="http://schemas.openxmlformats.org/drawingml/2006/main">
              <a:ext uri="{FF2B5EF4-FFF2-40B4-BE49-F238E27FC236}">
                <a16:creationId xmlns:a16="http://schemas.microsoft.com/office/drawing/2014/main" id="{2ED17F29-4E17-4921-A6A4-13084C87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042" y="3903330"/>
            <a:ext cx="3257095" cy="1973942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99539d9f64355"/>
          <a:srcRect xmlns:a="http://schemas.openxmlformats.org/drawingml/2006/main" l="0" t="2989" r="0" b="2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396240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98ce635ca844cd"/>
          <a:srcRect xmlns:a="http://schemas.openxmlformats.org/drawingml/2006/main" l="0" t="2989" r="0" b="2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3900" y="396240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f81eedcfa4404"/>
          <a:srcRect xmlns:a="http://schemas.openxmlformats.org/drawingml/2006/main" l="0" t="2989" r="0" b="2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3962400"/>
            <a:ext cx="3143250" cy="18478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</p:spTree>
    <p:extLst>
      <p:ext uri="{BB962C8B-B14F-4D97-AF65-F5344CB8AC3E}">
        <p14:creationId xmlns:p14="http://schemas.microsoft.com/office/powerpoint/2010/main" val="42191436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CB3D05-11C7-47D1-AC02-FCF170AE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60648"/>
            <a:ext cx="432048" cy="432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60000"/>
              <a:lumOff val="40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688B40-85F4-4889-B653-91925FF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438854"/>
            <a:ext cx="504056" cy="504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75000"/>
            </a:schemeClr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 xmlns:a="http://schemas.openxmlformats.org/drawingml/2006/main">
              <a:ext uri="{FF2B5EF4-FFF2-40B4-BE49-F238E27FC236}">
                <a16:creationId xmlns:a16="http://schemas.microsoft.com/office/drawing/2014/main" id="{E939BF92-B2C0-4251-A6F1-EDCF02D7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52" y="260648"/>
            <a:ext cx="3011081" cy="561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68580" tIns="34290" rIns="68580" bIns="3429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验收结论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5827" y="6428534"/>
            <a:ext cx="1186543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2026.08.29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箭头: 下 1">
            <a:extLst xmlns:a="http://schemas.openxmlformats.org/drawingml/2006/main">
              <a:ext uri="{FF2B5EF4-FFF2-40B4-BE49-F238E27FC236}">
                <a16:creationId xmlns:a16="http://schemas.microsoft.com/office/drawing/2014/main" id="{4EF2A33D-FC0B-4BBE-86E0-20430D4A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47709" y="2670631"/>
            <a:ext cx="9131359" cy="2340488"/>
          </a:xfrm>
          <a:custGeom xmlns:a="http://schemas.openxmlformats.org/drawingml/2006/main">
            <a:gdLst>
              <a:gd name="connsiteX0" fmla="*/ 0 w 4125547"/>
              <a:gd name="connsiteY0" fmla="*/ 1993527 h 2825934"/>
              <a:gd name="connsiteX1" fmla="*/ 675723 w 4125547"/>
              <a:gd name="connsiteY1" fmla="*/ 1993527 h 2825934"/>
              <a:gd name="connsiteX2" fmla="*/ 675723 w 4125547"/>
              <a:gd name="connsiteY2" fmla="*/ 0 h 2825934"/>
              <a:gd name="connsiteX3" fmla="*/ 3449824 w 4125547"/>
              <a:gd name="connsiteY3" fmla="*/ 0 h 2825934"/>
              <a:gd name="connsiteX4" fmla="*/ 3449824 w 4125547"/>
              <a:gd name="connsiteY4" fmla="*/ 1993527 h 2825934"/>
              <a:gd name="connsiteX5" fmla="*/ 4125547 w 4125547"/>
              <a:gd name="connsiteY5" fmla="*/ 1993527 h 2825934"/>
              <a:gd name="connsiteX6" fmla="*/ 2062774 w 4125547"/>
              <a:gd name="connsiteY6" fmla="*/ 2825934 h 2825934"/>
              <a:gd name="connsiteX7" fmla="*/ 0 w 4125547"/>
              <a:gd name="connsiteY7" fmla="*/ 1993527 h 2825934"/>
              <a:gd name="connsiteX0" fmla="*/ 2299706 w 6425253"/>
              <a:gd name="connsiteY0" fmla="*/ 2022556 h 2854963"/>
              <a:gd name="connsiteX1" fmla="*/ 2975429 w 6425253"/>
              <a:gd name="connsiteY1" fmla="*/ 2022556 h 2854963"/>
              <a:gd name="connsiteX2" fmla="*/ 0 w 6425253"/>
              <a:gd name="connsiteY2" fmla="*/ 0 h 2854963"/>
              <a:gd name="connsiteX3" fmla="*/ 5749530 w 6425253"/>
              <a:gd name="connsiteY3" fmla="*/ 29029 h 2854963"/>
              <a:gd name="connsiteX4" fmla="*/ 5749530 w 6425253"/>
              <a:gd name="connsiteY4" fmla="*/ 2022556 h 2854963"/>
              <a:gd name="connsiteX5" fmla="*/ 6425253 w 6425253"/>
              <a:gd name="connsiteY5" fmla="*/ 2022556 h 2854963"/>
              <a:gd name="connsiteX6" fmla="*/ 4362480 w 6425253"/>
              <a:gd name="connsiteY6" fmla="*/ 2854963 h 2854963"/>
              <a:gd name="connsiteX7" fmla="*/ 2299706 w 6425253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</a:gdLst>
            <a:rect l="l" t="t" r="r" b="b"/>
            <a:pathLst>
              <a:path w="9131359" h="2854963">
                <a:moveTo>
                  <a:pt x="2299706" y="2022556"/>
                </a:moveTo>
                <a:lnTo>
                  <a:pt x="2975429" y="2022556"/>
                </a:lnTo>
                <a:cubicBezTo>
                  <a:pt x="2433561" y="1072600"/>
                  <a:pt x="1383696" y="514528"/>
                  <a:pt x="0" y="0"/>
                </a:cubicBezTo>
                <a:lnTo>
                  <a:pt x="9131359" y="58057"/>
                </a:lnTo>
                <a:cubicBezTo>
                  <a:pt x="7191283" y="408090"/>
                  <a:pt x="6513949" y="1091952"/>
                  <a:pt x="5749530" y="2022556"/>
                </a:cubicBezTo>
                <a:lnTo>
                  <a:pt x="6425253" y="2022556"/>
                </a:lnTo>
                <a:lnTo>
                  <a:pt x="4362480" y="2854963"/>
                </a:lnTo>
                <a:lnTo>
                  <a:pt x="2299706" y="2022556"/>
                </a:lnTo>
                <a:close/>
              </a:path>
            </a:pathLst>
          </a:custGeom>
          <a:gradFill xmlns:a="http://schemas.openxmlformats.org/drawingml/2006/main" rotWithShape="1">
            <a:gsLst>
              <a:gs pos="100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A18CAA58-16E7-41CC-9C76-21CD5BE2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97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0A6FB1AC-7097-4BFA-B6C7-E5AF4C78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92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18/18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1A764BAF-3C31-4FAC-8B79-E9E50A9F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593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848F37F5-FEDC-40D8-ADF1-C5111C96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885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8242FAAD-BB1D-47B2-89C0-EDF99B6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185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EE995535-B0AA-4261-B20C-A5A4EA1C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482" y="3719914"/>
            <a:ext cx="1514794" cy="151479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xmlns:a="http://schemas.openxmlformats.org/drawingml/2006/main" rot="0" spcFirstLastPara="0" vert="horz" wrap="square" lIns="60960" tIns="30480" rIns="60960" bIns="3048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E713F3B8-E7D3-4ECF-B1B8-9C67889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999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9A20F77-923B-48F9-8192-630C721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703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6F64240B-616D-4FDC-8C46-EEB477E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720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A414929-2B97-418B-B0F9-DF240AB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998" y="4366343"/>
            <a:ext cx="73741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D2E4D7ED-1D7C-408D-90A6-2BD528A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250" y="1577796"/>
            <a:ext cx="249299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6000" b="1">
                <a:solidFill>
                  <a:schemeClr val="accent1"/>
                </a:solidFill>
                <a:effectLst>
                  <a:outerShdw blurRad="520700" algn="ctr" rotWithShape="0">
                    <a:srgbClr val="FFFFFF">
                      <a:lumMod val="95000"/>
                      <a:alpha val="44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可运行 · 可验证 · 可解释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D6594DD7-3399-48E1-B842-FAA86947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758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全通过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A817B289-1395-4CF7-BFA5-3B604DE1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425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可追溯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440FE19-DDD6-4F92-9664-F0E43F12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320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协作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可复盘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802E350D-B535-4859-8FD5-273BDDB9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151" y="4212394"/>
            <a:ext cx="166460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创新链</a:t>
            </a:r>
          </a:p>
          <a:p xmlns:a="http://schemas.openxmlformats.org/drawingml/2006/main"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已实现</a:t>
            </a:r>
          </a:p>
        </p:txBody>
      </p:sp>
    </p:spTree>
    <p:extLst>
      <p:ext uri="{BB962C8B-B14F-4D97-AF65-F5344CB8AC3E}">
        <p14:creationId xmlns:p14="http://schemas.microsoft.com/office/powerpoint/2010/main" val="3072855938"/>
      </p:ext>
    </p:extLst>
  </p:cSld>
</p:sld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2026-08-29T01:07:24.9300000Z</dcterms:created>
  <dcterms:modified xsi:type="dcterms:W3CDTF">2026-08-29T01:07:24.9300000Z</dcterms:modified>
</coreProperties>
</file>